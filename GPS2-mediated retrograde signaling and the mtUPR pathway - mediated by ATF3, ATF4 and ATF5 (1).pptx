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5143500" cx="9144000"/>
  <p:notesSz cx="6858000" cy="9144000"/>
  <p:embeddedFontLst>
    <p:embeddedFont>
      <p:font typeface="Roboto"/>
      <p:regular r:id="rId52"/>
      <p:bold r:id="rId53"/>
      <p:italic r:id="rId54"/>
      <p:boldItalic r:id="rId55"/>
    </p:embeddedFont>
    <p:embeddedFont>
      <p:font typeface="Century Gothic"/>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C36284-27A1-4389-9642-44102B4506ED}">
  <a:tblStyle styleId="{0DC36284-27A1-4389-9642-44102B4506E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4.xml"/><Relationship Id="rId55" Type="http://schemas.openxmlformats.org/officeDocument/2006/relationships/font" Target="fonts/Roboto-boldItalic.fntdata"/><Relationship Id="rId10" Type="http://schemas.openxmlformats.org/officeDocument/2006/relationships/slide" Target="slides/slide3.xml"/><Relationship Id="rId54" Type="http://schemas.openxmlformats.org/officeDocument/2006/relationships/font" Target="fonts/Roboto-italic.fntdata"/><Relationship Id="rId13" Type="http://schemas.openxmlformats.org/officeDocument/2006/relationships/slide" Target="slides/slide6.xml"/><Relationship Id="rId57" Type="http://schemas.openxmlformats.org/officeDocument/2006/relationships/font" Target="fonts/CenturyGothic-bold.fntdata"/><Relationship Id="rId12" Type="http://schemas.openxmlformats.org/officeDocument/2006/relationships/slide" Target="slides/slide5.xml"/><Relationship Id="rId56" Type="http://schemas.openxmlformats.org/officeDocument/2006/relationships/font" Target="fonts/CenturyGothic-regular.fntdata"/><Relationship Id="rId15" Type="http://schemas.openxmlformats.org/officeDocument/2006/relationships/slide" Target="slides/slide8.xml"/><Relationship Id="rId59" Type="http://schemas.openxmlformats.org/officeDocument/2006/relationships/font" Target="fonts/CenturyGothic-boldItalic.fntdata"/><Relationship Id="rId14" Type="http://schemas.openxmlformats.org/officeDocument/2006/relationships/slide" Target="slides/slide7.xml"/><Relationship Id="rId58" Type="http://schemas.openxmlformats.org/officeDocument/2006/relationships/font" Target="fonts/CenturyGothic-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9751468b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9751468b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9751468b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9751468b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9751468b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9751468b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9751468b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e9751468b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9751468be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e9751468b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a628cbe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a628cbe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9751468be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e9751468be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e9751468be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e9751468be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ebbe29b2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ebbe29b2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f33e6de540_0_155:notes"/>
          <p:cNvSpPr txBox="1"/>
          <p:nvPr>
            <p:ph idx="1" type="body"/>
          </p:nvPr>
        </p:nvSpPr>
        <p:spPr>
          <a:xfrm>
            <a:off x="685800" y="4343380"/>
            <a:ext cx="5486400" cy="411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2f33e6de540_0_155:notes"/>
          <p:cNvSpPr/>
          <p:nvPr>
            <p:ph idx="2" type="sldImg"/>
          </p:nvPr>
        </p:nvSpPr>
        <p:spPr>
          <a:xfrm>
            <a:off x="1700856" y="685387"/>
            <a:ext cx="3457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f2f0960e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f2f0960e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f33e6de540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f33e6de540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f33e6de54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f33e6de54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efd1c974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efd1c974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efd1c9749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efd1c9749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efd1c974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efd1c974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efd1c9749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efd1c9749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f11cb964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f11cb964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f11cb964c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f11cb964c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f11cb964c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f11cb964c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f11cb964c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f11cb964c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11cb964c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11cb964c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f11cb964c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f11cb964c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f1a5f23e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f1a5f23e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f1a5f23ef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f1a5f23ef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f1a5f23ef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f1a5f23ef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f33e6de540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f33e6de540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f33e6de5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f33e6de5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f48b7ba03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f48b7ba03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f48b7ba0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f48b7ba0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f48b7ba03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f48b7ba03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f5b07bac9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f5b07bac9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f5b07bac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f5b07bac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f5b07bac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f5b07bac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f5b07bac9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f5b07bac9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f5b07bac9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f5b07bac9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f5b07bac9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f5b07bac9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f5b07bac9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f5b07bac9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f5b07bac9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f5b07bac9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f5b07bac9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f5b07bac9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f5b07bac9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f5b07bac9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f5b07bac9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f5b07bac9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f5b07bac9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f5b07bac9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7" name="Shape 8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5"/>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4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0" name="Google Shape;90;p15"/>
          <p:cNvSpPr txBox="1"/>
          <p:nvPr>
            <p:ph idx="1" type="body"/>
          </p:nvPr>
        </p:nvSpPr>
        <p:spPr>
          <a:xfrm>
            <a:off x="457200" y="1200152"/>
            <a:ext cx="8229600" cy="3394500"/>
          </a:xfrm>
          <a:prstGeom prst="rect">
            <a:avLst/>
          </a:prstGeom>
          <a:noFill/>
          <a:ln>
            <a:noFill/>
          </a:ln>
        </p:spPr>
        <p:txBody>
          <a:bodyPr anchorCtr="0" anchor="t" bIns="53575" lIns="107125" spcFirstLastPara="1" rIns="107125" wrap="square" tIns="53575">
            <a:normAutofit/>
          </a:bodyPr>
          <a:lstStyle>
            <a:lvl1pPr indent="-254000" lvl="0" marL="457200" rtl="0" algn="l">
              <a:lnSpc>
                <a:spcPct val="100000"/>
              </a:lnSpc>
              <a:spcBef>
                <a:spcPts val="100"/>
              </a:spcBef>
              <a:spcAft>
                <a:spcPts val="0"/>
              </a:spcAft>
              <a:buClr>
                <a:schemeClr val="dk1"/>
              </a:buClr>
              <a:buSzPts val="400"/>
              <a:buChar char="•"/>
              <a:defRPr/>
            </a:lvl1pPr>
            <a:lvl2pPr indent="-254000" lvl="1" marL="914400" rtl="0" algn="l">
              <a:lnSpc>
                <a:spcPct val="100000"/>
              </a:lnSpc>
              <a:spcBef>
                <a:spcPts val="100"/>
              </a:spcBef>
              <a:spcAft>
                <a:spcPts val="0"/>
              </a:spcAft>
              <a:buClr>
                <a:schemeClr val="dk1"/>
              </a:buClr>
              <a:buSzPts val="400"/>
              <a:buChar char="–"/>
              <a:defRPr/>
            </a:lvl2pPr>
            <a:lvl3pPr indent="-254000" lvl="2" marL="1371600" rtl="0" algn="l">
              <a:lnSpc>
                <a:spcPct val="100000"/>
              </a:lnSpc>
              <a:spcBef>
                <a:spcPts val="100"/>
              </a:spcBef>
              <a:spcAft>
                <a:spcPts val="0"/>
              </a:spcAft>
              <a:buClr>
                <a:schemeClr val="dk1"/>
              </a:buClr>
              <a:buSzPts val="400"/>
              <a:buChar char="•"/>
              <a:defRPr/>
            </a:lvl3pPr>
            <a:lvl4pPr indent="-254000" lvl="3" marL="1828800" rtl="0" algn="l">
              <a:lnSpc>
                <a:spcPct val="100000"/>
              </a:lnSpc>
              <a:spcBef>
                <a:spcPts val="100"/>
              </a:spcBef>
              <a:spcAft>
                <a:spcPts val="0"/>
              </a:spcAft>
              <a:buClr>
                <a:schemeClr val="dk1"/>
              </a:buClr>
              <a:buSzPts val="400"/>
              <a:buChar char="–"/>
              <a:defRPr/>
            </a:lvl4pPr>
            <a:lvl5pPr indent="-254000" lvl="4" marL="2286000" rtl="0" algn="l">
              <a:lnSpc>
                <a:spcPct val="100000"/>
              </a:lnSpc>
              <a:spcBef>
                <a:spcPts val="100"/>
              </a:spcBef>
              <a:spcAft>
                <a:spcPts val="0"/>
              </a:spcAft>
              <a:buClr>
                <a:schemeClr val="dk1"/>
              </a:buClr>
              <a:buSzPts val="400"/>
              <a:buChar char="»"/>
              <a:defRPr/>
            </a:lvl5pPr>
            <a:lvl6pPr indent="-254000" lvl="5" marL="2743200" rtl="0" algn="l">
              <a:lnSpc>
                <a:spcPct val="100000"/>
              </a:lnSpc>
              <a:spcBef>
                <a:spcPts val="100"/>
              </a:spcBef>
              <a:spcAft>
                <a:spcPts val="0"/>
              </a:spcAft>
              <a:buClr>
                <a:schemeClr val="dk1"/>
              </a:buClr>
              <a:buSzPts val="400"/>
              <a:buChar char="•"/>
              <a:defRPr/>
            </a:lvl6pPr>
            <a:lvl7pPr indent="-254000" lvl="6" marL="3200400" rtl="0" algn="l">
              <a:lnSpc>
                <a:spcPct val="100000"/>
              </a:lnSpc>
              <a:spcBef>
                <a:spcPts val="100"/>
              </a:spcBef>
              <a:spcAft>
                <a:spcPts val="0"/>
              </a:spcAft>
              <a:buClr>
                <a:schemeClr val="dk1"/>
              </a:buClr>
              <a:buSzPts val="400"/>
              <a:buChar char="•"/>
              <a:defRPr/>
            </a:lvl7pPr>
            <a:lvl8pPr indent="-254000" lvl="7" marL="3657600" rtl="0" algn="l">
              <a:lnSpc>
                <a:spcPct val="100000"/>
              </a:lnSpc>
              <a:spcBef>
                <a:spcPts val="100"/>
              </a:spcBef>
              <a:spcAft>
                <a:spcPts val="0"/>
              </a:spcAft>
              <a:buClr>
                <a:schemeClr val="dk1"/>
              </a:buClr>
              <a:buSzPts val="400"/>
              <a:buChar char="•"/>
              <a:defRPr/>
            </a:lvl8pPr>
            <a:lvl9pPr indent="-254000" lvl="8" marL="4114800" rtl="0" algn="l">
              <a:lnSpc>
                <a:spcPct val="100000"/>
              </a:lnSpc>
              <a:spcBef>
                <a:spcPts val="100"/>
              </a:spcBef>
              <a:spcAft>
                <a:spcPts val="0"/>
              </a:spcAft>
              <a:buClr>
                <a:schemeClr val="dk1"/>
              </a:buClr>
              <a:buSzPts val="400"/>
              <a:buChar char="•"/>
              <a:defRPr/>
            </a:lvl9pPr>
          </a:lstStyle>
          <a:p/>
        </p:txBody>
      </p:sp>
      <p:sp>
        <p:nvSpPr>
          <p:cNvPr id="91" name="Google Shape;91;p15"/>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2" name="Google Shape;92;p15"/>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3" name="Google Shape;93;p15"/>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16"/>
          <p:cNvSpPr txBox="1"/>
          <p:nvPr>
            <p:ph type="title"/>
          </p:nvPr>
        </p:nvSpPr>
        <p:spPr>
          <a:xfrm>
            <a:off x="722314" y="3305177"/>
            <a:ext cx="7772400" cy="1021500"/>
          </a:xfrm>
          <a:prstGeom prst="rect">
            <a:avLst/>
          </a:prstGeom>
          <a:noFill/>
          <a:ln>
            <a:noFill/>
          </a:ln>
        </p:spPr>
        <p:txBody>
          <a:bodyPr anchorCtr="0" anchor="t" bIns="53575" lIns="107125" spcFirstLastPara="1" rIns="107125" wrap="square" tIns="53575">
            <a:normAutofit/>
          </a:bodyPr>
          <a:lstStyle>
            <a:lvl1pPr lvl="0" rtl="0" algn="l">
              <a:lnSpc>
                <a:spcPct val="100000"/>
              </a:lnSpc>
              <a:spcBef>
                <a:spcPts val="0"/>
              </a:spcBef>
              <a:spcAft>
                <a:spcPts val="0"/>
              </a:spcAft>
              <a:buClr>
                <a:schemeClr val="dk1"/>
              </a:buClr>
              <a:buSzPts val="3600"/>
              <a:buFont typeface="Calibri"/>
              <a:buNone/>
              <a:defRPr b="1" sz="3600" cap="none"/>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6" name="Google Shape;96;p16"/>
          <p:cNvSpPr txBox="1"/>
          <p:nvPr>
            <p:ph idx="1" type="body"/>
          </p:nvPr>
        </p:nvSpPr>
        <p:spPr>
          <a:xfrm>
            <a:off x="722314" y="2180037"/>
            <a:ext cx="7772400" cy="1125300"/>
          </a:xfrm>
          <a:prstGeom prst="rect">
            <a:avLst/>
          </a:prstGeom>
          <a:noFill/>
          <a:ln>
            <a:noFill/>
          </a:ln>
        </p:spPr>
        <p:txBody>
          <a:bodyPr anchorCtr="0" anchor="b" bIns="53575" lIns="107125" spcFirstLastPara="1" rIns="107125" wrap="square" tIns="53575">
            <a:normAutofit/>
          </a:bodyPr>
          <a:lstStyle>
            <a:lvl1pPr indent="-228600" lvl="0" marL="457200" rtl="0" algn="l">
              <a:lnSpc>
                <a:spcPct val="100000"/>
              </a:lnSpc>
              <a:spcBef>
                <a:spcPts val="400"/>
              </a:spcBef>
              <a:spcAft>
                <a:spcPts val="0"/>
              </a:spcAft>
              <a:buClr>
                <a:srgbClr val="888888"/>
              </a:buClr>
              <a:buSzPts val="1800"/>
              <a:buNone/>
              <a:defRPr sz="1800">
                <a:solidFill>
                  <a:srgbClr val="888888"/>
                </a:solidFill>
              </a:defRPr>
            </a:lvl1pPr>
            <a:lvl2pPr indent="-228600" lvl="1" marL="914400" rtl="0" algn="l">
              <a:lnSpc>
                <a:spcPct val="100000"/>
              </a:lnSpc>
              <a:spcBef>
                <a:spcPts val="300"/>
              </a:spcBef>
              <a:spcAft>
                <a:spcPts val="0"/>
              </a:spcAft>
              <a:buClr>
                <a:srgbClr val="888888"/>
              </a:buClr>
              <a:buSzPts val="1600"/>
              <a:buNone/>
              <a:defRPr sz="1600">
                <a:solidFill>
                  <a:srgbClr val="888888"/>
                </a:solidFill>
              </a:defRPr>
            </a:lvl2pPr>
            <a:lvl3pPr indent="-228600" lvl="2" marL="1371600" rtl="0" algn="l">
              <a:lnSpc>
                <a:spcPct val="100000"/>
              </a:lnSpc>
              <a:spcBef>
                <a:spcPts val="300"/>
              </a:spcBef>
              <a:spcAft>
                <a:spcPts val="0"/>
              </a:spcAft>
              <a:buClr>
                <a:srgbClr val="888888"/>
              </a:buClr>
              <a:buSzPts val="1400"/>
              <a:buNone/>
              <a:defRPr sz="1400">
                <a:solidFill>
                  <a:srgbClr val="888888"/>
                </a:solidFill>
              </a:defRPr>
            </a:lvl3pPr>
            <a:lvl4pPr indent="-228600" lvl="3" marL="1828800" rtl="0" algn="l">
              <a:lnSpc>
                <a:spcPct val="100000"/>
              </a:lnSpc>
              <a:spcBef>
                <a:spcPts val="200"/>
              </a:spcBef>
              <a:spcAft>
                <a:spcPts val="0"/>
              </a:spcAft>
              <a:buClr>
                <a:srgbClr val="888888"/>
              </a:buClr>
              <a:buSzPts val="1200"/>
              <a:buNone/>
              <a:defRPr sz="1200">
                <a:solidFill>
                  <a:srgbClr val="888888"/>
                </a:solidFill>
              </a:defRPr>
            </a:lvl4pPr>
            <a:lvl5pPr indent="-228600" lvl="4" marL="2286000" rtl="0" algn="l">
              <a:lnSpc>
                <a:spcPct val="100000"/>
              </a:lnSpc>
              <a:spcBef>
                <a:spcPts val="200"/>
              </a:spcBef>
              <a:spcAft>
                <a:spcPts val="0"/>
              </a:spcAft>
              <a:buClr>
                <a:srgbClr val="888888"/>
              </a:buClr>
              <a:buSzPts val="1200"/>
              <a:buNone/>
              <a:defRPr sz="1200">
                <a:solidFill>
                  <a:srgbClr val="888888"/>
                </a:solidFill>
              </a:defRPr>
            </a:lvl5pPr>
            <a:lvl6pPr indent="-228600" lvl="5" marL="2743200" rtl="0" algn="l">
              <a:lnSpc>
                <a:spcPct val="100000"/>
              </a:lnSpc>
              <a:spcBef>
                <a:spcPts val="200"/>
              </a:spcBef>
              <a:spcAft>
                <a:spcPts val="0"/>
              </a:spcAft>
              <a:buClr>
                <a:srgbClr val="888888"/>
              </a:buClr>
              <a:buSzPts val="1200"/>
              <a:buNone/>
              <a:defRPr sz="1200">
                <a:solidFill>
                  <a:srgbClr val="888888"/>
                </a:solidFill>
              </a:defRPr>
            </a:lvl6pPr>
            <a:lvl7pPr indent="-228600" lvl="6" marL="3200400" rtl="0" algn="l">
              <a:lnSpc>
                <a:spcPct val="100000"/>
              </a:lnSpc>
              <a:spcBef>
                <a:spcPts val="200"/>
              </a:spcBef>
              <a:spcAft>
                <a:spcPts val="0"/>
              </a:spcAft>
              <a:buClr>
                <a:srgbClr val="888888"/>
              </a:buClr>
              <a:buSzPts val="1200"/>
              <a:buNone/>
              <a:defRPr sz="1200">
                <a:solidFill>
                  <a:srgbClr val="888888"/>
                </a:solidFill>
              </a:defRPr>
            </a:lvl7pPr>
            <a:lvl8pPr indent="-228600" lvl="7" marL="3657600" rtl="0" algn="l">
              <a:lnSpc>
                <a:spcPct val="100000"/>
              </a:lnSpc>
              <a:spcBef>
                <a:spcPts val="200"/>
              </a:spcBef>
              <a:spcAft>
                <a:spcPts val="0"/>
              </a:spcAft>
              <a:buClr>
                <a:srgbClr val="888888"/>
              </a:buClr>
              <a:buSzPts val="1200"/>
              <a:buNone/>
              <a:defRPr sz="1200">
                <a:solidFill>
                  <a:srgbClr val="888888"/>
                </a:solidFill>
              </a:defRPr>
            </a:lvl8pPr>
            <a:lvl9pPr indent="-228600" lvl="8" marL="4114800" rtl="0" algn="l">
              <a:lnSpc>
                <a:spcPct val="100000"/>
              </a:lnSpc>
              <a:spcBef>
                <a:spcPts val="200"/>
              </a:spcBef>
              <a:spcAft>
                <a:spcPts val="0"/>
              </a:spcAft>
              <a:buClr>
                <a:srgbClr val="888888"/>
              </a:buClr>
              <a:buSzPts val="1200"/>
              <a:buNone/>
              <a:defRPr sz="1200">
                <a:solidFill>
                  <a:srgbClr val="888888"/>
                </a:solidFill>
              </a:defRPr>
            </a:lvl9pPr>
          </a:lstStyle>
          <a:p/>
        </p:txBody>
      </p:sp>
      <p:sp>
        <p:nvSpPr>
          <p:cNvPr id="97" name="Google Shape;97;p16"/>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8" name="Google Shape;98;p16"/>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99" name="Google Shape;99;p16"/>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17"/>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4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02" name="Google Shape;102;p17"/>
          <p:cNvSpPr txBox="1"/>
          <p:nvPr>
            <p:ph idx="1" type="body"/>
          </p:nvPr>
        </p:nvSpPr>
        <p:spPr>
          <a:xfrm>
            <a:off x="1646239" y="3840959"/>
            <a:ext cx="14736600" cy="10862100"/>
          </a:xfrm>
          <a:prstGeom prst="rect">
            <a:avLst/>
          </a:prstGeom>
          <a:noFill/>
          <a:ln>
            <a:noFill/>
          </a:ln>
        </p:spPr>
        <p:txBody>
          <a:bodyPr anchorCtr="0" anchor="t" bIns="53575" lIns="107125" spcFirstLastPara="1" rIns="107125" wrap="square" tIns="53575">
            <a:normAutofit/>
          </a:bodyPr>
          <a:lstStyle>
            <a:lvl1pPr indent="-387350" lvl="0" marL="457200" rtl="0" algn="l">
              <a:lnSpc>
                <a:spcPct val="100000"/>
              </a:lnSpc>
              <a:spcBef>
                <a:spcPts val="500"/>
              </a:spcBef>
              <a:spcAft>
                <a:spcPts val="0"/>
              </a:spcAft>
              <a:buClr>
                <a:schemeClr val="dk1"/>
              </a:buClr>
              <a:buSzPts val="2500"/>
              <a:buChar char="•"/>
              <a:defRPr sz="2500"/>
            </a:lvl1pPr>
            <a:lvl2pPr indent="-361950" lvl="1" marL="914400" rtl="0" algn="l">
              <a:lnSpc>
                <a:spcPct val="100000"/>
              </a:lnSpc>
              <a:spcBef>
                <a:spcPts val="400"/>
              </a:spcBef>
              <a:spcAft>
                <a:spcPts val="0"/>
              </a:spcAft>
              <a:buClr>
                <a:schemeClr val="dk1"/>
              </a:buClr>
              <a:buSzPts val="2100"/>
              <a:buChar char="–"/>
              <a:defRPr sz="2100"/>
            </a:lvl2pPr>
            <a:lvl3pPr indent="-342900" lvl="2" marL="1371600" rtl="0" algn="l">
              <a:lnSpc>
                <a:spcPct val="100000"/>
              </a:lnSpc>
              <a:spcBef>
                <a:spcPts val="400"/>
              </a:spcBef>
              <a:spcAft>
                <a:spcPts val="0"/>
              </a:spcAft>
              <a:buClr>
                <a:schemeClr val="dk1"/>
              </a:buClr>
              <a:buSzPts val="1800"/>
              <a:buChar char="•"/>
              <a:defRPr sz="1800"/>
            </a:lvl3pPr>
            <a:lvl4pPr indent="-330200" lvl="3" marL="1828800" rtl="0" algn="l">
              <a:lnSpc>
                <a:spcPct val="100000"/>
              </a:lnSpc>
              <a:spcBef>
                <a:spcPts val="300"/>
              </a:spcBef>
              <a:spcAft>
                <a:spcPts val="0"/>
              </a:spcAft>
              <a:buClr>
                <a:schemeClr val="dk1"/>
              </a:buClr>
              <a:buSzPts val="1600"/>
              <a:buChar char="–"/>
              <a:defRPr sz="1600"/>
            </a:lvl4pPr>
            <a:lvl5pPr indent="-330200" lvl="4" marL="2286000" rtl="0" algn="l">
              <a:lnSpc>
                <a:spcPct val="100000"/>
              </a:lnSpc>
              <a:spcBef>
                <a:spcPts val="300"/>
              </a:spcBef>
              <a:spcAft>
                <a:spcPts val="0"/>
              </a:spcAft>
              <a:buClr>
                <a:schemeClr val="dk1"/>
              </a:buClr>
              <a:buSzPts val="1600"/>
              <a:buChar char="»"/>
              <a:defRPr sz="1600"/>
            </a:lvl5pPr>
            <a:lvl6pPr indent="-330200" lvl="5" marL="2743200" rtl="0" algn="l">
              <a:lnSpc>
                <a:spcPct val="100000"/>
              </a:lnSpc>
              <a:spcBef>
                <a:spcPts val="300"/>
              </a:spcBef>
              <a:spcAft>
                <a:spcPts val="0"/>
              </a:spcAft>
              <a:buClr>
                <a:schemeClr val="dk1"/>
              </a:buClr>
              <a:buSzPts val="1600"/>
              <a:buChar char="•"/>
              <a:defRPr sz="1600"/>
            </a:lvl6pPr>
            <a:lvl7pPr indent="-330200" lvl="6" marL="3200400" rtl="0" algn="l">
              <a:lnSpc>
                <a:spcPct val="100000"/>
              </a:lnSpc>
              <a:spcBef>
                <a:spcPts val="300"/>
              </a:spcBef>
              <a:spcAft>
                <a:spcPts val="0"/>
              </a:spcAft>
              <a:buClr>
                <a:schemeClr val="dk1"/>
              </a:buClr>
              <a:buSzPts val="1600"/>
              <a:buChar char="•"/>
              <a:defRPr sz="1600"/>
            </a:lvl7pPr>
            <a:lvl8pPr indent="-330200" lvl="7" marL="3657600" rtl="0" algn="l">
              <a:lnSpc>
                <a:spcPct val="100000"/>
              </a:lnSpc>
              <a:spcBef>
                <a:spcPts val="300"/>
              </a:spcBef>
              <a:spcAft>
                <a:spcPts val="0"/>
              </a:spcAft>
              <a:buClr>
                <a:schemeClr val="dk1"/>
              </a:buClr>
              <a:buSzPts val="1600"/>
              <a:buChar char="•"/>
              <a:defRPr sz="1600"/>
            </a:lvl8pPr>
            <a:lvl9pPr indent="-330200" lvl="8" marL="4114800" rtl="0" algn="l">
              <a:lnSpc>
                <a:spcPct val="100000"/>
              </a:lnSpc>
              <a:spcBef>
                <a:spcPts val="300"/>
              </a:spcBef>
              <a:spcAft>
                <a:spcPts val="0"/>
              </a:spcAft>
              <a:buClr>
                <a:schemeClr val="dk1"/>
              </a:buClr>
              <a:buSzPts val="1600"/>
              <a:buChar char="•"/>
              <a:defRPr sz="1600"/>
            </a:lvl9pPr>
          </a:lstStyle>
          <a:p/>
        </p:txBody>
      </p:sp>
      <p:sp>
        <p:nvSpPr>
          <p:cNvPr id="103" name="Google Shape;103;p17"/>
          <p:cNvSpPr txBox="1"/>
          <p:nvPr>
            <p:ph idx="2" type="body"/>
          </p:nvPr>
        </p:nvSpPr>
        <p:spPr>
          <a:xfrm>
            <a:off x="16535406" y="3840959"/>
            <a:ext cx="14736600" cy="10862100"/>
          </a:xfrm>
          <a:prstGeom prst="rect">
            <a:avLst/>
          </a:prstGeom>
          <a:noFill/>
          <a:ln>
            <a:noFill/>
          </a:ln>
        </p:spPr>
        <p:txBody>
          <a:bodyPr anchorCtr="0" anchor="t" bIns="53575" lIns="107125" spcFirstLastPara="1" rIns="107125" wrap="square" tIns="53575">
            <a:normAutofit/>
          </a:bodyPr>
          <a:lstStyle>
            <a:lvl1pPr indent="-387350" lvl="0" marL="457200" rtl="0" algn="l">
              <a:lnSpc>
                <a:spcPct val="100000"/>
              </a:lnSpc>
              <a:spcBef>
                <a:spcPts val="500"/>
              </a:spcBef>
              <a:spcAft>
                <a:spcPts val="0"/>
              </a:spcAft>
              <a:buClr>
                <a:schemeClr val="dk1"/>
              </a:buClr>
              <a:buSzPts val="2500"/>
              <a:buChar char="•"/>
              <a:defRPr sz="2500"/>
            </a:lvl1pPr>
            <a:lvl2pPr indent="-361950" lvl="1" marL="914400" rtl="0" algn="l">
              <a:lnSpc>
                <a:spcPct val="100000"/>
              </a:lnSpc>
              <a:spcBef>
                <a:spcPts val="400"/>
              </a:spcBef>
              <a:spcAft>
                <a:spcPts val="0"/>
              </a:spcAft>
              <a:buClr>
                <a:schemeClr val="dk1"/>
              </a:buClr>
              <a:buSzPts val="2100"/>
              <a:buChar char="–"/>
              <a:defRPr sz="2100"/>
            </a:lvl2pPr>
            <a:lvl3pPr indent="-342900" lvl="2" marL="1371600" rtl="0" algn="l">
              <a:lnSpc>
                <a:spcPct val="100000"/>
              </a:lnSpc>
              <a:spcBef>
                <a:spcPts val="400"/>
              </a:spcBef>
              <a:spcAft>
                <a:spcPts val="0"/>
              </a:spcAft>
              <a:buClr>
                <a:schemeClr val="dk1"/>
              </a:buClr>
              <a:buSzPts val="1800"/>
              <a:buChar char="•"/>
              <a:defRPr sz="1800"/>
            </a:lvl3pPr>
            <a:lvl4pPr indent="-330200" lvl="3" marL="1828800" rtl="0" algn="l">
              <a:lnSpc>
                <a:spcPct val="100000"/>
              </a:lnSpc>
              <a:spcBef>
                <a:spcPts val="300"/>
              </a:spcBef>
              <a:spcAft>
                <a:spcPts val="0"/>
              </a:spcAft>
              <a:buClr>
                <a:schemeClr val="dk1"/>
              </a:buClr>
              <a:buSzPts val="1600"/>
              <a:buChar char="–"/>
              <a:defRPr sz="1600"/>
            </a:lvl4pPr>
            <a:lvl5pPr indent="-330200" lvl="4" marL="2286000" rtl="0" algn="l">
              <a:lnSpc>
                <a:spcPct val="100000"/>
              </a:lnSpc>
              <a:spcBef>
                <a:spcPts val="300"/>
              </a:spcBef>
              <a:spcAft>
                <a:spcPts val="0"/>
              </a:spcAft>
              <a:buClr>
                <a:schemeClr val="dk1"/>
              </a:buClr>
              <a:buSzPts val="1600"/>
              <a:buChar char="»"/>
              <a:defRPr sz="1600"/>
            </a:lvl5pPr>
            <a:lvl6pPr indent="-330200" lvl="5" marL="2743200" rtl="0" algn="l">
              <a:lnSpc>
                <a:spcPct val="100000"/>
              </a:lnSpc>
              <a:spcBef>
                <a:spcPts val="300"/>
              </a:spcBef>
              <a:spcAft>
                <a:spcPts val="0"/>
              </a:spcAft>
              <a:buClr>
                <a:schemeClr val="dk1"/>
              </a:buClr>
              <a:buSzPts val="1600"/>
              <a:buChar char="•"/>
              <a:defRPr sz="1600"/>
            </a:lvl6pPr>
            <a:lvl7pPr indent="-330200" lvl="6" marL="3200400" rtl="0" algn="l">
              <a:lnSpc>
                <a:spcPct val="100000"/>
              </a:lnSpc>
              <a:spcBef>
                <a:spcPts val="300"/>
              </a:spcBef>
              <a:spcAft>
                <a:spcPts val="0"/>
              </a:spcAft>
              <a:buClr>
                <a:schemeClr val="dk1"/>
              </a:buClr>
              <a:buSzPts val="1600"/>
              <a:buChar char="•"/>
              <a:defRPr sz="1600"/>
            </a:lvl7pPr>
            <a:lvl8pPr indent="-330200" lvl="7" marL="3657600" rtl="0" algn="l">
              <a:lnSpc>
                <a:spcPct val="100000"/>
              </a:lnSpc>
              <a:spcBef>
                <a:spcPts val="300"/>
              </a:spcBef>
              <a:spcAft>
                <a:spcPts val="0"/>
              </a:spcAft>
              <a:buClr>
                <a:schemeClr val="dk1"/>
              </a:buClr>
              <a:buSzPts val="1600"/>
              <a:buChar char="•"/>
              <a:defRPr sz="1600"/>
            </a:lvl8pPr>
            <a:lvl9pPr indent="-330200" lvl="8" marL="4114800" rtl="0" algn="l">
              <a:lnSpc>
                <a:spcPct val="100000"/>
              </a:lnSpc>
              <a:spcBef>
                <a:spcPts val="300"/>
              </a:spcBef>
              <a:spcAft>
                <a:spcPts val="0"/>
              </a:spcAft>
              <a:buClr>
                <a:schemeClr val="dk1"/>
              </a:buClr>
              <a:buSzPts val="1600"/>
              <a:buChar char="•"/>
              <a:defRPr sz="1600"/>
            </a:lvl9pPr>
          </a:lstStyle>
          <a:p/>
        </p:txBody>
      </p:sp>
      <p:sp>
        <p:nvSpPr>
          <p:cNvPr id="104" name="Google Shape;104;p17"/>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05" name="Google Shape;105;p17"/>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06" name="Google Shape;106;p17"/>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8"/>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3900"/>
              <a:buFont typeface="Calibri"/>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09" name="Google Shape;109;p18"/>
          <p:cNvSpPr txBox="1"/>
          <p:nvPr>
            <p:ph idx="1" type="body"/>
          </p:nvPr>
        </p:nvSpPr>
        <p:spPr>
          <a:xfrm>
            <a:off x="457201" y="1151336"/>
            <a:ext cx="4040100" cy="479700"/>
          </a:xfrm>
          <a:prstGeom prst="rect">
            <a:avLst/>
          </a:prstGeom>
          <a:noFill/>
          <a:ln>
            <a:noFill/>
          </a:ln>
        </p:spPr>
        <p:txBody>
          <a:bodyPr anchorCtr="0" anchor="b" bIns="53575" lIns="107125" spcFirstLastPara="1" rIns="107125" wrap="square" tIns="53575">
            <a:normAutofit/>
          </a:bodyPr>
          <a:lstStyle>
            <a:lvl1pPr indent="-228600" lvl="0" marL="457200" rtl="0" algn="l">
              <a:lnSpc>
                <a:spcPct val="100000"/>
              </a:lnSpc>
              <a:spcBef>
                <a:spcPts val="400"/>
              </a:spcBef>
              <a:spcAft>
                <a:spcPts val="0"/>
              </a:spcAft>
              <a:buClr>
                <a:schemeClr val="dk1"/>
              </a:buClr>
              <a:buSzPts val="2100"/>
              <a:buNone/>
              <a:defRPr b="1" sz="2100"/>
            </a:lvl1pPr>
            <a:lvl2pPr indent="-228600" lvl="1" marL="914400" rtl="0" algn="l">
              <a:lnSpc>
                <a:spcPct val="100000"/>
              </a:lnSpc>
              <a:spcBef>
                <a:spcPts val="400"/>
              </a:spcBef>
              <a:spcAft>
                <a:spcPts val="0"/>
              </a:spcAft>
              <a:buClr>
                <a:schemeClr val="dk1"/>
              </a:buClr>
              <a:buSzPts val="1800"/>
              <a:buNone/>
              <a:defRPr b="1" sz="1800"/>
            </a:lvl2pPr>
            <a:lvl3pPr indent="-228600" lvl="2" marL="1371600" rtl="0" algn="l">
              <a:lnSpc>
                <a:spcPct val="100000"/>
              </a:lnSpc>
              <a:spcBef>
                <a:spcPts val="300"/>
              </a:spcBef>
              <a:spcAft>
                <a:spcPts val="0"/>
              </a:spcAft>
              <a:buClr>
                <a:schemeClr val="dk1"/>
              </a:buClr>
              <a:buSzPts val="1600"/>
              <a:buNone/>
              <a:defRPr b="1" sz="1600"/>
            </a:lvl3pPr>
            <a:lvl4pPr indent="-228600" lvl="3" marL="1828800" rtl="0" algn="l">
              <a:lnSpc>
                <a:spcPct val="100000"/>
              </a:lnSpc>
              <a:spcBef>
                <a:spcPts val="300"/>
              </a:spcBef>
              <a:spcAft>
                <a:spcPts val="0"/>
              </a:spcAft>
              <a:buClr>
                <a:schemeClr val="dk1"/>
              </a:buClr>
              <a:buSzPts val="1400"/>
              <a:buNone/>
              <a:defRPr b="1" sz="1400"/>
            </a:lvl4pPr>
            <a:lvl5pPr indent="-228600" lvl="4" marL="2286000" rtl="0" algn="l">
              <a:lnSpc>
                <a:spcPct val="100000"/>
              </a:lnSpc>
              <a:spcBef>
                <a:spcPts val="300"/>
              </a:spcBef>
              <a:spcAft>
                <a:spcPts val="0"/>
              </a:spcAft>
              <a:buClr>
                <a:schemeClr val="dk1"/>
              </a:buClr>
              <a:buSzPts val="1400"/>
              <a:buNone/>
              <a:defRPr b="1" sz="1400"/>
            </a:lvl5pPr>
            <a:lvl6pPr indent="-228600" lvl="5" marL="2743200" rtl="0" algn="l">
              <a:lnSpc>
                <a:spcPct val="100000"/>
              </a:lnSpc>
              <a:spcBef>
                <a:spcPts val="300"/>
              </a:spcBef>
              <a:spcAft>
                <a:spcPts val="0"/>
              </a:spcAft>
              <a:buClr>
                <a:schemeClr val="dk1"/>
              </a:buClr>
              <a:buSzPts val="1400"/>
              <a:buNone/>
              <a:defRPr b="1" sz="1400"/>
            </a:lvl6pPr>
            <a:lvl7pPr indent="-228600" lvl="6" marL="3200400" rtl="0" algn="l">
              <a:lnSpc>
                <a:spcPct val="100000"/>
              </a:lnSpc>
              <a:spcBef>
                <a:spcPts val="300"/>
              </a:spcBef>
              <a:spcAft>
                <a:spcPts val="0"/>
              </a:spcAft>
              <a:buClr>
                <a:schemeClr val="dk1"/>
              </a:buClr>
              <a:buSzPts val="1400"/>
              <a:buNone/>
              <a:defRPr b="1" sz="1400"/>
            </a:lvl7pPr>
            <a:lvl8pPr indent="-228600" lvl="7" marL="3657600" rtl="0" algn="l">
              <a:lnSpc>
                <a:spcPct val="100000"/>
              </a:lnSpc>
              <a:spcBef>
                <a:spcPts val="300"/>
              </a:spcBef>
              <a:spcAft>
                <a:spcPts val="0"/>
              </a:spcAft>
              <a:buClr>
                <a:schemeClr val="dk1"/>
              </a:buClr>
              <a:buSzPts val="1400"/>
              <a:buNone/>
              <a:defRPr b="1" sz="1400"/>
            </a:lvl8pPr>
            <a:lvl9pPr indent="-228600" lvl="8" marL="4114800" rtl="0" algn="l">
              <a:lnSpc>
                <a:spcPct val="100000"/>
              </a:lnSpc>
              <a:spcBef>
                <a:spcPts val="300"/>
              </a:spcBef>
              <a:spcAft>
                <a:spcPts val="0"/>
              </a:spcAft>
              <a:buClr>
                <a:schemeClr val="dk1"/>
              </a:buClr>
              <a:buSzPts val="1400"/>
              <a:buNone/>
              <a:defRPr b="1" sz="1400"/>
            </a:lvl9pPr>
          </a:lstStyle>
          <a:p/>
        </p:txBody>
      </p:sp>
      <p:sp>
        <p:nvSpPr>
          <p:cNvPr id="110" name="Google Shape;110;p18"/>
          <p:cNvSpPr txBox="1"/>
          <p:nvPr>
            <p:ph idx="2" type="body"/>
          </p:nvPr>
        </p:nvSpPr>
        <p:spPr>
          <a:xfrm>
            <a:off x="457201" y="1631158"/>
            <a:ext cx="4040100" cy="2963400"/>
          </a:xfrm>
          <a:prstGeom prst="rect">
            <a:avLst/>
          </a:prstGeom>
          <a:noFill/>
          <a:ln>
            <a:noFill/>
          </a:ln>
        </p:spPr>
        <p:txBody>
          <a:bodyPr anchorCtr="0" anchor="t" bIns="53575" lIns="107125" spcFirstLastPara="1" rIns="107125" wrap="square" tIns="53575">
            <a:normAutofit/>
          </a:bodyPr>
          <a:lstStyle>
            <a:lvl1pPr indent="-361950" lvl="0" marL="457200" rtl="0" algn="l">
              <a:lnSpc>
                <a:spcPct val="100000"/>
              </a:lnSpc>
              <a:spcBef>
                <a:spcPts val="400"/>
              </a:spcBef>
              <a:spcAft>
                <a:spcPts val="0"/>
              </a:spcAft>
              <a:buClr>
                <a:schemeClr val="dk1"/>
              </a:buClr>
              <a:buSzPts val="2100"/>
              <a:buChar char="•"/>
              <a:defRPr sz="2100"/>
            </a:lvl1pPr>
            <a:lvl2pPr indent="-342900" lvl="1" marL="914400" rtl="0" algn="l">
              <a:lnSpc>
                <a:spcPct val="100000"/>
              </a:lnSpc>
              <a:spcBef>
                <a:spcPts val="400"/>
              </a:spcBef>
              <a:spcAft>
                <a:spcPts val="0"/>
              </a:spcAft>
              <a:buClr>
                <a:schemeClr val="dk1"/>
              </a:buClr>
              <a:buSzPts val="1800"/>
              <a:buChar char="–"/>
              <a:defRPr sz="1800"/>
            </a:lvl2pPr>
            <a:lvl3pPr indent="-330200" lvl="2" marL="1371600" rtl="0" algn="l">
              <a:lnSpc>
                <a:spcPct val="100000"/>
              </a:lnSpc>
              <a:spcBef>
                <a:spcPts val="300"/>
              </a:spcBef>
              <a:spcAft>
                <a:spcPts val="0"/>
              </a:spcAft>
              <a:buClr>
                <a:schemeClr val="dk1"/>
              </a:buClr>
              <a:buSzPts val="1600"/>
              <a:buChar char="•"/>
              <a:defRPr sz="1600"/>
            </a:lvl3pPr>
            <a:lvl4pPr indent="-317500" lvl="3" marL="1828800" rtl="0" algn="l">
              <a:lnSpc>
                <a:spcPct val="100000"/>
              </a:lnSpc>
              <a:spcBef>
                <a:spcPts val="300"/>
              </a:spcBef>
              <a:spcAft>
                <a:spcPts val="0"/>
              </a:spcAft>
              <a:buClr>
                <a:schemeClr val="dk1"/>
              </a:buClr>
              <a:buSzPts val="1400"/>
              <a:buChar char="–"/>
              <a:defRPr sz="1400"/>
            </a:lvl4pPr>
            <a:lvl5pPr indent="-317500" lvl="4" marL="2286000" rtl="0" algn="l">
              <a:lnSpc>
                <a:spcPct val="100000"/>
              </a:lnSpc>
              <a:spcBef>
                <a:spcPts val="300"/>
              </a:spcBef>
              <a:spcAft>
                <a:spcPts val="0"/>
              </a:spcAft>
              <a:buClr>
                <a:schemeClr val="dk1"/>
              </a:buClr>
              <a:buSzPts val="1400"/>
              <a:buChar char="»"/>
              <a:defRPr sz="1400"/>
            </a:lvl5pPr>
            <a:lvl6pPr indent="-317500" lvl="5" marL="2743200" rtl="0" algn="l">
              <a:lnSpc>
                <a:spcPct val="100000"/>
              </a:lnSpc>
              <a:spcBef>
                <a:spcPts val="300"/>
              </a:spcBef>
              <a:spcAft>
                <a:spcPts val="0"/>
              </a:spcAft>
              <a:buClr>
                <a:schemeClr val="dk1"/>
              </a:buClr>
              <a:buSzPts val="1400"/>
              <a:buChar char="•"/>
              <a:defRPr sz="1400"/>
            </a:lvl6pPr>
            <a:lvl7pPr indent="-317500" lvl="6" marL="3200400" rtl="0" algn="l">
              <a:lnSpc>
                <a:spcPct val="100000"/>
              </a:lnSpc>
              <a:spcBef>
                <a:spcPts val="300"/>
              </a:spcBef>
              <a:spcAft>
                <a:spcPts val="0"/>
              </a:spcAft>
              <a:buClr>
                <a:schemeClr val="dk1"/>
              </a:buClr>
              <a:buSzPts val="1400"/>
              <a:buChar char="•"/>
              <a:defRPr sz="1400"/>
            </a:lvl7pPr>
            <a:lvl8pPr indent="-317500" lvl="7" marL="3657600" rtl="0" algn="l">
              <a:lnSpc>
                <a:spcPct val="100000"/>
              </a:lnSpc>
              <a:spcBef>
                <a:spcPts val="300"/>
              </a:spcBef>
              <a:spcAft>
                <a:spcPts val="0"/>
              </a:spcAft>
              <a:buClr>
                <a:schemeClr val="dk1"/>
              </a:buClr>
              <a:buSzPts val="1400"/>
              <a:buChar char="•"/>
              <a:defRPr sz="1400"/>
            </a:lvl8pPr>
            <a:lvl9pPr indent="-317500" lvl="8" marL="4114800" rtl="0" algn="l">
              <a:lnSpc>
                <a:spcPct val="100000"/>
              </a:lnSpc>
              <a:spcBef>
                <a:spcPts val="300"/>
              </a:spcBef>
              <a:spcAft>
                <a:spcPts val="0"/>
              </a:spcAft>
              <a:buClr>
                <a:schemeClr val="dk1"/>
              </a:buClr>
              <a:buSzPts val="1400"/>
              <a:buChar char="•"/>
              <a:defRPr sz="1400"/>
            </a:lvl9pPr>
          </a:lstStyle>
          <a:p/>
        </p:txBody>
      </p:sp>
      <p:sp>
        <p:nvSpPr>
          <p:cNvPr id="111" name="Google Shape;111;p18"/>
          <p:cNvSpPr txBox="1"/>
          <p:nvPr>
            <p:ph idx="3" type="body"/>
          </p:nvPr>
        </p:nvSpPr>
        <p:spPr>
          <a:xfrm>
            <a:off x="4645027" y="1151336"/>
            <a:ext cx="4041900" cy="479700"/>
          </a:xfrm>
          <a:prstGeom prst="rect">
            <a:avLst/>
          </a:prstGeom>
          <a:noFill/>
          <a:ln>
            <a:noFill/>
          </a:ln>
        </p:spPr>
        <p:txBody>
          <a:bodyPr anchorCtr="0" anchor="b" bIns="53575" lIns="107125" spcFirstLastPara="1" rIns="107125" wrap="square" tIns="53575">
            <a:normAutofit/>
          </a:bodyPr>
          <a:lstStyle>
            <a:lvl1pPr indent="-228600" lvl="0" marL="457200" rtl="0" algn="l">
              <a:lnSpc>
                <a:spcPct val="100000"/>
              </a:lnSpc>
              <a:spcBef>
                <a:spcPts val="400"/>
              </a:spcBef>
              <a:spcAft>
                <a:spcPts val="0"/>
              </a:spcAft>
              <a:buClr>
                <a:schemeClr val="dk1"/>
              </a:buClr>
              <a:buSzPts val="2100"/>
              <a:buNone/>
              <a:defRPr b="1" sz="2100"/>
            </a:lvl1pPr>
            <a:lvl2pPr indent="-228600" lvl="1" marL="914400" rtl="0" algn="l">
              <a:lnSpc>
                <a:spcPct val="100000"/>
              </a:lnSpc>
              <a:spcBef>
                <a:spcPts val="400"/>
              </a:spcBef>
              <a:spcAft>
                <a:spcPts val="0"/>
              </a:spcAft>
              <a:buClr>
                <a:schemeClr val="dk1"/>
              </a:buClr>
              <a:buSzPts val="1800"/>
              <a:buNone/>
              <a:defRPr b="1" sz="1800"/>
            </a:lvl2pPr>
            <a:lvl3pPr indent="-228600" lvl="2" marL="1371600" rtl="0" algn="l">
              <a:lnSpc>
                <a:spcPct val="100000"/>
              </a:lnSpc>
              <a:spcBef>
                <a:spcPts val="300"/>
              </a:spcBef>
              <a:spcAft>
                <a:spcPts val="0"/>
              </a:spcAft>
              <a:buClr>
                <a:schemeClr val="dk1"/>
              </a:buClr>
              <a:buSzPts val="1600"/>
              <a:buNone/>
              <a:defRPr b="1" sz="1600"/>
            </a:lvl3pPr>
            <a:lvl4pPr indent="-228600" lvl="3" marL="1828800" rtl="0" algn="l">
              <a:lnSpc>
                <a:spcPct val="100000"/>
              </a:lnSpc>
              <a:spcBef>
                <a:spcPts val="300"/>
              </a:spcBef>
              <a:spcAft>
                <a:spcPts val="0"/>
              </a:spcAft>
              <a:buClr>
                <a:schemeClr val="dk1"/>
              </a:buClr>
              <a:buSzPts val="1400"/>
              <a:buNone/>
              <a:defRPr b="1" sz="1400"/>
            </a:lvl4pPr>
            <a:lvl5pPr indent="-228600" lvl="4" marL="2286000" rtl="0" algn="l">
              <a:lnSpc>
                <a:spcPct val="100000"/>
              </a:lnSpc>
              <a:spcBef>
                <a:spcPts val="300"/>
              </a:spcBef>
              <a:spcAft>
                <a:spcPts val="0"/>
              </a:spcAft>
              <a:buClr>
                <a:schemeClr val="dk1"/>
              </a:buClr>
              <a:buSzPts val="1400"/>
              <a:buNone/>
              <a:defRPr b="1" sz="1400"/>
            </a:lvl5pPr>
            <a:lvl6pPr indent="-228600" lvl="5" marL="2743200" rtl="0" algn="l">
              <a:lnSpc>
                <a:spcPct val="100000"/>
              </a:lnSpc>
              <a:spcBef>
                <a:spcPts val="300"/>
              </a:spcBef>
              <a:spcAft>
                <a:spcPts val="0"/>
              </a:spcAft>
              <a:buClr>
                <a:schemeClr val="dk1"/>
              </a:buClr>
              <a:buSzPts val="1400"/>
              <a:buNone/>
              <a:defRPr b="1" sz="1400"/>
            </a:lvl6pPr>
            <a:lvl7pPr indent="-228600" lvl="6" marL="3200400" rtl="0" algn="l">
              <a:lnSpc>
                <a:spcPct val="100000"/>
              </a:lnSpc>
              <a:spcBef>
                <a:spcPts val="300"/>
              </a:spcBef>
              <a:spcAft>
                <a:spcPts val="0"/>
              </a:spcAft>
              <a:buClr>
                <a:schemeClr val="dk1"/>
              </a:buClr>
              <a:buSzPts val="1400"/>
              <a:buNone/>
              <a:defRPr b="1" sz="1400"/>
            </a:lvl7pPr>
            <a:lvl8pPr indent="-228600" lvl="7" marL="3657600" rtl="0" algn="l">
              <a:lnSpc>
                <a:spcPct val="100000"/>
              </a:lnSpc>
              <a:spcBef>
                <a:spcPts val="300"/>
              </a:spcBef>
              <a:spcAft>
                <a:spcPts val="0"/>
              </a:spcAft>
              <a:buClr>
                <a:schemeClr val="dk1"/>
              </a:buClr>
              <a:buSzPts val="1400"/>
              <a:buNone/>
              <a:defRPr b="1" sz="1400"/>
            </a:lvl8pPr>
            <a:lvl9pPr indent="-228600" lvl="8" marL="4114800" rtl="0" algn="l">
              <a:lnSpc>
                <a:spcPct val="100000"/>
              </a:lnSpc>
              <a:spcBef>
                <a:spcPts val="300"/>
              </a:spcBef>
              <a:spcAft>
                <a:spcPts val="0"/>
              </a:spcAft>
              <a:buClr>
                <a:schemeClr val="dk1"/>
              </a:buClr>
              <a:buSzPts val="1400"/>
              <a:buNone/>
              <a:defRPr b="1" sz="1400"/>
            </a:lvl9pPr>
          </a:lstStyle>
          <a:p/>
        </p:txBody>
      </p:sp>
      <p:sp>
        <p:nvSpPr>
          <p:cNvPr id="112" name="Google Shape;112;p18"/>
          <p:cNvSpPr txBox="1"/>
          <p:nvPr>
            <p:ph idx="4" type="body"/>
          </p:nvPr>
        </p:nvSpPr>
        <p:spPr>
          <a:xfrm>
            <a:off x="4645027" y="1631158"/>
            <a:ext cx="4041900" cy="2963400"/>
          </a:xfrm>
          <a:prstGeom prst="rect">
            <a:avLst/>
          </a:prstGeom>
          <a:noFill/>
          <a:ln>
            <a:noFill/>
          </a:ln>
        </p:spPr>
        <p:txBody>
          <a:bodyPr anchorCtr="0" anchor="t" bIns="53575" lIns="107125" spcFirstLastPara="1" rIns="107125" wrap="square" tIns="53575">
            <a:normAutofit/>
          </a:bodyPr>
          <a:lstStyle>
            <a:lvl1pPr indent="-361950" lvl="0" marL="457200" rtl="0" algn="l">
              <a:lnSpc>
                <a:spcPct val="100000"/>
              </a:lnSpc>
              <a:spcBef>
                <a:spcPts val="400"/>
              </a:spcBef>
              <a:spcAft>
                <a:spcPts val="0"/>
              </a:spcAft>
              <a:buClr>
                <a:schemeClr val="dk1"/>
              </a:buClr>
              <a:buSzPts val="2100"/>
              <a:buChar char="•"/>
              <a:defRPr sz="2100"/>
            </a:lvl1pPr>
            <a:lvl2pPr indent="-342900" lvl="1" marL="914400" rtl="0" algn="l">
              <a:lnSpc>
                <a:spcPct val="100000"/>
              </a:lnSpc>
              <a:spcBef>
                <a:spcPts val="400"/>
              </a:spcBef>
              <a:spcAft>
                <a:spcPts val="0"/>
              </a:spcAft>
              <a:buClr>
                <a:schemeClr val="dk1"/>
              </a:buClr>
              <a:buSzPts val="1800"/>
              <a:buChar char="–"/>
              <a:defRPr sz="1800"/>
            </a:lvl2pPr>
            <a:lvl3pPr indent="-330200" lvl="2" marL="1371600" rtl="0" algn="l">
              <a:lnSpc>
                <a:spcPct val="100000"/>
              </a:lnSpc>
              <a:spcBef>
                <a:spcPts val="300"/>
              </a:spcBef>
              <a:spcAft>
                <a:spcPts val="0"/>
              </a:spcAft>
              <a:buClr>
                <a:schemeClr val="dk1"/>
              </a:buClr>
              <a:buSzPts val="1600"/>
              <a:buChar char="•"/>
              <a:defRPr sz="1600"/>
            </a:lvl3pPr>
            <a:lvl4pPr indent="-317500" lvl="3" marL="1828800" rtl="0" algn="l">
              <a:lnSpc>
                <a:spcPct val="100000"/>
              </a:lnSpc>
              <a:spcBef>
                <a:spcPts val="300"/>
              </a:spcBef>
              <a:spcAft>
                <a:spcPts val="0"/>
              </a:spcAft>
              <a:buClr>
                <a:schemeClr val="dk1"/>
              </a:buClr>
              <a:buSzPts val="1400"/>
              <a:buChar char="–"/>
              <a:defRPr sz="1400"/>
            </a:lvl4pPr>
            <a:lvl5pPr indent="-317500" lvl="4" marL="2286000" rtl="0" algn="l">
              <a:lnSpc>
                <a:spcPct val="100000"/>
              </a:lnSpc>
              <a:spcBef>
                <a:spcPts val="300"/>
              </a:spcBef>
              <a:spcAft>
                <a:spcPts val="0"/>
              </a:spcAft>
              <a:buClr>
                <a:schemeClr val="dk1"/>
              </a:buClr>
              <a:buSzPts val="1400"/>
              <a:buChar char="»"/>
              <a:defRPr sz="1400"/>
            </a:lvl5pPr>
            <a:lvl6pPr indent="-317500" lvl="5" marL="2743200" rtl="0" algn="l">
              <a:lnSpc>
                <a:spcPct val="100000"/>
              </a:lnSpc>
              <a:spcBef>
                <a:spcPts val="300"/>
              </a:spcBef>
              <a:spcAft>
                <a:spcPts val="0"/>
              </a:spcAft>
              <a:buClr>
                <a:schemeClr val="dk1"/>
              </a:buClr>
              <a:buSzPts val="1400"/>
              <a:buChar char="•"/>
              <a:defRPr sz="1400"/>
            </a:lvl6pPr>
            <a:lvl7pPr indent="-317500" lvl="6" marL="3200400" rtl="0" algn="l">
              <a:lnSpc>
                <a:spcPct val="100000"/>
              </a:lnSpc>
              <a:spcBef>
                <a:spcPts val="300"/>
              </a:spcBef>
              <a:spcAft>
                <a:spcPts val="0"/>
              </a:spcAft>
              <a:buClr>
                <a:schemeClr val="dk1"/>
              </a:buClr>
              <a:buSzPts val="1400"/>
              <a:buChar char="•"/>
              <a:defRPr sz="1400"/>
            </a:lvl7pPr>
            <a:lvl8pPr indent="-317500" lvl="7" marL="3657600" rtl="0" algn="l">
              <a:lnSpc>
                <a:spcPct val="100000"/>
              </a:lnSpc>
              <a:spcBef>
                <a:spcPts val="300"/>
              </a:spcBef>
              <a:spcAft>
                <a:spcPts val="0"/>
              </a:spcAft>
              <a:buClr>
                <a:schemeClr val="dk1"/>
              </a:buClr>
              <a:buSzPts val="1400"/>
              <a:buChar char="•"/>
              <a:defRPr sz="1400"/>
            </a:lvl8pPr>
            <a:lvl9pPr indent="-317500" lvl="8" marL="4114800" rtl="0" algn="l">
              <a:lnSpc>
                <a:spcPct val="100000"/>
              </a:lnSpc>
              <a:spcBef>
                <a:spcPts val="300"/>
              </a:spcBef>
              <a:spcAft>
                <a:spcPts val="0"/>
              </a:spcAft>
              <a:buClr>
                <a:schemeClr val="dk1"/>
              </a:buClr>
              <a:buSzPts val="1400"/>
              <a:buChar char="•"/>
              <a:defRPr sz="1400"/>
            </a:lvl9pPr>
          </a:lstStyle>
          <a:p/>
        </p:txBody>
      </p:sp>
      <p:sp>
        <p:nvSpPr>
          <p:cNvPr id="113" name="Google Shape;113;p18"/>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14" name="Google Shape;114;p18"/>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15" name="Google Shape;115;p18"/>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9"/>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4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18" name="Google Shape;118;p19"/>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19" name="Google Shape;119;p19"/>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20" name="Google Shape;120;p19"/>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0"/>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23" name="Google Shape;123;p20"/>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24" name="Google Shape;124;p20"/>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1"/>
          <p:cNvSpPr txBox="1"/>
          <p:nvPr>
            <p:ph type="title"/>
          </p:nvPr>
        </p:nvSpPr>
        <p:spPr>
          <a:xfrm>
            <a:off x="457201" y="204788"/>
            <a:ext cx="3008400" cy="871500"/>
          </a:xfrm>
          <a:prstGeom prst="rect">
            <a:avLst/>
          </a:prstGeom>
          <a:noFill/>
          <a:ln>
            <a:noFill/>
          </a:ln>
        </p:spPr>
        <p:txBody>
          <a:bodyPr anchorCtr="0" anchor="b" bIns="53575" lIns="107125" spcFirstLastPara="1" rIns="107125" wrap="square" tIns="53575">
            <a:normAutofit/>
          </a:bodyPr>
          <a:lstStyle>
            <a:lvl1pPr lvl="0" rtl="0" algn="l">
              <a:lnSpc>
                <a:spcPct val="100000"/>
              </a:lnSpc>
              <a:spcBef>
                <a:spcPts val="0"/>
              </a:spcBef>
              <a:spcAft>
                <a:spcPts val="0"/>
              </a:spcAft>
              <a:buClr>
                <a:schemeClr val="dk1"/>
              </a:buClr>
              <a:buSzPts val="1800"/>
              <a:buFont typeface="Calibri"/>
              <a:buNone/>
              <a:defRPr b="1" sz="1800"/>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27" name="Google Shape;127;p21"/>
          <p:cNvSpPr txBox="1"/>
          <p:nvPr>
            <p:ph idx="1" type="body"/>
          </p:nvPr>
        </p:nvSpPr>
        <p:spPr>
          <a:xfrm>
            <a:off x="3575051" y="204788"/>
            <a:ext cx="5111700" cy="4389900"/>
          </a:xfrm>
          <a:prstGeom prst="rect">
            <a:avLst/>
          </a:prstGeom>
          <a:noFill/>
          <a:ln>
            <a:noFill/>
          </a:ln>
        </p:spPr>
        <p:txBody>
          <a:bodyPr anchorCtr="0" anchor="t" bIns="53575" lIns="107125" spcFirstLastPara="1" rIns="107125" wrap="square" tIns="53575">
            <a:normAutofit/>
          </a:bodyPr>
          <a:lstStyle>
            <a:lvl1pPr indent="-412750" lvl="0" marL="457200" rtl="0" algn="l">
              <a:lnSpc>
                <a:spcPct val="100000"/>
              </a:lnSpc>
              <a:spcBef>
                <a:spcPts val="600"/>
              </a:spcBef>
              <a:spcAft>
                <a:spcPts val="0"/>
              </a:spcAft>
              <a:buClr>
                <a:schemeClr val="dk1"/>
              </a:buClr>
              <a:buSzPts val="2900"/>
              <a:buChar char="•"/>
              <a:defRPr sz="2900"/>
            </a:lvl1pPr>
            <a:lvl2pPr indent="-387350" lvl="1" marL="914400" rtl="0" algn="l">
              <a:lnSpc>
                <a:spcPct val="100000"/>
              </a:lnSpc>
              <a:spcBef>
                <a:spcPts val="500"/>
              </a:spcBef>
              <a:spcAft>
                <a:spcPts val="0"/>
              </a:spcAft>
              <a:buClr>
                <a:schemeClr val="dk1"/>
              </a:buClr>
              <a:buSzPts val="2500"/>
              <a:buChar char="–"/>
              <a:defRPr sz="2500"/>
            </a:lvl2pPr>
            <a:lvl3pPr indent="-361950" lvl="2" marL="1371600" rtl="0" algn="l">
              <a:lnSpc>
                <a:spcPct val="100000"/>
              </a:lnSpc>
              <a:spcBef>
                <a:spcPts val="400"/>
              </a:spcBef>
              <a:spcAft>
                <a:spcPts val="0"/>
              </a:spcAft>
              <a:buClr>
                <a:schemeClr val="dk1"/>
              </a:buClr>
              <a:buSzPts val="2100"/>
              <a:buChar char="•"/>
              <a:defRPr sz="2100"/>
            </a:lvl3pPr>
            <a:lvl4pPr indent="-342900" lvl="3" marL="1828800" rtl="0" algn="l">
              <a:lnSpc>
                <a:spcPct val="100000"/>
              </a:lnSpc>
              <a:spcBef>
                <a:spcPts val="400"/>
              </a:spcBef>
              <a:spcAft>
                <a:spcPts val="0"/>
              </a:spcAft>
              <a:buClr>
                <a:schemeClr val="dk1"/>
              </a:buClr>
              <a:buSzPts val="1800"/>
              <a:buChar char="–"/>
              <a:defRPr sz="1800"/>
            </a:lvl4pPr>
            <a:lvl5pPr indent="-342900" lvl="4" marL="2286000" rtl="0" algn="l">
              <a:lnSpc>
                <a:spcPct val="100000"/>
              </a:lnSpc>
              <a:spcBef>
                <a:spcPts val="400"/>
              </a:spcBef>
              <a:spcAft>
                <a:spcPts val="0"/>
              </a:spcAft>
              <a:buClr>
                <a:schemeClr val="dk1"/>
              </a:buClr>
              <a:buSzPts val="1800"/>
              <a:buChar char="»"/>
              <a:defRPr sz="1800"/>
            </a:lvl5pPr>
            <a:lvl6pPr indent="-342900" lvl="5" marL="2743200" rtl="0" algn="l">
              <a:lnSpc>
                <a:spcPct val="100000"/>
              </a:lnSpc>
              <a:spcBef>
                <a:spcPts val="400"/>
              </a:spcBef>
              <a:spcAft>
                <a:spcPts val="0"/>
              </a:spcAft>
              <a:buClr>
                <a:schemeClr val="dk1"/>
              </a:buClr>
              <a:buSzPts val="1800"/>
              <a:buChar char="•"/>
              <a:defRPr sz="1800"/>
            </a:lvl6pPr>
            <a:lvl7pPr indent="-342900" lvl="6" marL="3200400" rtl="0" algn="l">
              <a:lnSpc>
                <a:spcPct val="100000"/>
              </a:lnSpc>
              <a:spcBef>
                <a:spcPts val="400"/>
              </a:spcBef>
              <a:spcAft>
                <a:spcPts val="0"/>
              </a:spcAft>
              <a:buClr>
                <a:schemeClr val="dk1"/>
              </a:buClr>
              <a:buSzPts val="1800"/>
              <a:buChar char="•"/>
              <a:defRPr sz="1800"/>
            </a:lvl7pPr>
            <a:lvl8pPr indent="-342900" lvl="7" marL="3657600" rtl="0" algn="l">
              <a:lnSpc>
                <a:spcPct val="100000"/>
              </a:lnSpc>
              <a:spcBef>
                <a:spcPts val="400"/>
              </a:spcBef>
              <a:spcAft>
                <a:spcPts val="0"/>
              </a:spcAft>
              <a:buClr>
                <a:schemeClr val="dk1"/>
              </a:buClr>
              <a:buSzPts val="1800"/>
              <a:buChar char="•"/>
              <a:defRPr sz="1800"/>
            </a:lvl8pPr>
            <a:lvl9pPr indent="-342900" lvl="8" marL="4114800" rtl="0" algn="l">
              <a:lnSpc>
                <a:spcPct val="100000"/>
              </a:lnSpc>
              <a:spcBef>
                <a:spcPts val="400"/>
              </a:spcBef>
              <a:spcAft>
                <a:spcPts val="0"/>
              </a:spcAft>
              <a:buClr>
                <a:schemeClr val="dk1"/>
              </a:buClr>
              <a:buSzPts val="1800"/>
              <a:buChar char="•"/>
              <a:defRPr sz="1800"/>
            </a:lvl9pPr>
          </a:lstStyle>
          <a:p/>
        </p:txBody>
      </p:sp>
      <p:sp>
        <p:nvSpPr>
          <p:cNvPr id="128" name="Google Shape;128;p21"/>
          <p:cNvSpPr txBox="1"/>
          <p:nvPr>
            <p:ph idx="2" type="body"/>
          </p:nvPr>
        </p:nvSpPr>
        <p:spPr>
          <a:xfrm>
            <a:off x="457201" y="1076326"/>
            <a:ext cx="3008400" cy="3518400"/>
          </a:xfrm>
          <a:prstGeom prst="rect">
            <a:avLst/>
          </a:prstGeom>
          <a:noFill/>
          <a:ln>
            <a:noFill/>
          </a:ln>
        </p:spPr>
        <p:txBody>
          <a:bodyPr anchorCtr="0" anchor="t" bIns="53575" lIns="107125" spcFirstLastPara="1" rIns="107125" wrap="square" tIns="53575">
            <a:normAutofit/>
          </a:bodyPr>
          <a:lstStyle>
            <a:lvl1pPr indent="-228600" lvl="0" marL="457200" rtl="0" algn="l">
              <a:lnSpc>
                <a:spcPct val="100000"/>
              </a:lnSpc>
              <a:spcBef>
                <a:spcPts val="200"/>
              </a:spcBef>
              <a:spcAft>
                <a:spcPts val="0"/>
              </a:spcAft>
              <a:buClr>
                <a:schemeClr val="dk1"/>
              </a:buClr>
              <a:buSzPts val="1200"/>
              <a:buNone/>
              <a:defRPr sz="1200"/>
            </a:lvl1pPr>
            <a:lvl2pPr indent="-228600" lvl="1" marL="914400" rtl="0" algn="l">
              <a:lnSpc>
                <a:spcPct val="100000"/>
              </a:lnSpc>
              <a:spcBef>
                <a:spcPts val="200"/>
              </a:spcBef>
              <a:spcAft>
                <a:spcPts val="0"/>
              </a:spcAft>
              <a:buClr>
                <a:schemeClr val="dk1"/>
              </a:buClr>
              <a:buSzPts val="1100"/>
              <a:buNone/>
              <a:defRPr sz="1100"/>
            </a:lvl2pPr>
            <a:lvl3pPr indent="-228600" lvl="2" marL="1371600" rtl="0" algn="l">
              <a:lnSpc>
                <a:spcPct val="100000"/>
              </a:lnSpc>
              <a:spcBef>
                <a:spcPts val="200"/>
              </a:spcBef>
              <a:spcAft>
                <a:spcPts val="0"/>
              </a:spcAft>
              <a:buClr>
                <a:schemeClr val="dk1"/>
              </a:buClr>
              <a:buSzPts val="900"/>
              <a:buNone/>
              <a:defRPr sz="900"/>
            </a:lvl3pPr>
            <a:lvl4pPr indent="-228600" lvl="3" marL="1828800" rtl="0" algn="l">
              <a:lnSpc>
                <a:spcPct val="100000"/>
              </a:lnSpc>
              <a:spcBef>
                <a:spcPts val="200"/>
              </a:spcBef>
              <a:spcAft>
                <a:spcPts val="0"/>
              </a:spcAft>
              <a:buClr>
                <a:schemeClr val="dk1"/>
              </a:buClr>
              <a:buSzPts val="800"/>
              <a:buNone/>
              <a:defRPr sz="800"/>
            </a:lvl4pPr>
            <a:lvl5pPr indent="-228600" lvl="4" marL="2286000" rtl="0" algn="l">
              <a:lnSpc>
                <a:spcPct val="100000"/>
              </a:lnSpc>
              <a:spcBef>
                <a:spcPts val="200"/>
              </a:spcBef>
              <a:spcAft>
                <a:spcPts val="0"/>
              </a:spcAft>
              <a:buClr>
                <a:schemeClr val="dk1"/>
              </a:buClr>
              <a:buSzPts val="800"/>
              <a:buNone/>
              <a:defRPr sz="800"/>
            </a:lvl5pPr>
            <a:lvl6pPr indent="-228600" lvl="5" marL="2743200" rtl="0" algn="l">
              <a:lnSpc>
                <a:spcPct val="100000"/>
              </a:lnSpc>
              <a:spcBef>
                <a:spcPts val="200"/>
              </a:spcBef>
              <a:spcAft>
                <a:spcPts val="0"/>
              </a:spcAft>
              <a:buClr>
                <a:schemeClr val="dk1"/>
              </a:buClr>
              <a:buSzPts val="800"/>
              <a:buNone/>
              <a:defRPr sz="800"/>
            </a:lvl6pPr>
            <a:lvl7pPr indent="-228600" lvl="6" marL="3200400" rtl="0" algn="l">
              <a:lnSpc>
                <a:spcPct val="100000"/>
              </a:lnSpc>
              <a:spcBef>
                <a:spcPts val="200"/>
              </a:spcBef>
              <a:spcAft>
                <a:spcPts val="0"/>
              </a:spcAft>
              <a:buClr>
                <a:schemeClr val="dk1"/>
              </a:buClr>
              <a:buSzPts val="800"/>
              <a:buNone/>
              <a:defRPr sz="800"/>
            </a:lvl7pPr>
            <a:lvl8pPr indent="-228600" lvl="7" marL="3657600" rtl="0" algn="l">
              <a:lnSpc>
                <a:spcPct val="100000"/>
              </a:lnSpc>
              <a:spcBef>
                <a:spcPts val="200"/>
              </a:spcBef>
              <a:spcAft>
                <a:spcPts val="0"/>
              </a:spcAft>
              <a:buClr>
                <a:schemeClr val="dk1"/>
              </a:buClr>
              <a:buSzPts val="800"/>
              <a:buNone/>
              <a:defRPr sz="800"/>
            </a:lvl8pPr>
            <a:lvl9pPr indent="-228600" lvl="8" marL="4114800" rtl="0" algn="l">
              <a:lnSpc>
                <a:spcPct val="100000"/>
              </a:lnSpc>
              <a:spcBef>
                <a:spcPts val="200"/>
              </a:spcBef>
              <a:spcAft>
                <a:spcPts val="0"/>
              </a:spcAft>
              <a:buClr>
                <a:schemeClr val="dk1"/>
              </a:buClr>
              <a:buSzPts val="800"/>
              <a:buNone/>
              <a:defRPr sz="800"/>
            </a:lvl9pPr>
          </a:lstStyle>
          <a:p/>
        </p:txBody>
      </p:sp>
      <p:sp>
        <p:nvSpPr>
          <p:cNvPr id="129" name="Google Shape;129;p21"/>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30" name="Google Shape;130;p21"/>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31" name="Google Shape;131;p21"/>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2"/>
          <p:cNvSpPr txBox="1"/>
          <p:nvPr>
            <p:ph type="title"/>
          </p:nvPr>
        </p:nvSpPr>
        <p:spPr>
          <a:xfrm>
            <a:off x="1792289" y="3600452"/>
            <a:ext cx="5486400" cy="425100"/>
          </a:xfrm>
          <a:prstGeom prst="rect">
            <a:avLst/>
          </a:prstGeom>
          <a:noFill/>
          <a:ln>
            <a:noFill/>
          </a:ln>
        </p:spPr>
        <p:txBody>
          <a:bodyPr anchorCtr="0" anchor="b" bIns="53575" lIns="107125" spcFirstLastPara="1" rIns="107125" wrap="square" tIns="53575">
            <a:normAutofit/>
          </a:bodyPr>
          <a:lstStyle>
            <a:lvl1pPr lvl="0" rtl="0" algn="l">
              <a:lnSpc>
                <a:spcPct val="100000"/>
              </a:lnSpc>
              <a:spcBef>
                <a:spcPts val="0"/>
              </a:spcBef>
              <a:spcAft>
                <a:spcPts val="0"/>
              </a:spcAft>
              <a:buClr>
                <a:schemeClr val="dk1"/>
              </a:buClr>
              <a:buSzPts val="1800"/>
              <a:buFont typeface="Calibri"/>
              <a:buNone/>
              <a:defRPr b="1" sz="1800"/>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34" name="Google Shape;134;p22"/>
          <p:cNvSpPr/>
          <p:nvPr>
            <p:ph idx="2" type="pic"/>
          </p:nvPr>
        </p:nvSpPr>
        <p:spPr>
          <a:xfrm>
            <a:off x="1792289" y="459582"/>
            <a:ext cx="5486400" cy="3086100"/>
          </a:xfrm>
          <a:prstGeom prst="rect">
            <a:avLst/>
          </a:prstGeom>
          <a:noFill/>
          <a:ln>
            <a:noFill/>
          </a:ln>
        </p:spPr>
      </p:sp>
      <p:sp>
        <p:nvSpPr>
          <p:cNvPr id="135" name="Google Shape;135;p22"/>
          <p:cNvSpPr txBox="1"/>
          <p:nvPr>
            <p:ph idx="1" type="body"/>
          </p:nvPr>
        </p:nvSpPr>
        <p:spPr>
          <a:xfrm>
            <a:off x="1792289" y="4025506"/>
            <a:ext cx="5486400" cy="603600"/>
          </a:xfrm>
          <a:prstGeom prst="rect">
            <a:avLst/>
          </a:prstGeom>
          <a:noFill/>
          <a:ln>
            <a:noFill/>
          </a:ln>
        </p:spPr>
        <p:txBody>
          <a:bodyPr anchorCtr="0" anchor="t" bIns="53575" lIns="107125" spcFirstLastPara="1" rIns="107125" wrap="square" tIns="53575">
            <a:normAutofit/>
          </a:bodyPr>
          <a:lstStyle>
            <a:lvl1pPr indent="-228600" lvl="0" marL="457200" rtl="0" algn="l">
              <a:lnSpc>
                <a:spcPct val="100000"/>
              </a:lnSpc>
              <a:spcBef>
                <a:spcPts val="200"/>
              </a:spcBef>
              <a:spcAft>
                <a:spcPts val="0"/>
              </a:spcAft>
              <a:buClr>
                <a:schemeClr val="dk1"/>
              </a:buClr>
              <a:buSzPts val="1200"/>
              <a:buNone/>
              <a:defRPr sz="1200"/>
            </a:lvl1pPr>
            <a:lvl2pPr indent="-228600" lvl="1" marL="914400" rtl="0" algn="l">
              <a:lnSpc>
                <a:spcPct val="100000"/>
              </a:lnSpc>
              <a:spcBef>
                <a:spcPts val="200"/>
              </a:spcBef>
              <a:spcAft>
                <a:spcPts val="0"/>
              </a:spcAft>
              <a:buClr>
                <a:schemeClr val="dk1"/>
              </a:buClr>
              <a:buSzPts val="1100"/>
              <a:buNone/>
              <a:defRPr sz="1100"/>
            </a:lvl2pPr>
            <a:lvl3pPr indent="-228600" lvl="2" marL="1371600" rtl="0" algn="l">
              <a:lnSpc>
                <a:spcPct val="100000"/>
              </a:lnSpc>
              <a:spcBef>
                <a:spcPts val="200"/>
              </a:spcBef>
              <a:spcAft>
                <a:spcPts val="0"/>
              </a:spcAft>
              <a:buClr>
                <a:schemeClr val="dk1"/>
              </a:buClr>
              <a:buSzPts val="900"/>
              <a:buNone/>
              <a:defRPr sz="900"/>
            </a:lvl3pPr>
            <a:lvl4pPr indent="-228600" lvl="3" marL="1828800" rtl="0" algn="l">
              <a:lnSpc>
                <a:spcPct val="100000"/>
              </a:lnSpc>
              <a:spcBef>
                <a:spcPts val="200"/>
              </a:spcBef>
              <a:spcAft>
                <a:spcPts val="0"/>
              </a:spcAft>
              <a:buClr>
                <a:schemeClr val="dk1"/>
              </a:buClr>
              <a:buSzPts val="800"/>
              <a:buNone/>
              <a:defRPr sz="800"/>
            </a:lvl4pPr>
            <a:lvl5pPr indent="-228600" lvl="4" marL="2286000" rtl="0" algn="l">
              <a:lnSpc>
                <a:spcPct val="100000"/>
              </a:lnSpc>
              <a:spcBef>
                <a:spcPts val="200"/>
              </a:spcBef>
              <a:spcAft>
                <a:spcPts val="0"/>
              </a:spcAft>
              <a:buClr>
                <a:schemeClr val="dk1"/>
              </a:buClr>
              <a:buSzPts val="800"/>
              <a:buNone/>
              <a:defRPr sz="800"/>
            </a:lvl5pPr>
            <a:lvl6pPr indent="-228600" lvl="5" marL="2743200" rtl="0" algn="l">
              <a:lnSpc>
                <a:spcPct val="100000"/>
              </a:lnSpc>
              <a:spcBef>
                <a:spcPts val="200"/>
              </a:spcBef>
              <a:spcAft>
                <a:spcPts val="0"/>
              </a:spcAft>
              <a:buClr>
                <a:schemeClr val="dk1"/>
              </a:buClr>
              <a:buSzPts val="800"/>
              <a:buNone/>
              <a:defRPr sz="800"/>
            </a:lvl6pPr>
            <a:lvl7pPr indent="-228600" lvl="6" marL="3200400" rtl="0" algn="l">
              <a:lnSpc>
                <a:spcPct val="100000"/>
              </a:lnSpc>
              <a:spcBef>
                <a:spcPts val="200"/>
              </a:spcBef>
              <a:spcAft>
                <a:spcPts val="0"/>
              </a:spcAft>
              <a:buClr>
                <a:schemeClr val="dk1"/>
              </a:buClr>
              <a:buSzPts val="800"/>
              <a:buNone/>
              <a:defRPr sz="800"/>
            </a:lvl7pPr>
            <a:lvl8pPr indent="-228600" lvl="7" marL="3657600" rtl="0" algn="l">
              <a:lnSpc>
                <a:spcPct val="100000"/>
              </a:lnSpc>
              <a:spcBef>
                <a:spcPts val="200"/>
              </a:spcBef>
              <a:spcAft>
                <a:spcPts val="0"/>
              </a:spcAft>
              <a:buClr>
                <a:schemeClr val="dk1"/>
              </a:buClr>
              <a:buSzPts val="800"/>
              <a:buNone/>
              <a:defRPr sz="800"/>
            </a:lvl8pPr>
            <a:lvl9pPr indent="-228600" lvl="8" marL="4114800" rtl="0" algn="l">
              <a:lnSpc>
                <a:spcPct val="100000"/>
              </a:lnSpc>
              <a:spcBef>
                <a:spcPts val="200"/>
              </a:spcBef>
              <a:spcAft>
                <a:spcPts val="0"/>
              </a:spcAft>
              <a:buClr>
                <a:schemeClr val="dk1"/>
              </a:buClr>
              <a:buSzPts val="800"/>
              <a:buNone/>
              <a:defRPr sz="800"/>
            </a:lvl9pPr>
          </a:lstStyle>
          <a:p/>
        </p:txBody>
      </p:sp>
      <p:sp>
        <p:nvSpPr>
          <p:cNvPr id="136" name="Google Shape;136;p22"/>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37" name="Google Shape;137;p22"/>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38" name="Google Shape;138;p22"/>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9" name="Shape 139"/>
        <p:cNvGrpSpPr/>
        <p:nvPr/>
      </p:nvGrpSpPr>
      <p:grpSpPr>
        <a:xfrm>
          <a:off x="0" y="0"/>
          <a:ext cx="0" cy="0"/>
          <a:chOff x="0" y="0"/>
          <a:chExt cx="0" cy="0"/>
        </a:xfrm>
      </p:grpSpPr>
      <p:sp>
        <p:nvSpPr>
          <p:cNvPr id="140" name="Google Shape;140;p23"/>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4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41" name="Google Shape;141;p23"/>
          <p:cNvSpPr txBox="1"/>
          <p:nvPr>
            <p:ph idx="1" type="body"/>
          </p:nvPr>
        </p:nvSpPr>
        <p:spPr>
          <a:xfrm rot="5400000">
            <a:off x="2874753" y="-1217398"/>
            <a:ext cx="3394500" cy="8229600"/>
          </a:xfrm>
          <a:prstGeom prst="rect">
            <a:avLst/>
          </a:prstGeom>
          <a:noFill/>
          <a:ln>
            <a:noFill/>
          </a:ln>
        </p:spPr>
        <p:txBody>
          <a:bodyPr anchorCtr="0" anchor="t" bIns="53575" lIns="107125" spcFirstLastPara="1" rIns="107125" wrap="square" tIns="53575">
            <a:normAutofit/>
          </a:bodyPr>
          <a:lstStyle>
            <a:lvl1pPr indent="-254000" lvl="0" marL="457200" rtl="0" algn="l">
              <a:lnSpc>
                <a:spcPct val="100000"/>
              </a:lnSpc>
              <a:spcBef>
                <a:spcPts val="100"/>
              </a:spcBef>
              <a:spcAft>
                <a:spcPts val="0"/>
              </a:spcAft>
              <a:buClr>
                <a:schemeClr val="dk1"/>
              </a:buClr>
              <a:buSzPts val="400"/>
              <a:buChar char="•"/>
              <a:defRPr/>
            </a:lvl1pPr>
            <a:lvl2pPr indent="-254000" lvl="1" marL="914400" rtl="0" algn="l">
              <a:lnSpc>
                <a:spcPct val="100000"/>
              </a:lnSpc>
              <a:spcBef>
                <a:spcPts val="100"/>
              </a:spcBef>
              <a:spcAft>
                <a:spcPts val="0"/>
              </a:spcAft>
              <a:buClr>
                <a:schemeClr val="dk1"/>
              </a:buClr>
              <a:buSzPts val="400"/>
              <a:buChar char="–"/>
              <a:defRPr/>
            </a:lvl2pPr>
            <a:lvl3pPr indent="-254000" lvl="2" marL="1371600" rtl="0" algn="l">
              <a:lnSpc>
                <a:spcPct val="100000"/>
              </a:lnSpc>
              <a:spcBef>
                <a:spcPts val="100"/>
              </a:spcBef>
              <a:spcAft>
                <a:spcPts val="0"/>
              </a:spcAft>
              <a:buClr>
                <a:schemeClr val="dk1"/>
              </a:buClr>
              <a:buSzPts val="400"/>
              <a:buChar char="•"/>
              <a:defRPr/>
            </a:lvl3pPr>
            <a:lvl4pPr indent="-254000" lvl="3" marL="1828800" rtl="0" algn="l">
              <a:lnSpc>
                <a:spcPct val="100000"/>
              </a:lnSpc>
              <a:spcBef>
                <a:spcPts val="100"/>
              </a:spcBef>
              <a:spcAft>
                <a:spcPts val="0"/>
              </a:spcAft>
              <a:buClr>
                <a:schemeClr val="dk1"/>
              </a:buClr>
              <a:buSzPts val="400"/>
              <a:buChar char="–"/>
              <a:defRPr/>
            </a:lvl4pPr>
            <a:lvl5pPr indent="-254000" lvl="4" marL="2286000" rtl="0" algn="l">
              <a:lnSpc>
                <a:spcPct val="100000"/>
              </a:lnSpc>
              <a:spcBef>
                <a:spcPts val="100"/>
              </a:spcBef>
              <a:spcAft>
                <a:spcPts val="0"/>
              </a:spcAft>
              <a:buClr>
                <a:schemeClr val="dk1"/>
              </a:buClr>
              <a:buSzPts val="400"/>
              <a:buChar char="»"/>
              <a:defRPr/>
            </a:lvl5pPr>
            <a:lvl6pPr indent="-254000" lvl="5" marL="2743200" rtl="0" algn="l">
              <a:lnSpc>
                <a:spcPct val="100000"/>
              </a:lnSpc>
              <a:spcBef>
                <a:spcPts val="100"/>
              </a:spcBef>
              <a:spcAft>
                <a:spcPts val="0"/>
              </a:spcAft>
              <a:buClr>
                <a:schemeClr val="dk1"/>
              </a:buClr>
              <a:buSzPts val="400"/>
              <a:buChar char="•"/>
              <a:defRPr/>
            </a:lvl6pPr>
            <a:lvl7pPr indent="-254000" lvl="6" marL="3200400" rtl="0" algn="l">
              <a:lnSpc>
                <a:spcPct val="100000"/>
              </a:lnSpc>
              <a:spcBef>
                <a:spcPts val="100"/>
              </a:spcBef>
              <a:spcAft>
                <a:spcPts val="0"/>
              </a:spcAft>
              <a:buClr>
                <a:schemeClr val="dk1"/>
              </a:buClr>
              <a:buSzPts val="400"/>
              <a:buChar char="•"/>
              <a:defRPr/>
            </a:lvl7pPr>
            <a:lvl8pPr indent="-254000" lvl="7" marL="3657600" rtl="0" algn="l">
              <a:lnSpc>
                <a:spcPct val="100000"/>
              </a:lnSpc>
              <a:spcBef>
                <a:spcPts val="100"/>
              </a:spcBef>
              <a:spcAft>
                <a:spcPts val="0"/>
              </a:spcAft>
              <a:buClr>
                <a:schemeClr val="dk1"/>
              </a:buClr>
              <a:buSzPts val="400"/>
              <a:buChar char="•"/>
              <a:defRPr/>
            </a:lvl8pPr>
            <a:lvl9pPr indent="-254000" lvl="8" marL="4114800" rtl="0" algn="l">
              <a:lnSpc>
                <a:spcPct val="100000"/>
              </a:lnSpc>
              <a:spcBef>
                <a:spcPts val="100"/>
              </a:spcBef>
              <a:spcAft>
                <a:spcPts val="0"/>
              </a:spcAft>
              <a:buClr>
                <a:schemeClr val="dk1"/>
              </a:buClr>
              <a:buSzPts val="400"/>
              <a:buChar char="•"/>
              <a:defRPr/>
            </a:lvl9pPr>
          </a:lstStyle>
          <a:p/>
        </p:txBody>
      </p:sp>
      <p:sp>
        <p:nvSpPr>
          <p:cNvPr id="142" name="Google Shape;142;p23"/>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43" name="Google Shape;143;p23"/>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44" name="Google Shape;144;p23"/>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5" name="Shape 145"/>
        <p:cNvGrpSpPr/>
        <p:nvPr/>
      </p:nvGrpSpPr>
      <p:grpSpPr>
        <a:xfrm>
          <a:off x="0" y="0"/>
          <a:ext cx="0" cy="0"/>
          <a:chOff x="0" y="0"/>
          <a:chExt cx="0" cy="0"/>
        </a:xfrm>
      </p:grpSpPr>
      <p:sp>
        <p:nvSpPr>
          <p:cNvPr id="146" name="Google Shape;146;p24"/>
          <p:cNvSpPr txBox="1"/>
          <p:nvPr>
            <p:ph type="title"/>
          </p:nvPr>
        </p:nvSpPr>
        <p:spPr>
          <a:xfrm rot="5400000">
            <a:off x="20547625" y="3978357"/>
            <a:ext cx="14043300" cy="7405800"/>
          </a:xfrm>
          <a:prstGeom prst="rect">
            <a:avLst/>
          </a:prstGeom>
          <a:noFill/>
          <a:ln>
            <a:noFill/>
          </a:ln>
        </p:spPr>
        <p:txBody>
          <a:bodyPr anchorCtr="0" anchor="ctr" bIns="53575" lIns="107125" spcFirstLastPara="1" rIns="107125" wrap="square" tIns="53575">
            <a:normAutofit/>
          </a:bodyPr>
          <a:lstStyle>
            <a:lvl1pPr lvl="0" rtl="0" algn="ctr">
              <a:lnSpc>
                <a:spcPct val="100000"/>
              </a:lnSpc>
              <a:spcBef>
                <a:spcPts val="0"/>
              </a:spcBef>
              <a:spcAft>
                <a:spcPts val="0"/>
              </a:spcAft>
              <a:buClr>
                <a:schemeClr val="dk1"/>
              </a:buClr>
              <a:buSzPts val="4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47" name="Google Shape;147;p24"/>
          <p:cNvSpPr txBox="1"/>
          <p:nvPr>
            <p:ph idx="1" type="body"/>
          </p:nvPr>
        </p:nvSpPr>
        <p:spPr>
          <a:xfrm rot="5400000">
            <a:off x="5658434" y="-3352743"/>
            <a:ext cx="14043300" cy="22068000"/>
          </a:xfrm>
          <a:prstGeom prst="rect">
            <a:avLst/>
          </a:prstGeom>
          <a:noFill/>
          <a:ln>
            <a:noFill/>
          </a:ln>
        </p:spPr>
        <p:txBody>
          <a:bodyPr anchorCtr="0" anchor="t" bIns="53575" lIns="107125" spcFirstLastPara="1" rIns="107125" wrap="square" tIns="53575">
            <a:normAutofit/>
          </a:bodyPr>
          <a:lstStyle>
            <a:lvl1pPr indent="-254000" lvl="0" marL="457200" rtl="0" algn="l">
              <a:lnSpc>
                <a:spcPct val="100000"/>
              </a:lnSpc>
              <a:spcBef>
                <a:spcPts val="100"/>
              </a:spcBef>
              <a:spcAft>
                <a:spcPts val="0"/>
              </a:spcAft>
              <a:buClr>
                <a:schemeClr val="dk1"/>
              </a:buClr>
              <a:buSzPts val="400"/>
              <a:buChar char="•"/>
              <a:defRPr/>
            </a:lvl1pPr>
            <a:lvl2pPr indent="-254000" lvl="1" marL="914400" rtl="0" algn="l">
              <a:lnSpc>
                <a:spcPct val="100000"/>
              </a:lnSpc>
              <a:spcBef>
                <a:spcPts val="100"/>
              </a:spcBef>
              <a:spcAft>
                <a:spcPts val="0"/>
              </a:spcAft>
              <a:buClr>
                <a:schemeClr val="dk1"/>
              </a:buClr>
              <a:buSzPts val="400"/>
              <a:buChar char="–"/>
              <a:defRPr/>
            </a:lvl2pPr>
            <a:lvl3pPr indent="-254000" lvl="2" marL="1371600" rtl="0" algn="l">
              <a:lnSpc>
                <a:spcPct val="100000"/>
              </a:lnSpc>
              <a:spcBef>
                <a:spcPts val="100"/>
              </a:spcBef>
              <a:spcAft>
                <a:spcPts val="0"/>
              </a:spcAft>
              <a:buClr>
                <a:schemeClr val="dk1"/>
              </a:buClr>
              <a:buSzPts val="400"/>
              <a:buChar char="•"/>
              <a:defRPr/>
            </a:lvl3pPr>
            <a:lvl4pPr indent="-254000" lvl="3" marL="1828800" rtl="0" algn="l">
              <a:lnSpc>
                <a:spcPct val="100000"/>
              </a:lnSpc>
              <a:spcBef>
                <a:spcPts val="100"/>
              </a:spcBef>
              <a:spcAft>
                <a:spcPts val="0"/>
              </a:spcAft>
              <a:buClr>
                <a:schemeClr val="dk1"/>
              </a:buClr>
              <a:buSzPts val="400"/>
              <a:buChar char="–"/>
              <a:defRPr/>
            </a:lvl4pPr>
            <a:lvl5pPr indent="-254000" lvl="4" marL="2286000" rtl="0" algn="l">
              <a:lnSpc>
                <a:spcPct val="100000"/>
              </a:lnSpc>
              <a:spcBef>
                <a:spcPts val="100"/>
              </a:spcBef>
              <a:spcAft>
                <a:spcPts val="0"/>
              </a:spcAft>
              <a:buClr>
                <a:schemeClr val="dk1"/>
              </a:buClr>
              <a:buSzPts val="400"/>
              <a:buChar char="»"/>
              <a:defRPr/>
            </a:lvl5pPr>
            <a:lvl6pPr indent="-254000" lvl="5" marL="2743200" rtl="0" algn="l">
              <a:lnSpc>
                <a:spcPct val="100000"/>
              </a:lnSpc>
              <a:spcBef>
                <a:spcPts val="100"/>
              </a:spcBef>
              <a:spcAft>
                <a:spcPts val="0"/>
              </a:spcAft>
              <a:buClr>
                <a:schemeClr val="dk1"/>
              </a:buClr>
              <a:buSzPts val="400"/>
              <a:buChar char="•"/>
              <a:defRPr/>
            </a:lvl6pPr>
            <a:lvl7pPr indent="-254000" lvl="6" marL="3200400" rtl="0" algn="l">
              <a:lnSpc>
                <a:spcPct val="100000"/>
              </a:lnSpc>
              <a:spcBef>
                <a:spcPts val="100"/>
              </a:spcBef>
              <a:spcAft>
                <a:spcPts val="0"/>
              </a:spcAft>
              <a:buClr>
                <a:schemeClr val="dk1"/>
              </a:buClr>
              <a:buSzPts val="400"/>
              <a:buChar char="•"/>
              <a:defRPr/>
            </a:lvl7pPr>
            <a:lvl8pPr indent="-254000" lvl="7" marL="3657600" rtl="0" algn="l">
              <a:lnSpc>
                <a:spcPct val="100000"/>
              </a:lnSpc>
              <a:spcBef>
                <a:spcPts val="100"/>
              </a:spcBef>
              <a:spcAft>
                <a:spcPts val="0"/>
              </a:spcAft>
              <a:buClr>
                <a:schemeClr val="dk1"/>
              </a:buClr>
              <a:buSzPts val="400"/>
              <a:buChar char="•"/>
              <a:defRPr/>
            </a:lvl8pPr>
            <a:lvl9pPr indent="-254000" lvl="8" marL="4114800" rtl="0" algn="l">
              <a:lnSpc>
                <a:spcPct val="100000"/>
              </a:lnSpc>
              <a:spcBef>
                <a:spcPts val="100"/>
              </a:spcBef>
              <a:spcAft>
                <a:spcPts val="0"/>
              </a:spcAft>
              <a:buClr>
                <a:schemeClr val="dk1"/>
              </a:buClr>
              <a:buSzPts val="400"/>
              <a:buChar char="•"/>
              <a:defRPr/>
            </a:lvl9pPr>
          </a:lstStyle>
          <a:p/>
        </p:txBody>
      </p:sp>
      <p:sp>
        <p:nvSpPr>
          <p:cNvPr id="148" name="Google Shape;148;p24"/>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rtl="0" algn="l">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49" name="Google Shape;149;p24"/>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rtl="0" algn="ctr">
              <a:lnSpc>
                <a:spcPct val="100000"/>
              </a:lnSpc>
              <a:spcBef>
                <a:spcPts val="0"/>
              </a:spcBef>
              <a:spcAft>
                <a:spcPts val="0"/>
              </a:spcAft>
              <a:buSzPts val="300"/>
              <a:buNone/>
              <a:defRPr/>
            </a:lvl1pPr>
            <a:lvl2pPr lvl="1" rtl="0" algn="l">
              <a:lnSpc>
                <a:spcPct val="100000"/>
              </a:lnSpc>
              <a:spcBef>
                <a:spcPts val="0"/>
              </a:spcBef>
              <a:spcAft>
                <a:spcPts val="0"/>
              </a:spcAft>
              <a:buSzPts val="300"/>
              <a:buNone/>
              <a:defRPr/>
            </a:lvl2pPr>
            <a:lvl3pPr lvl="2" rtl="0" algn="l">
              <a:lnSpc>
                <a:spcPct val="100000"/>
              </a:lnSpc>
              <a:spcBef>
                <a:spcPts val="0"/>
              </a:spcBef>
              <a:spcAft>
                <a:spcPts val="0"/>
              </a:spcAft>
              <a:buSzPts val="300"/>
              <a:buNone/>
              <a:defRPr/>
            </a:lvl3pPr>
            <a:lvl4pPr lvl="3" rtl="0" algn="l">
              <a:lnSpc>
                <a:spcPct val="100000"/>
              </a:lnSpc>
              <a:spcBef>
                <a:spcPts val="0"/>
              </a:spcBef>
              <a:spcAft>
                <a:spcPts val="0"/>
              </a:spcAft>
              <a:buSzPts val="300"/>
              <a:buNone/>
              <a:defRPr/>
            </a:lvl4pPr>
            <a:lvl5pPr lvl="4" rtl="0" algn="l">
              <a:lnSpc>
                <a:spcPct val="100000"/>
              </a:lnSpc>
              <a:spcBef>
                <a:spcPts val="0"/>
              </a:spcBef>
              <a:spcAft>
                <a:spcPts val="0"/>
              </a:spcAft>
              <a:buSzPts val="300"/>
              <a:buNone/>
              <a:defRPr/>
            </a:lvl5pPr>
            <a:lvl6pPr lvl="5" rtl="0" algn="l">
              <a:lnSpc>
                <a:spcPct val="100000"/>
              </a:lnSpc>
              <a:spcBef>
                <a:spcPts val="0"/>
              </a:spcBef>
              <a:spcAft>
                <a:spcPts val="0"/>
              </a:spcAft>
              <a:buSzPts val="300"/>
              <a:buNone/>
              <a:defRPr/>
            </a:lvl6pPr>
            <a:lvl7pPr lvl="6" rtl="0" algn="l">
              <a:lnSpc>
                <a:spcPct val="100000"/>
              </a:lnSpc>
              <a:spcBef>
                <a:spcPts val="0"/>
              </a:spcBef>
              <a:spcAft>
                <a:spcPts val="0"/>
              </a:spcAft>
              <a:buSzPts val="300"/>
              <a:buNone/>
              <a:defRPr/>
            </a:lvl7pPr>
            <a:lvl8pPr lvl="7" rtl="0" algn="l">
              <a:lnSpc>
                <a:spcPct val="100000"/>
              </a:lnSpc>
              <a:spcBef>
                <a:spcPts val="0"/>
              </a:spcBef>
              <a:spcAft>
                <a:spcPts val="0"/>
              </a:spcAft>
              <a:buSzPts val="300"/>
              <a:buNone/>
              <a:defRPr/>
            </a:lvl8pPr>
            <a:lvl9pPr lvl="8" rtl="0" algn="l">
              <a:lnSpc>
                <a:spcPct val="100000"/>
              </a:lnSpc>
              <a:spcBef>
                <a:spcPts val="0"/>
              </a:spcBef>
              <a:spcAft>
                <a:spcPts val="0"/>
              </a:spcAft>
              <a:buSzPts val="300"/>
              <a:buNone/>
              <a:defRPr/>
            </a:lvl9pPr>
          </a:lstStyle>
          <a:p/>
        </p:txBody>
      </p:sp>
      <p:sp>
        <p:nvSpPr>
          <p:cNvPr id="150" name="Google Shape;150;p24"/>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3"/>
          <p:cNvSpPr txBox="1"/>
          <p:nvPr>
            <p:ph type="title"/>
          </p:nvPr>
        </p:nvSpPr>
        <p:spPr>
          <a:xfrm>
            <a:off x="457200" y="205979"/>
            <a:ext cx="8229600" cy="857100"/>
          </a:xfrm>
          <a:prstGeom prst="rect">
            <a:avLst/>
          </a:prstGeom>
          <a:noFill/>
          <a:ln>
            <a:noFill/>
          </a:ln>
        </p:spPr>
        <p:txBody>
          <a:bodyPr anchorCtr="0" anchor="ctr" bIns="53575" lIns="107125" spcFirstLastPara="1" rIns="107125" wrap="square" tIns="53575">
            <a:normAutofit/>
          </a:bodyPr>
          <a:lstStyle>
            <a:lvl1pPr lvl="0" marR="0" rtl="0" algn="ctr">
              <a:lnSpc>
                <a:spcPct val="100000"/>
              </a:lnSpc>
              <a:spcBef>
                <a:spcPts val="0"/>
              </a:spcBef>
              <a:spcAft>
                <a:spcPts val="0"/>
              </a:spcAft>
              <a:buClr>
                <a:schemeClr val="dk1"/>
              </a:buClr>
              <a:buSzPts val="3900"/>
              <a:buFont typeface="Calibri"/>
              <a:buNone/>
              <a:defRPr b="0" i="0" sz="39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00"/>
              <a:buFont typeface="Arial"/>
              <a:buNone/>
              <a:defRPr b="0" i="0" sz="400" u="none" cap="none" strike="noStrike">
                <a:solidFill>
                  <a:srgbClr val="000000"/>
                </a:solidFill>
                <a:latin typeface="Arial"/>
                <a:ea typeface="Arial"/>
                <a:cs typeface="Arial"/>
                <a:sym typeface="Arial"/>
              </a:defRPr>
            </a:lvl9pPr>
          </a:lstStyle>
          <a:p/>
        </p:txBody>
      </p:sp>
      <p:sp>
        <p:nvSpPr>
          <p:cNvPr id="83" name="Google Shape;83;p13"/>
          <p:cNvSpPr txBox="1"/>
          <p:nvPr>
            <p:ph idx="1" type="body"/>
          </p:nvPr>
        </p:nvSpPr>
        <p:spPr>
          <a:xfrm>
            <a:off x="457200" y="1200152"/>
            <a:ext cx="8229600" cy="3394500"/>
          </a:xfrm>
          <a:prstGeom prst="rect">
            <a:avLst/>
          </a:prstGeom>
          <a:noFill/>
          <a:ln>
            <a:noFill/>
          </a:ln>
        </p:spPr>
        <p:txBody>
          <a:bodyPr anchorCtr="0" anchor="t" bIns="53575" lIns="107125" spcFirstLastPara="1" rIns="107125" wrap="square" tIns="53575">
            <a:normAutofit/>
          </a:bodyPr>
          <a:lstStyle>
            <a:lvl1pPr indent="-412750" lvl="0" marL="457200" marR="0" rtl="0" algn="l">
              <a:lnSpc>
                <a:spcPct val="100000"/>
              </a:lnSpc>
              <a:spcBef>
                <a:spcPts val="600"/>
              </a:spcBef>
              <a:spcAft>
                <a:spcPts val="0"/>
              </a:spcAft>
              <a:buClr>
                <a:schemeClr val="dk1"/>
              </a:buClr>
              <a:buSzPts val="2900"/>
              <a:buFont typeface="Arial"/>
              <a:buChar char="•"/>
              <a:defRPr b="0" i="0" sz="2900" u="none" cap="none" strike="noStrike">
                <a:solidFill>
                  <a:schemeClr val="dk1"/>
                </a:solidFill>
                <a:latin typeface="Calibri"/>
                <a:ea typeface="Calibri"/>
                <a:cs typeface="Calibri"/>
                <a:sym typeface="Calibri"/>
              </a:defRPr>
            </a:lvl1pPr>
            <a:lvl2pPr indent="-387350" lvl="1" marL="914400" marR="0" rtl="0" algn="l">
              <a:lnSpc>
                <a:spcPct val="100000"/>
              </a:lnSpc>
              <a:spcBef>
                <a:spcPts val="500"/>
              </a:spcBef>
              <a:spcAft>
                <a:spcPts val="0"/>
              </a:spcAft>
              <a:buClr>
                <a:schemeClr val="dk1"/>
              </a:buClr>
              <a:buSzPts val="2500"/>
              <a:buFont typeface="Arial"/>
              <a:buChar char="–"/>
              <a:defRPr b="0" i="0" sz="2500" u="none" cap="none" strike="noStrike">
                <a:solidFill>
                  <a:schemeClr val="dk1"/>
                </a:solidFill>
                <a:latin typeface="Calibri"/>
                <a:ea typeface="Calibri"/>
                <a:cs typeface="Calibri"/>
                <a:sym typeface="Calibri"/>
              </a:defRPr>
            </a:lvl2pPr>
            <a:lvl3pPr indent="-361950" lvl="2" marL="13716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0" type="dt"/>
          </p:nvPr>
        </p:nvSpPr>
        <p:spPr>
          <a:xfrm>
            <a:off x="457200" y="4767266"/>
            <a:ext cx="2133600" cy="273900"/>
          </a:xfrm>
          <a:prstGeom prst="rect">
            <a:avLst/>
          </a:prstGeom>
          <a:noFill/>
          <a:ln>
            <a:noFill/>
          </a:ln>
        </p:spPr>
        <p:txBody>
          <a:bodyPr anchorCtr="0" anchor="ctr" bIns="53575" lIns="107125" spcFirstLastPara="1" rIns="107125" wrap="square" tIns="53575">
            <a:noAutofit/>
          </a:bodyPr>
          <a:lstStyle>
            <a:lvl1pPr lvl="0" marR="0" rtl="0" algn="l">
              <a:lnSpc>
                <a:spcPct val="100000"/>
              </a:lnSpc>
              <a:spcBef>
                <a:spcPts val="0"/>
              </a:spcBef>
              <a:spcAft>
                <a:spcPts val="0"/>
              </a:spcAft>
              <a:buClr>
                <a:srgbClr val="000000"/>
              </a:buClr>
              <a:buSzPts val="300"/>
              <a:buFont typeface="Arial"/>
              <a:buNone/>
              <a:defRPr b="0" i="0" sz="11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9pPr>
          </a:lstStyle>
          <a:p/>
        </p:txBody>
      </p:sp>
      <p:sp>
        <p:nvSpPr>
          <p:cNvPr id="85" name="Google Shape;85;p13"/>
          <p:cNvSpPr txBox="1"/>
          <p:nvPr>
            <p:ph idx="11" type="ftr"/>
          </p:nvPr>
        </p:nvSpPr>
        <p:spPr>
          <a:xfrm>
            <a:off x="3124201" y="4767266"/>
            <a:ext cx="2895600" cy="273900"/>
          </a:xfrm>
          <a:prstGeom prst="rect">
            <a:avLst/>
          </a:prstGeom>
          <a:noFill/>
          <a:ln>
            <a:noFill/>
          </a:ln>
        </p:spPr>
        <p:txBody>
          <a:bodyPr anchorCtr="0" anchor="ctr" bIns="53575" lIns="107125" spcFirstLastPara="1" rIns="107125" wrap="square" tIns="53575">
            <a:noAutofit/>
          </a:bodyPr>
          <a:lstStyle>
            <a:lvl1pPr lvl="0" marR="0" rtl="0" algn="ctr">
              <a:lnSpc>
                <a:spcPct val="100000"/>
              </a:lnSpc>
              <a:spcBef>
                <a:spcPts val="0"/>
              </a:spcBef>
              <a:spcAft>
                <a:spcPts val="0"/>
              </a:spcAft>
              <a:buClr>
                <a:srgbClr val="000000"/>
              </a:buClr>
              <a:buSzPts val="300"/>
              <a:buFont typeface="Arial"/>
              <a:buNone/>
              <a:defRPr b="0" i="0" sz="11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300"/>
              <a:buFont typeface="Arial"/>
              <a:buNone/>
              <a:defRPr b="0" i="0" sz="1500" u="none" cap="none" strike="noStrike">
                <a:solidFill>
                  <a:schemeClr val="dk1"/>
                </a:solidFill>
                <a:latin typeface="Calibri"/>
                <a:ea typeface="Calibri"/>
                <a:cs typeface="Calibri"/>
                <a:sym typeface="Calibri"/>
              </a:defRPr>
            </a:lvl9pPr>
          </a:lstStyle>
          <a:p/>
        </p:txBody>
      </p:sp>
      <p:sp>
        <p:nvSpPr>
          <p:cNvPr id="86" name="Google Shape;86;p13"/>
          <p:cNvSpPr txBox="1"/>
          <p:nvPr>
            <p:ph idx="12" type="sldNum"/>
          </p:nvPr>
        </p:nvSpPr>
        <p:spPr>
          <a:xfrm>
            <a:off x="6553202" y="4767266"/>
            <a:ext cx="2133600" cy="273900"/>
          </a:xfrm>
          <a:prstGeom prst="rect">
            <a:avLst/>
          </a:prstGeom>
          <a:noFill/>
          <a:ln>
            <a:noFill/>
          </a:ln>
        </p:spPr>
        <p:txBody>
          <a:bodyPr anchorCtr="0" anchor="ctr" bIns="53575" lIns="107125" spcFirstLastPara="1" rIns="107125" wrap="square" tIns="53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8.png"/><Relationship Id="rId13" Type="http://schemas.openxmlformats.org/officeDocument/2006/relationships/image" Target="../media/image1.png"/><Relationship Id="rId12" Type="http://schemas.openxmlformats.org/officeDocument/2006/relationships/image" Target="../media/image21.png"/><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gif"/><Relationship Id="rId4" Type="http://schemas.openxmlformats.org/officeDocument/2006/relationships/image" Target="../media/image26.png"/><Relationship Id="rId9" Type="http://schemas.openxmlformats.org/officeDocument/2006/relationships/image" Target="../media/image7.png"/><Relationship Id="rId15" Type="http://schemas.openxmlformats.org/officeDocument/2006/relationships/image" Target="../media/image18.png"/><Relationship Id="rId14" Type="http://schemas.openxmlformats.org/officeDocument/2006/relationships/image" Target="../media/image17.png"/><Relationship Id="rId17" Type="http://schemas.openxmlformats.org/officeDocument/2006/relationships/image" Target="../media/image30.png"/><Relationship Id="rId16" Type="http://schemas.openxmlformats.org/officeDocument/2006/relationships/image" Target="../media/image9.png"/><Relationship Id="rId5" Type="http://schemas.openxmlformats.org/officeDocument/2006/relationships/image" Target="../media/image2.png"/><Relationship Id="rId19" Type="http://schemas.openxmlformats.org/officeDocument/2006/relationships/image" Target="../media/image24.png"/><Relationship Id="rId6" Type="http://schemas.openxmlformats.org/officeDocument/2006/relationships/image" Target="../media/image6.jpg"/><Relationship Id="rId18" Type="http://schemas.openxmlformats.org/officeDocument/2006/relationships/image" Target="../media/image33.png"/><Relationship Id="rId7" Type="http://schemas.openxmlformats.org/officeDocument/2006/relationships/image" Target="../media/image3.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28.png"/><Relationship Id="rId9" Type="http://schemas.openxmlformats.org/officeDocument/2006/relationships/image" Target="../media/image34.png"/><Relationship Id="rId5" Type="http://schemas.openxmlformats.org/officeDocument/2006/relationships/image" Target="../media/image29.png"/><Relationship Id="rId6" Type="http://schemas.openxmlformats.org/officeDocument/2006/relationships/image" Target="../media/image49.png"/><Relationship Id="rId7" Type="http://schemas.openxmlformats.org/officeDocument/2006/relationships/image" Target="../media/image27.png"/><Relationship Id="rId8"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6.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0.png"/><Relationship Id="rId9"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37.png"/><Relationship Id="rId7" Type="http://schemas.openxmlformats.org/officeDocument/2006/relationships/image" Target="../media/image48.png"/><Relationship Id="rId8"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4.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7.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5.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5.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1.png"/><Relationship Id="rId4" Type="http://schemas.openxmlformats.org/officeDocument/2006/relationships/image" Target="../media/image69.png"/><Relationship Id="rId5"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4.png"/><Relationship Id="rId4" Type="http://schemas.openxmlformats.org/officeDocument/2006/relationships/image" Target="../media/image75.png"/><Relationship Id="rId5" Type="http://schemas.openxmlformats.org/officeDocument/2006/relationships/image" Target="../media/image6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6.png"/><Relationship Id="rId4" Type="http://schemas.openxmlformats.org/officeDocument/2006/relationships/image" Target="../media/image76.png"/><Relationship Id="rId5"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2.png"/><Relationship Id="rId4" Type="http://schemas.openxmlformats.org/officeDocument/2006/relationships/image" Target="../media/image71.png"/><Relationship Id="rId5" Type="http://schemas.openxmlformats.org/officeDocument/2006/relationships/image" Target="../media/image7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7.png"/><Relationship Id="rId4" Type="http://schemas.openxmlformats.org/officeDocument/2006/relationships/image" Target="../media/image86.png"/><Relationship Id="rId5" Type="http://schemas.openxmlformats.org/officeDocument/2006/relationships/image" Target="../media/image8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85.png"/><Relationship Id="rId4" Type="http://schemas.openxmlformats.org/officeDocument/2006/relationships/image" Target="../media/image78.png"/><Relationship Id="rId5" Type="http://schemas.openxmlformats.org/officeDocument/2006/relationships/image" Target="../media/image8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84.png"/><Relationship Id="rId4" Type="http://schemas.openxmlformats.org/officeDocument/2006/relationships/image" Target="../media/image92.png"/><Relationship Id="rId5" Type="http://schemas.openxmlformats.org/officeDocument/2006/relationships/image" Target="../media/image8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90.png"/><Relationship Id="rId4" Type="http://schemas.openxmlformats.org/officeDocument/2006/relationships/image" Target="../media/image88.png"/><Relationship Id="rId5" Type="http://schemas.openxmlformats.org/officeDocument/2006/relationships/image" Target="../media/image9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97.png"/><Relationship Id="rId4" Type="http://schemas.openxmlformats.org/officeDocument/2006/relationships/image" Target="../media/image93.png"/><Relationship Id="rId5" Type="http://schemas.openxmlformats.org/officeDocument/2006/relationships/image" Target="../media/image9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6.png"/><Relationship Id="rId4" Type="http://schemas.openxmlformats.org/officeDocument/2006/relationships/image" Target="../media/image89.png"/><Relationship Id="rId5"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ctrTitle"/>
          </p:nvPr>
        </p:nvSpPr>
        <p:spPr>
          <a:xfrm>
            <a:off x="427950" y="1112050"/>
            <a:ext cx="8121000" cy="193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t>GPS2-mediated retrograde signaling and the mtUPR pathway - mediated by ATF3, ATF4 and ATF5</a:t>
            </a:r>
            <a:endParaRPr b="1"/>
          </a:p>
        </p:txBody>
      </p:sp>
      <p:sp>
        <p:nvSpPr>
          <p:cNvPr id="156" name="Google Shape;156;p25"/>
          <p:cNvSpPr txBox="1"/>
          <p:nvPr>
            <p:ph idx="1" type="subTitle"/>
          </p:nvPr>
        </p:nvSpPr>
        <p:spPr>
          <a:xfrm>
            <a:off x="514550" y="3290625"/>
            <a:ext cx="8222100" cy="9843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523"/>
              <a:buNone/>
            </a:pPr>
            <a:r>
              <a:rPr lang="en" sz="1597"/>
              <a:t>07/12/2024</a:t>
            </a:r>
            <a:endParaRPr sz="1597"/>
          </a:p>
          <a:p>
            <a:pPr indent="0" lvl="0" marL="0" rtl="0" algn="ctr">
              <a:lnSpc>
                <a:spcPct val="150000"/>
              </a:lnSpc>
              <a:spcBef>
                <a:spcPts val="0"/>
              </a:spcBef>
              <a:spcAft>
                <a:spcPts val="0"/>
              </a:spcAft>
              <a:buSzPts val="523"/>
              <a:buNone/>
            </a:pPr>
            <a:r>
              <a:rPr lang="en" sz="1597"/>
              <a:t>Jawahar Mahendran</a:t>
            </a:r>
            <a:endParaRPr sz="1597"/>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
              <a:t>Mitochondrial-Nuclear Coordination and GPS2 Role</a:t>
            </a:r>
            <a:endParaRPr b="1"/>
          </a:p>
          <a:p>
            <a:pPr indent="0" lvl="0" marL="0" rtl="0" algn="l">
              <a:spcBef>
                <a:spcPts val="1200"/>
              </a:spcBef>
              <a:spcAft>
                <a:spcPts val="0"/>
              </a:spcAft>
              <a:buNone/>
            </a:pPr>
            <a:r>
              <a:t/>
            </a:r>
            <a:endParaRPr b="1"/>
          </a:p>
        </p:txBody>
      </p:sp>
      <p:sp>
        <p:nvSpPr>
          <p:cNvPr id="162" name="Google Shape;162;p2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23850" lvl="0" marL="457200" rtl="0" algn="l">
              <a:lnSpc>
                <a:spcPct val="150000"/>
              </a:lnSpc>
              <a:spcBef>
                <a:spcPts val="1500"/>
              </a:spcBef>
              <a:spcAft>
                <a:spcPts val="0"/>
              </a:spcAft>
              <a:buClr>
                <a:srgbClr val="203038"/>
              </a:buClr>
              <a:buSzPts val="1500"/>
              <a:buChar char="❏"/>
            </a:pPr>
            <a:r>
              <a:rPr lang="en" sz="1500">
                <a:solidFill>
                  <a:srgbClr val="203038"/>
                </a:solidFill>
              </a:rPr>
              <a:t>Mitochondria contain their own DNA but rely on nuclear genes.</a:t>
            </a:r>
            <a:endParaRPr sz="1500">
              <a:solidFill>
                <a:srgbClr val="203038"/>
              </a:solidFill>
            </a:endParaRPr>
          </a:p>
          <a:p>
            <a:pPr indent="-323850" lvl="0" marL="457200" rtl="0" algn="l">
              <a:lnSpc>
                <a:spcPct val="150000"/>
              </a:lnSpc>
              <a:spcBef>
                <a:spcPts val="0"/>
              </a:spcBef>
              <a:spcAft>
                <a:spcPts val="0"/>
              </a:spcAft>
              <a:buClr>
                <a:srgbClr val="203038"/>
              </a:buClr>
              <a:buSzPts val="1500"/>
              <a:buChar char="❏"/>
            </a:pPr>
            <a:r>
              <a:rPr lang="en" sz="1500">
                <a:solidFill>
                  <a:srgbClr val="203038"/>
                </a:solidFill>
              </a:rPr>
              <a:t>Coordination between mitochondrial and nuclear genomes is crucial for cellular homeostasis.</a:t>
            </a:r>
            <a:br>
              <a:rPr lang="en" sz="1500">
                <a:solidFill>
                  <a:srgbClr val="203038"/>
                </a:solidFill>
              </a:rPr>
            </a:br>
            <a:r>
              <a:rPr b="1" i="1" lang="en" sz="1400">
                <a:solidFill>
                  <a:srgbClr val="203038"/>
                </a:solidFill>
              </a:rPr>
              <a:t>Nucleus → Mitochondria</a:t>
            </a:r>
            <a:r>
              <a:rPr b="1" lang="en" sz="1400">
                <a:solidFill>
                  <a:srgbClr val="203038"/>
                </a:solidFill>
              </a:rPr>
              <a:t> : </a:t>
            </a:r>
            <a:r>
              <a:rPr lang="en" sz="1400">
                <a:solidFill>
                  <a:srgbClr val="203038"/>
                </a:solidFill>
              </a:rPr>
              <a:t>Anterograde</a:t>
            </a:r>
            <a:br>
              <a:rPr b="1" lang="en" sz="1400">
                <a:solidFill>
                  <a:srgbClr val="203038"/>
                </a:solidFill>
              </a:rPr>
            </a:br>
            <a:r>
              <a:rPr b="1" i="1" lang="en" sz="1400">
                <a:solidFill>
                  <a:srgbClr val="203038"/>
                </a:solidFill>
              </a:rPr>
              <a:t>Mitochondria → Nucleus</a:t>
            </a:r>
            <a:r>
              <a:rPr b="1" lang="en" sz="1400">
                <a:solidFill>
                  <a:srgbClr val="203038"/>
                </a:solidFill>
              </a:rPr>
              <a:t> : </a:t>
            </a:r>
            <a:r>
              <a:rPr lang="en" sz="1400">
                <a:solidFill>
                  <a:srgbClr val="203038"/>
                </a:solidFill>
              </a:rPr>
              <a:t>Retrograde</a:t>
            </a:r>
            <a:endParaRPr sz="1400">
              <a:solidFill>
                <a:srgbClr val="203038"/>
              </a:solidFill>
            </a:endParaRPr>
          </a:p>
          <a:p>
            <a:pPr indent="-323850" lvl="0" marL="457200" rtl="0" algn="l">
              <a:lnSpc>
                <a:spcPct val="150000"/>
              </a:lnSpc>
              <a:spcBef>
                <a:spcPts val="0"/>
              </a:spcBef>
              <a:spcAft>
                <a:spcPts val="0"/>
              </a:spcAft>
              <a:buClr>
                <a:srgbClr val="203038"/>
              </a:buClr>
              <a:buSzPts val="1500"/>
              <a:buChar char="❏"/>
            </a:pPr>
            <a:r>
              <a:rPr lang="en" sz="1500">
                <a:solidFill>
                  <a:srgbClr val="203038"/>
                </a:solidFill>
              </a:rPr>
              <a:t>GPS2 - key mediator of retrograde signaling.</a:t>
            </a:r>
            <a:endParaRPr sz="1500">
              <a:solidFill>
                <a:srgbClr val="203038"/>
              </a:solidFill>
            </a:endParaRPr>
          </a:p>
          <a:p>
            <a:pPr indent="-323850" lvl="0" marL="457200" rtl="0" algn="l">
              <a:spcBef>
                <a:spcPts val="0"/>
              </a:spcBef>
              <a:spcAft>
                <a:spcPts val="0"/>
              </a:spcAft>
              <a:buClr>
                <a:srgbClr val="203038"/>
              </a:buClr>
              <a:buSzPts val="1500"/>
              <a:buChar char="❏"/>
            </a:pPr>
            <a:r>
              <a:rPr lang="en" sz="1500">
                <a:solidFill>
                  <a:srgbClr val="203038"/>
                </a:solidFill>
              </a:rPr>
              <a:t>GPS2 is also known to interact with multiple Transcription factors and cofactors.</a:t>
            </a:r>
            <a:endParaRPr sz="1500">
              <a:solidFill>
                <a:srgbClr val="203038"/>
              </a:solidFill>
            </a:endParaRPr>
          </a:p>
          <a:p>
            <a:pPr indent="0" lvl="0" marL="0" rtl="0" algn="l">
              <a:spcBef>
                <a:spcPts val="13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7"/>
          <p:cNvPicPr preferRelativeResize="0"/>
          <p:nvPr/>
        </p:nvPicPr>
        <p:blipFill>
          <a:blip r:embed="rId3">
            <a:alphaModFix/>
          </a:blip>
          <a:stretch>
            <a:fillRect/>
          </a:stretch>
        </p:blipFill>
        <p:spPr>
          <a:xfrm>
            <a:off x="571675" y="280000"/>
            <a:ext cx="4247899" cy="3591502"/>
          </a:xfrm>
          <a:prstGeom prst="rect">
            <a:avLst/>
          </a:prstGeom>
          <a:noFill/>
          <a:ln>
            <a:noFill/>
          </a:ln>
        </p:spPr>
      </p:pic>
      <p:sp>
        <p:nvSpPr>
          <p:cNvPr id="168" name="Google Shape;168;p27"/>
          <p:cNvSpPr txBox="1"/>
          <p:nvPr/>
        </p:nvSpPr>
        <p:spPr>
          <a:xfrm>
            <a:off x="107900" y="3929325"/>
            <a:ext cx="5036700" cy="315600"/>
          </a:xfrm>
          <a:prstGeom prst="rect">
            <a:avLst/>
          </a:prstGeom>
          <a:noFill/>
          <a:ln>
            <a:noFill/>
          </a:ln>
        </p:spPr>
        <p:txBody>
          <a:bodyPr anchorCtr="0" anchor="t" bIns="91425" lIns="91425" spcFirstLastPara="1" rIns="91425" wrap="square" tIns="91425">
            <a:noAutofit/>
          </a:bodyPr>
          <a:lstStyle/>
          <a:p>
            <a:pPr indent="-12700" lvl="0" marL="355600" rtl="0" algn="l">
              <a:lnSpc>
                <a:spcPct val="115000"/>
              </a:lnSpc>
              <a:spcBef>
                <a:spcPts val="1200"/>
              </a:spcBef>
              <a:spcAft>
                <a:spcPts val="0"/>
              </a:spcAft>
              <a:buNone/>
            </a:pPr>
            <a:r>
              <a:rPr lang="en" sz="800"/>
              <a:t>Giordani, C., Silvestrini, A., Giuliani, A., Olivieri, F., &amp; Rippo, M. R. (2021, August 12). </a:t>
            </a:r>
            <a:r>
              <a:rPr i="1" lang="en" sz="800"/>
              <a:t>MicroRNAs as factors in bidirectional crosstalk between mitochondria and the nucleus during cellular senescence</a:t>
            </a:r>
            <a:r>
              <a:rPr lang="en" sz="800"/>
              <a:t>. Frontiers. https://www.frontiersin.org/journals/physiology/articles/10.3389/fphys.2021.734976/full</a:t>
            </a:r>
            <a:endParaRPr sz="800">
              <a:solidFill>
                <a:schemeClr val="dk2"/>
              </a:solidFill>
              <a:latin typeface="Roboto"/>
              <a:ea typeface="Roboto"/>
              <a:cs typeface="Roboto"/>
              <a:sym typeface="Roboto"/>
            </a:endParaRPr>
          </a:p>
          <a:p>
            <a:pPr indent="0" lvl="0" marL="0" rtl="0" algn="l">
              <a:spcBef>
                <a:spcPts val="1200"/>
              </a:spcBef>
              <a:spcAft>
                <a:spcPts val="0"/>
              </a:spcAft>
              <a:buNone/>
            </a:pPr>
            <a:r>
              <a:t/>
            </a:r>
            <a:endParaRPr sz="1100">
              <a:solidFill>
                <a:schemeClr val="dk2"/>
              </a:solidFill>
              <a:latin typeface="Roboto"/>
              <a:ea typeface="Roboto"/>
              <a:cs typeface="Roboto"/>
              <a:sym typeface="Roboto"/>
            </a:endParaRPr>
          </a:p>
        </p:txBody>
      </p:sp>
      <p:pic>
        <p:nvPicPr>
          <p:cNvPr id="169" name="Google Shape;169;p27"/>
          <p:cNvPicPr preferRelativeResize="0"/>
          <p:nvPr/>
        </p:nvPicPr>
        <p:blipFill>
          <a:blip r:embed="rId4">
            <a:alphaModFix/>
          </a:blip>
          <a:stretch>
            <a:fillRect/>
          </a:stretch>
        </p:blipFill>
        <p:spPr>
          <a:xfrm>
            <a:off x="5265225" y="152400"/>
            <a:ext cx="3726375" cy="3719099"/>
          </a:xfrm>
          <a:prstGeom prst="rect">
            <a:avLst/>
          </a:prstGeom>
          <a:noFill/>
          <a:ln>
            <a:noFill/>
          </a:ln>
        </p:spPr>
      </p:pic>
      <p:sp>
        <p:nvSpPr>
          <p:cNvPr id="170" name="Google Shape;170;p27"/>
          <p:cNvSpPr txBox="1"/>
          <p:nvPr/>
        </p:nvSpPr>
        <p:spPr>
          <a:xfrm>
            <a:off x="5181850" y="3871500"/>
            <a:ext cx="3726300" cy="8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212121"/>
                </a:solidFill>
                <a:highlight>
                  <a:srgbClr val="FFFFFF"/>
                </a:highlight>
                <a:latin typeface="Roboto"/>
                <a:ea typeface="Roboto"/>
                <a:cs typeface="Roboto"/>
                <a:sym typeface="Roboto"/>
              </a:rPr>
              <a:t>Cardamone, M. D., Tanasa, B., Cederquist, C. T., Huang, J., Mahdaviani, K., Li, W., Rosenfeld, M. G., Liesa, M., &amp; Perissi, V. (2018). </a:t>
            </a:r>
            <a:r>
              <a:rPr i="1" lang="en" sz="800">
                <a:solidFill>
                  <a:srgbClr val="212121"/>
                </a:solidFill>
                <a:highlight>
                  <a:srgbClr val="FFFFFF"/>
                </a:highlight>
                <a:latin typeface="Roboto"/>
                <a:ea typeface="Roboto"/>
                <a:cs typeface="Roboto"/>
                <a:sym typeface="Roboto"/>
              </a:rPr>
              <a:t>Mitochondrial Retrograde Signaling in Mammals Is Mediated by the Transcriptional Cofactor GPS2 via Direct Mitochondria-to-Nucleus Translocation</a:t>
            </a:r>
            <a:r>
              <a:rPr lang="en" sz="800">
                <a:solidFill>
                  <a:srgbClr val="212121"/>
                </a:solidFill>
                <a:highlight>
                  <a:srgbClr val="FFFFFF"/>
                </a:highlight>
                <a:latin typeface="Roboto"/>
                <a:ea typeface="Roboto"/>
                <a:cs typeface="Roboto"/>
                <a:sym typeface="Roboto"/>
              </a:rPr>
              <a:t>. </a:t>
            </a:r>
            <a:r>
              <a:rPr i="1" lang="en" sz="800">
                <a:solidFill>
                  <a:srgbClr val="212121"/>
                </a:solidFill>
                <a:highlight>
                  <a:srgbClr val="FFFFFF"/>
                </a:highlight>
                <a:latin typeface="Roboto"/>
                <a:ea typeface="Roboto"/>
                <a:cs typeface="Roboto"/>
                <a:sym typeface="Roboto"/>
              </a:rPr>
              <a:t>Molecular cell</a:t>
            </a:r>
            <a:r>
              <a:rPr lang="en" sz="800">
                <a:solidFill>
                  <a:srgbClr val="212121"/>
                </a:solidFill>
                <a:highlight>
                  <a:srgbClr val="FFFFFF"/>
                </a:highlight>
                <a:latin typeface="Roboto"/>
                <a:ea typeface="Roboto"/>
                <a:cs typeface="Roboto"/>
                <a:sym typeface="Roboto"/>
              </a:rPr>
              <a:t>, </a:t>
            </a:r>
            <a:r>
              <a:rPr i="1" lang="en" sz="800">
                <a:solidFill>
                  <a:srgbClr val="212121"/>
                </a:solidFill>
                <a:highlight>
                  <a:srgbClr val="FFFFFF"/>
                </a:highlight>
                <a:latin typeface="Roboto"/>
                <a:ea typeface="Roboto"/>
                <a:cs typeface="Roboto"/>
                <a:sym typeface="Roboto"/>
              </a:rPr>
              <a:t>69</a:t>
            </a:r>
            <a:r>
              <a:rPr lang="en" sz="800">
                <a:solidFill>
                  <a:srgbClr val="212121"/>
                </a:solidFill>
                <a:highlight>
                  <a:srgbClr val="FFFFFF"/>
                </a:highlight>
                <a:latin typeface="Roboto"/>
                <a:ea typeface="Roboto"/>
                <a:cs typeface="Roboto"/>
                <a:sym typeface="Roboto"/>
              </a:rPr>
              <a:t>(5), 757–772.e7. https://doi.org/10.1016/j.molcel.2018.01.037</a:t>
            </a:r>
            <a:endParaRPr sz="8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t>Understanding GPS2 Target Gene Recruitment</a:t>
            </a:r>
            <a:endParaRPr b="1" sz="2400"/>
          </a:p>
        </p:txBody>
      </p:sp>
      <p:sp>
        <p:nvSpPr>
          <p:cNvPr id="176" name="Google Shape;176;p2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What are the specific target genes that GPS2 binds to?</a:t>
            </a:r>
            <a:endParaRPr/>
          </a:p>
          <a:p>
            <a:pPr indent="-342900" lvl="0" marL="457200" rtl="0" algn="l">
              <a:lnSpc>
                <a:spcPct val="200000"/>
              </a:lnSpc>
              <a:spcBef>
                <a:spcPts val="0"/>
              </a:spcBef>
              <a:spcAft>
                <a:spcPts val="0"/>
              </a:spcAft>
              <a:buSzPts val="1800"/>
              <a:buChar char="❏"/>
            </a:pPr>
            <a:r>
              <a:rPr lang="en"/>
              <a:t>H</a:t>
            </a:r>
            <a:r>
              <a:rPr lang="en"/>
              <a:t>ow it gets recruited to specific target genes in response to retrograde translocation from stressed mitochondria?</a:t>
            </a:r>
            <a:endParaRPr/>
          </a:p>
          <a:p>
            <a:pPr indent="-342900" lvl="0" marL="457200" rtl="0" algn="l">
              <a:lnSpc>
                <a:spcPct val="200000"/>
              </a:lnSpc>
              <a:spcBef>
                <a:spcPts val="0"/>
              </a:spcBef>
              <a:spcAft>
                <a:spcPts val="0"/>
              </a:spcAft>
              <a:buSzPts val="1800"/>
              <a:buChar char="❏"/>
            </a:pPr>
            <a:r>
              <a:rPr lang="en"/>
              <a:t>What are the molecular mechanisms in play?</a:t>
            </a:r>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2700"/>
              <a:t>GPS2 Interaction with ATF4/ATF5</a:t>
            </a:r>
            <a:endParaRPr b="1" sz="2700"/>
          </a:p>
        </p:txBody>
      </p:sp>
      <p:sp>
        <p:nvSpPr>
          <p:cNvPr id="182" name="Google Shape;182;p2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GPS2 is recruited to a subset of nuclear stress response genes through its interaction with ATF4/ATF5. </a:t>
            </a:r>
            <a:endParaRPr/>
          </a:p>
          <a:p>
            <a:pPr indent="-317500" lvl="1" marL="914400" rtl="0" algn="l">
              <a:lnSpc>
                <a:spcPct val="150000"/>
              </a:lnSpc>
              <a:spcBef>
                <a:spcPts val="0"/>
              </a:spcBef>
              <a:spcAft>
                <a:spcPts val="0"/>
              </a:spcAft>
              <a:buSzPts val="1400"/>
              <a:buChar char="❏"/>
            </a:pPr>
            <a:r>
              <a:rPr lang="en"/>
              <a:t>ATF4/5 target genes were found among the DEGs regulated by GPS2.</a:t>
            </a:r>
            <a:endParaRPr/>
          </a:p>
          <a:p>
            <a:pPr indent="-317500" lvl="1" marL="914400" rtl="0" algn="l">
              <a:lnSpc>
                <a:spcPct val="150000"/>
              </a:lnSpc>
              <a:spcBef>
                <a:spcPts val="0"/>
              </a:spcBef>
              <a:spcAft>
                <a:spcPts val="0"/>
              </a:spcAft>
              <a:buSzPts val="1400"/>
              <a:buChar char="❏"/>
            </a:pPr>
            <a:r>
              <a:rPr lang="en"/>
              <a:t>Direct interaction between ATF4 and GPS2 is reported in BioGRID and was validated by co-immunoprecipitation. </a:t>
            </a:r>
            <a:endParaRPr/>
          </a:p>
          <a:p>
            <a:pPr indent="-317500" lvl="1" marL="914400" rtl="0" algn="l">
              <a:lnSpc>
                <a:spcPct val="150000"/>
              </a:lnSpc>
              <a:spcBef>
                <a:spcPts val="0"/>
              </a:spcBef>
              <a:spcAft>
                <a:spcPts val="0"/>
              </a:spcAft>
              <a:buSzPts val="1400"/>
              <a:buChar char="❏"/>
            </a:pPr>
            <a:r>
              <a:rPr lang="en"/>
              <a:t>Preliminary overlap between GPS2 target genes and ATF3/ATF4/5-bound genes listed in ChIP-ATLAS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ChIP-seq Data Sources</a:t>
            </a:r>
            <a:endParaRPr b="1"/>
          </a:p>
        </p:txBody>
      </p:sp>
      <p:sp>
        <p:nvSpPr>
          <p:cNvPr id="188" name="Google Shape;188;p30"/>
          <p:cNvSpPr txBox="1"/>
          <p:nvPr>
            <p:ph idx="1" type="body"/>
          </p:nvPr>
        </p:nvSpPr>
        <p:spPr>
          <a:xfrm>
            <a:off x="311700" y="1017800"/>
            <a:ext cx="8520600" cy="35511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GPS2 ChIP-seq data from murine 3T3-L1 adipocytes (in-house)</a:t>
            </a:r>
            <a:endParaRPr/>
          </a:p>
          <a:p>
            <a:pPr indent="-342900" lvl="0" marL="457200" rtl="0" algn="l">
              <a:lnSpc>
                <a:spcPct val="150000"/>
              </a:lnSpc>
              <a:spcBef>
                <a:spcPts val="0"/>
              </a:spcBef>
              <a:spcAft>
                <a:spcPts val="0"/>
              </a:spcAft>
              <a:buSzPts val="1800"/>
              <a:buChar char="❏"/>
            </a:pPr>
            <a:r>
              <a:rPr lang="en"/>
              <a:t>ATF3/ATF4/ATF5 ChIP-seq data from published resources</a:t>
            </a:r>
            <a:endParaRPr/>
          </a:p>
          <a:p>
            <a:pPr indent="0" lvl="0" marL="457200" rtl="0" algn="l">
              <a:lnSpc>
                <a:spcPct val="150000"/>
              </a:lnSpc>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Workflow</a:t>
            </a:r>
            <a:endParaRPr b="1"/>
          </a:p>
        </p:txBody>
      </p:sp>
      <p:sp>
        <p:nvSpPr>
          <p:cNvPr id="194" name="Google Shape;194;p3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.fastq files from GEO</a:t>
            </a:r>
            <a:endParaRPr/>
          </a:p>
          <a:p>
            <a:pPr indent="-342900" lvl="0" marL="457200" rtl="0" algn="l">
              <a:spcBef>
                <a:spcPts val="0"/>
              </a:spcBef>
              <a:spcAft>
                <a:spcPts val="0"/>
              </a:spcAft>
              <a:buSzPts val="1800"/>
              <a:buChar char="❏"/>
            </a:pPr>
            <a:r>
              <a:rPr lang="en"/>
              <a:t>Quality Control using FastQC</a:t>
            </a:r>
            <a:endParaRPr/>
          </a:p>
          <a:p>
            <a:pPr indent="-342900" lvl="0" marL="457200" rtl="0" algn="l">
              <a:spcBef>
                <a:spcPts val="0"/>
              </a:spcBef>
              <a:spcAft>
                <a:spcPts val="0"/>
              </a:spcAft>
              <a:buSzPts val="1800"/>
              <a:buChar char="❏"/>
            </a:pPr>
            <a:r>
              <a:rPr lang="en"/>
              <a:t>Adapter trimming using Trimmomatic</a:t>
            </a:r>
            <a:endParaRPr/>
          </a:p>
          <a:p>
            <a:pPr indent="-342900" lvl="0" marL="457200" rtl="0" algn="l">
              <a:spcBef>
                <a:spcPts val="0"/>
              </a:spcBef>
              <a:spcAft>
                <a:spcPts val="0"/>
              </a:spcAft>
              <a:buSzPts val="1800"/>
              <a:buChar char="❏"/>
            </a:pPr>
            <a:r>
              <a:rPr lang="en"/>
              <a:t>Alignment using Bowtie2</a:t>
            </a:r>
            <a:endParaRPr/>
          </a:p>
          <a:p>
            <a:pPr indent="-342900" lvl="0" marL="457200" rtl="0" algn="l">
              <a:spcBef>
                <a:spcPts val="0"/>
              </a:spcBef>
              <a:spcAft>
                <a:spcPts val="0"/>
              </a:spcAft>
              <a:buSzPts val="1800"/>
              <a:buChar char="❏"/>
            </a:pPr>
            <a:r>
              <a:rPr lang="en"/>
              <a:t>Sorting and indexing using samtools</a:t>
            </a:r>
            <a:endParaRPr/>
          </a:p>
          <a:p>
            <a:pPr indent="-342900" lvl="0" marL="457200" rtl="0" algn="l">
              <a:spcBef>
                <a:spcPts val="0"/>
              </a:spcBef>
              <a:spcAft>
                <a:spcPts val="0"/>
              </a:spcAft>
              <a:buSzPts val="1800"/>
              <a:buChar char="❏"/>
            </a:pPr>
            <a:r>
              <a:rPr lang="en"/>
              <a:t>Peak calling using macs3</a:t>
            </a:r>
            <a:endParaRPr/>
          </a:p>
          <a:p>
            <a:pPr indent="-342900" lvl="0" marL="457200" rtl="0" algn="l">
              <a:spcBef>
                <a:spcPts val="0"/>
              </a:spcBef>
              <a:spcAft>
                <a:spcPts val="0"/>
              </a:spcAft>
              <a:buSzPts val="1800"/>
              <a:buChar char="❏"/>
            </a:pPr>
            <a:r>
              <a:rPr lang="en"/>
              <a:t>Peak annotation using ChIP-seeker</a:t>
            </a:r>
            <a:endParaRPr/>
          </a:p>
          <a:p>
            <a:pPr indent="-342900" lvl="0" marL="457200" rtl="0" algn="l">
              <a:spcBef>
                <a:spcPts val="0"/>
              </a:spcBef>
              <a:spcAft>
                <a:spcPts val="0"/>
              </a:spcAft>
              <a:buSzPts val="1800"/>
              <a:buChar char="❏"/>
            </a:pPr>
            <a:r>
              <a:rPr lang="en"/>
              <a:t>Motif calling using HOMER</a:t>
            </a:r>
            <a:endParaRPr/>
          </a:p>
          <a:p>
            <a:pPr indent="0" lvl="0" marL="0" rtl="0" algn="l">
              <a:spcBef>
                <a:spcPts val="1200"/>
              </a:spcBef>
              <a:spcAft>
                <a:spcPts val="1200"/>
              </a:spcAft>
              <a:buNone/>
            </a:pPr>
            <a:r>
              <a:rPr lang="en"/>
              <a:t>All of these steps were made into a pipeline using snakemake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441675"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Progress so far</a:t>
            </a:r>
            <a:endParaRPr b="1"/>
          </a:p>
        </p:txBody>
      </p:sp>
      <p:sp>
        <p:nvSpPr>
          <p:cNvPr id="200" name="Google Shape;200;p32"/>
          <p:cNvSpPr txBox="1"/>
          <p:nvPr>
            <p:ph idx="1" type="body"/>
          </p:nvPr>
        </p:nvSpPr>
        <p:spPr>
          <a:xfrm>
            <a:off x="311700" y="1017800"/>
            <a:ext cx="8520600" cy="37191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SzPts val="1400"/>
              <a:buChar char="❏"/>
            </a:pPr>
            <a:r>
              <a:rPr lang="en" sz="1400"/>
              <a:t>ATF4 ChIP-seq data collection</a:t>
            </a:r>
            <a:endParaRPr sz="1400"/>
          </a:p>
          <a:p>
            <a:pPr indent="-317500" lvl="0" marL="457200" rtl="0" algn="l">
              <a:lnSpc>
                <a:spcPct val="200000"/>
              </a:lnSpc>
              <a:spcBef>
                <a:spcPts val="0"/>
              </a:spcBef>
              <a:spcAft>
                <a:spcPts val="0"/>
              </a:spcAft>
              <a:buSzPts val="1400"/>
              <a:buChar char="❏"/>
            </a:pPr>
            <a:r>
              <a:rPr lang="en" sz="1400"/>
              <a:t>Identified peaks, annotations and motifs for GPS2 and ATF4 </a:t>
            </a:r>
            <a:r>
              <a:rPr lang="en" sz="1400"/>
              <a:t>separately under Stress and Differentiation conditions.</a:t>
            </a:r>
            <a:endParaRPr sz="1400"/>
          </a:p>
          <a:p>
            <a:pPr indent="0" lvl="0" marL="0" rtl="0" algn="l">
              <a:lnSpc>
                <a:spcPct val="200000"/>
              </a:lnSpc>
              <a:spcBef>
                <a:spcPts val="1200"/>
              </a:spcBef>
              <a:spcAft>
                <a:spcPts val="0"/>
              </a:spcAft>
              <a:buNone/>
            </a:pPr>
            <a:r>
              <a:t/>
            </a:r>
            <a:endParaRPr sz="1400"/>
          </a:p>
          <a:p>
            <a:pPr indent="-317500" lvl="0" marL="457200" rtl="0" algn="l">
              <a:lnSpc>
                <a:spcPct val="200000"/>
              </a:lnSpc>
              <a:spcBef>
                <a:spcPts val="1200"/>
              </a:spcBef>
              <a:spcAft>
                <a:spcPts val="0"/>
              </a:spcAft>
              <a:buSzPts val="1400"/>
              <a:buChar char="❏"/>
            </a:pPr>
            <a:r>
              <a:rPr lang="en" sz="1400"/>
              <a:t>Look for overlaps between GPS2 and ATF4 binding regions.</a:t>
            </a:r>
            <a:endParaRPr sz="1400"/>
          </a:p>
          <a:p>
            <a:pPr indent="-317500" lvl="0" marL="457200" rtl="0" algn="l">
              <a:lnSpc>
                <a:spcPct val="200000"/>
              </a:lnSpc>
              <a:spcBef>
                <a:spcPts val="0"/>
              </a:spcBef>
              <a:spcAft>
                <a:spcPts val="0"/>
              </a:spcAft>
              <a:buSzPts val="1400"/>
              <a:buChar char="❏"/>
            </a:pPr>
            <a:r>
              <a:rPr lang="en" sz="1400"/>
              <a:t>Identify differential peak sets.</a:t>
            </a:r>
            <a:endParaRPr sz="1400"/>
          </a:p>
          <a:p>
            <a:pPr indent="-317500" lvl="0" marL="457200" rtl="0" algn="l">
              <a:lnSpc>
                <a:spcPct val="200000"/>
              </a:lnSpc>
              <a:spcBef>
                <a:spcPts val="0"/>
              </a:spcBef>
              <a:spcAft>
                <a:spcPts val="0"/>
              </a:spcAft>
              <a:buSzPts val="1400"/>
              <a:buChar char="❏"/>
            </a:pPr>
            <a:r>
              <a:rPr lang="en" sz="1400"/>
              <a:t>Gene Set Enrichment Analysis</a:t>
            </a:r>
            <a:endParaRPr sz="1400"/>
          </a:p>
          <a:p>
            <a:pPr indent="-317500" lvl="0" marL="457200" rtl="0" algn="l">
              <a:lnSpc>
                <a:spcPct val="200000"/>
              </a:lnSpc>
              <a:spcBef>
                <a:spcPts val="0"/>
              </a:spcBef>
              <a:spcAft>
                <a:spcPts val="0"/>
              </a:spcAft>
              <a:buSzPts val="1400"/>
              <a:buChar char="❏"/>
            </a:pPr>
            <a:r>
              <a:rPr lang="en" sz="1400"/>
              <a:t>Data collection and analysis for ATF3</a:t>
            </a:r>
            <a:endParaRPr sz="1400"/>
          </a:p>
        </p:txBody>
      </p:sp>
      <p:sp>
        <p:nvSpPr>
          <p:cNvPr id="201" name="Google Shape;201;p32"/>
          <p:cNvSpPr txBox="1"/>
          <p:nvPr>
            <p:ph type="title"/>
          </p:nvPr>
        </p:nvSpPr>
        <p:spPr>
          <a:xfrm>
            <a:off x="348850" y="22678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Next steps</a:t>
            </a:r>
            <a:endParaRPr b="1"/>
          </a:p>
        </p:txBody>
      </p:sp>
      <p:pic>
        <p:nvPicPr>
          <p:cNvPr id="202" name="Google Shape;202;p32"/>
          <p:cNvPicPr preferRelativeResize="0"/>
          <p:nvPr/>
        </p:nvPicPr>
        <p:blipFill rotWithShape="1">
          <a:blip r:embed="rId3">
            <a:alphaModFix/>
          </a:blip>
          <a:srcRect b="17469" l="6223" r="5241" t="17004"/>
          <a:stretch/>
        </p:blipFill>
        <p:spPr>
          <a:xfrm>
            <a:off x="3659050" y="198850"/>
            <a:ext cx="3001923" cy="1348151"/>
          </a:xfrm>
          <a:prstGeom prst="rect">
            <a:avLst/>
          </a:prstGeom>
          <a:noFill/>
          <a:ln>
            <a:noFill/>
          </a:ln>
        </p:spPr>
      </p:pic>
      <p:pic>
        <p:nvPicPr>
          <p:cNvPr id="203" name="Google Shape;203;p32"/>
          <p:cNvPicPr preferRelativeResize="0"/>
          <p:nvPr/>
        </p:nvPicPr>
        <p:blipFill>
          <a:blip r:embed="rId4">
            <a:alphaModFix/>
          </a:blip>
          <a:stretch>
            <a:fillRect/>
          </a:stretch>
        </p:blipFill>
        <p:spPr>
          <a:xfrm>
            <a:off x="6787850" y="198850"/>
            <a:ext cx="1999227" cy="1223724"/>
          </a:xfrm>
          <a:prstGeom prst="rect">
            <a:avLst/>
          </a:prstGeom>
          <a:noFill/>
          <a:ln>
            <a:noFill/>
          </a:ln>
        </p:spPr>
      </p:pic>
      <p:pic>
        <p:nvPicPr>
          <p:cNvPr id="204" name="Google Shape;204;p32"/>
          <p:cNvPicPr preferRelativeResize="0"/>
          <p:nvPr/>
        </p:nvPicPr>
        <p:blipFill>
          <a:blip r:embed="rId5">
            <a:alphaModFix/>
          </a:blip>
          <a:stretch>
            <a:fillRect/>
          </a:stretch>
        </p:blipFill>
        <p:spPr>
          <a:xfrm>
            <a:off x="4661750" y="1806100"/>
            <a:ext cx="4019426" cy="1148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21885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t>Objectives</a:t>
            </a:r>
            <a:endParaRPr b="1" sz="2400"/>
          </a:p>
        </p:txBody>
      </p:sp>
      <p:sp>
        <p:nvSpPr>
          <p:cNvPr id="210" name="Google Shape;210;p33"/>
          <p:cNvSpPr txBox="1"/>
          <p:nvPr>
            <p:ph idx="1" type="body"/>
          </p:nvPr>
        </p:nvSpPr>
        <p:spPr>
          <a:xfrm>
            <a:off x="155850" y="930500"/>
            <a:ext cx="8832300" cy="35466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sz="1400"/>
              <a:t>I</a:t>
            </a:r>
            <a:r>
              <a:rPr lang="en" sz="1400"/>
              <a:t>dentify genes co-occupied by different TFs and cofactors.</a:t>
            </a:r>
            <a:endParaRPr sz="1400"/>
          </a:p>
          <a:p>
            <a:pPr indent="-317500" lvl="0" marL="457200" rtl="0" algn="l">
              <a:lnSpc>
                <a:spcPct val="150000"/>
              </a:lnSpc>
              <a:spcBef>
                <a:spcPts val="0"/>
              </a:spcBef>
              <a:spcAft>
                <a:spcPts val="0"/>
              </a:spcAft>
              <a:buSzPts val="1400"/>
              <a:buChar char="❏"/>
            </a:pPr>
            <a:r>
              <a:rPr lang="en" sz="1400"/>
              <a:t>Compare the specific genomic locations where the factors are recruited.</a:t>
            </a:r>
            <a:endParaRPr sz="1400"/>
          </a:p>
          <a:p>
            <a:pPr indent="-317500" lvl="0" marL="457200" rtl="0" algn="l">
              <a:lnSpc>
                <a:spcPct val="150000"/>
              </a:lnSpc>
              <a:spcBef>
                <a:spcPts val="0"/>
              </a:spcBef>
              <a:spcAft>
                <a:spcPts val="0"/>
              </a:spcAft>
              <a:buSzPts val="1400"/>
              <a:buChar char="❏"/>
            </a:pPr>
            <a:r>
              <a:rPr lang="en" sz="1400"/>
              <a:t>Explore whether GPS2 recruitment is mediated by one or many of the ATFs.</a:t>
            </a:r>
            <a:endParaRPr sz="1400"/>
          </a:p>
          <a:p>
            <a:pPr indent="0" lvl="0" marL="0" rtl="0" algn="l">
              <a:lnSpc>
                <a:spcPct val="150000"/>
              </a:lnSpc>
              <a:spcBef>
                <a:spcPts val="1200"/>
              </a:spcBef>
              <a:spcAft>
                <a:spcPts val="0"/>
              </a:spcAft>
              <a:buNone/>
            </a:pPr>
            <a:r>
              <a:t/>
            </a:r>
            <a:endParaRPr/>
          </a:p>
          <a:p>
            <a:pPr indent="-317500" lvl="0" marL="457200" rtl="0" algn="l">
              <a:lnSpc>
                <a:spcPct val="150000"/>
              </a:lnSpc>
              <a:spcBef>
                <a:spcPts val="1200"/>
              </a:spcBef>
              <a:spcAft>
                <a:spcPts val="0"/>
              </a:spcAft>
              <a:buSzPts val="1400"/>
              <a:buChar char="❏"/>
            </a:pPr>
            <a:r>
              <a:rPr lang="en" sz="1400"/>
              <a:t>To understand the basis of adaptive responses towards the maintenance of metabolic homeostasis.</a:t>
            </a:r>
            <a:endParaRPr sz="1400"/>
          </a:p>
          <a:p>
            <a:pPr indent="-342900" lvl="0" marL="457200" rtl="0" algn="l">
              <a:lnSpc>
                <a:spcPct val="150000"/>
              </a:lnSpc>
              <a:spcBef>
                <a:spcPts val="0"/>
              </a:spcBef>
              <a:spcAft>
                <a:spcPts val="0"/>
              </a:spcAft>
              <a:buSzPts val="1800"/>
              <a:buChar char="❏"/>
            </a:pPr>
            <a:r>
              <a:rPr lang="en" sz="1400"/>
              <a:t>Possible effects for studies on mitochondrial diseases and metabolic syndromes, aging and cancer.</a:t>
            </a:r>
            <a:r>
              <a:rPr lang="en"/>
              <a:t> </a:t>
            </a:r>
            <a:endParaRPr/>
          </a:p>
        </p:txBody>
      </p:sp>
      <p:sp>
        <p:nvSpPr>
          <p:cNvPr id="211" name="Google Shape;211;p33"/>
          <p:cNvSpPr txBox="1"/>
          <p:nvPr>
            <p:ph type="title"/>
          </p:nvPr>
        </p:nvSpPr>
        <p:spPr>
          <a:xfrm>
            <a:off x="218850" y="2035725"/>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t>Implications</a:t>
            </a:r>
            <a:endParaRPr b="1"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pic>
        <p:nvPicPr>
          <p:cNvPr id="216" name="Google Shape;216;p34"/>
          <p:cNvPicPr preferRelativeResize="0"/>
          <p:nvPr/>
        </p:nvPicPr>
        <p:blipFill>
          <a:blip r:embed="rId3">
            <a:alphaModFix/>
          </a:blip>
          <a:stretch>
            <a:fillRect/>
          </a:stretch>
        </p:blipFill>
        <p:spPr>
          <a:xfrm>
            <a:off x="1031600" y="644975"/>
            <a:ext cx="5468450" cy="3175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35"/>
          <p:cNvSpPr/>
          <p:nvPr/>
        </p:nvSpPr>
        <p:spPr>
          <a:xfrm>
            <a:off x="108352" y="3027385"/>
            <a:ext cx="1728600" cy="2057100"/>
          </a:xfrm>
          <a:prstGeom prst="roundRect">
            <a:avLst>
              <a:gd fmla="val 3206" name="adj"/>
            </a:avLst>
          </a:prstGeom>
          <a:solidFill>
            <a:srgbClr val="BFBFBF"/>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entury Gothic"/>
              <a:ea typeface="Century Gothic"/>
              <a:cs typeface="Century Gothic"/>
              <a:sym typeface="Century Gothic"/>
            </a:endParaRPr>
          </a:p>
        </p:txBody>
      </p:sp>
      <p:sp>
        <p:nvSpPr>
          <p:cNvPr id="222" name="Google Shape;222;p35"/>
          <p:cNvSpPr/>
          <p:nvPr/>
        </p:nvSpPr>
        <p:spPr>
          <a:xfrm>
            <a:off x="104986" y="101299"/>
            <a:ext cx="8930700" cy="858600"/>
          </a:xfrm>
          <a:prstGeom prst="roundRect">
            <a:avLst>
              <a:gd fmla="val 4450" name="adj"/>
            </a:avLst>
          </a:prstGeom>
          <a:solidFill>
            <a:schemeClr val="dk1"/>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entury Gothic"/>
              <a:ea typeface="Century Gothic"/>
              <a:cs typeface="Century Gothic"/>
              <a:sym typeface="Century Gothic"/>
            </a:endParaRPr>
          </a:p>
        </p:txBody>
      </p:sp>
      <p:sp>
        <p:nvSpPr>
          <p:cNvPr id="223" name="Google Shape;223;p35"/>
          <p:cNvSpPr/>
          <p:nvPr/>
        </p:nvSpPr>
        <p:spPr>
          <a:xfrm>
            <a:off x="1897464" y="1037455"/>
            <a:ext cx="1450200" cy="4047300"/>
          </a:xfrm>
          <a:prstGeom prst="roundRect">
            <a:avLst>
              <a:gd fmla="val 4767" name="adj"/>
            </a:avLst>
          </a:prstGeom>
          <a:solidFill>
            <a:srgbClr val="737373"/>
          </a:solidFill>
          <a:ln>
            <a:noFill/>
          </a:ln>
        </p:spPr>
        <p:txBody>
          <a:bodyPr anchorCtr="0" anchor="ctr" bIns="11150" lIns="22325" spcFirstLastPara="1" rIns="22325" wrap="square" tIns="111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entury Gothic"/>
              <a:ea typeface="Century Gothic"/>
              <a:cs typeface="Century Gothic"/>
              <a:sym typeface="Century Gothic"/>
            </a:endParaRPr>
          </a:p>
        </p:txBody>
      </p:sp>
      <p:sp>
        <p:nvSpPr>
          <p:cNvPr id="224" name="Google Shape;224;p35"/>
          <p:cNvSpPr/>
          <p:nvPr/>
        </p:nvSpPr>
        <p:spPr>
          <a:xfrm>
            <a:off x="108072" y="1037437"/>
            <a:ext cx="1728600" cy="1912500"/>
          </a:xfrm>
          <a:prstGeom prst="roundRect">
            <a:avLst>
              <a:gd fmla="val 3206" name="adj"/>
            </a:avLst>
          </a:prstGeom>
          <a:solidFill>
            <a:srgbClr val="BFBFBF"/>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Century Gothic"/>
              <a:ea typeface="Century Gothic"/>
              <a:cs typeface="Century Gothic"/>
              <a:sym typeface="Century Gothic"/>
            </a:endParaRPr>
          </a:p>
        </p:txBody>
      </p:sp>
      <p:sp>
        <p:nvSpPr>
          <p:cNvPr id="225" name="Google Shape;225;p35"/>
          <p:cNvSpPr/>
          <p:nvPr/>
        </p:nvSpPr>
        <p:spPr>
          <a:xfrm>
            <a:off x="3416631" y="1037437"/>
            <a:ext cx="3772200" cy="4047300"/>
          </a:xfrm>
          <a:prstGeom prst="roundRect">
            <a:avLst>
              <a:gd fmla="val 2650" name="adj"/>
            </a:avLst>
          </a:prstGeom>
          <a:solidFill>
            <a:srgbClr val="888888"/>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chemeClr val="dk1"/>
              </a:buClr>
              <a:buSzPts val="300"/>
              <a:buFont typeface="Arial"/>
              <a:buNone/>
            </a:pPr>
            <a:r>
              <a:t/>
            </a:r>
            <a:endParaRPr b="0" i="0" sz="700" u="none" cap="none" strike="noStrike">
              <a:solidFill>
                <a:schemeClr val="dk1"/>
              </a:solidFill>
              <a:latin typeface="Century Gothic"/>
              <a:ea typeface="Century Gothic"/>
              <a:cs typeface="Century Gothic"/>
              <a:sym typeface="Century Gothic"/>
            </a:endParaRPr>
          </a:p>
        </p:txBody>
      </p:sp>
      <p:sp>
        <p:nvSpPr>
          <p:cNvPr id="226" name="Google Shape;226;p35"/>
          <p:cNvSpPr/>
          <p:nvPr/>
        </p:nvSpPr>
        <p:spPr>
          <a:xfrm>
            <a:off x="7253358" y="3977962"/>
            <a:ext cx="1782300" cy="1106700"/>
          </a:xfrm>
          <a:prstGeom prst="roundRect">
            <a:avLst>
              <a:gd fmla="val 3951" name="adj"/>
            </a:avLst>
          </a:prstGeom>
          <a:solidFill>
            <a:srgbClr val="E3163D"/>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entury Gothic"/>
              <a:ea typeface="Century Gothic"/>
              <a:cs typeface="Century Gothic"/>
              <a:sym typeface="Century Gothic"/>
            </a:endParaRPr>
          </a:p>
        </p:txBody>
      </p:sp>
      <p:sp>
        <p:nvSpPr>
          <p:cNvPr id="227" name="Google Shape;227;p35"/>
          <p:cNvSpPr/>
          <p:nvPr/>
        </p:nvSpPr>
        <p:spPr>
          <a:xfrm>
            <a:off x="7253364" y="1037455"/>
            <a:ext cx="1782300" cy="2902500"/>
          </a:xfrm>
          <a:prstGeom prst="roundRect">
            <a:avLst>
              <a:gd fmla="val 3951" name="adj"/>
            </a:avLst>
          </a:prstGeom>
          <a:solidFill>
            <a:srgbClr val="E3163D"/>
          </a:solidFill>
          <a:ln>
            <a:noFill/>
          </a:ln>
        </p:spPr>
        <p:txBody>
          <a:bodyPr anchorCtr="0" anchor="ctr" bIns="11150" lIns="22325" spcFirstLastPara="1" rIns="22325" wrap="square" tIns="1115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Century Gothic"/>
              <a:ea typeface="Century Gothic"/>
              <a:cs typeface="Century Gothic"/>
              <a:sym typeface="Century Gothic"/>
            </a:endParaRPr>
          </a:p>
        </p:txBody>
      </p:sp>
      <p:sp>
        <p:nvSpPr>
          <p:cNvPr id="228" name="Google Shape;228;p35"/>
          <p:cNvSpPr txBox="1"/>
          <p:nvPr/>
        </p:nvSpPr>
        <p:spPr>
          <a:xfrm>
            <a:off x="149214" y="1075625"/>
            <a:ext cx="1633500" cy="207300"/>
          </a:xfrm>
          <a:prstGeom prst="rect">
            <a:avLst/>
          </a:prstGeom>
          <a:noFill/>
          <a:ln>
            <a:noFill/>
          </a:ln>
        </p:spPr>
        <p:txBody>
          <a:bodyPr anchorCtr="0" anchor="t" bIns="11150" lIns="22325" spcFirstLastPara="1" rIns="22325" wrap="square" tIns="11150">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Century Gothic"/>
                <a:ea typeface="Century Gothic"/>
                <a:cs typeface="Century Gothic"/>
                <a:sym typeface="Century Gothic"/>
              </a:rPr>
              <a:t>Abstract</a:t>
            </a:r>
            <a:endParaRPr b="1" i="0" sz="1200" u="none" cap="none" strike="noStrike">
              <a:solidFill>
                <a:schemeClr val="dk1"/>
              </a:solidFill>
              <a:latin typeface="Century Gothic"/>
              <a:ea typeface="Century Gothic"/>
              <a:cs typeface="Century Gothic"/>
              <a:sym typeface="Century Gothic"/>
            </a:endParaRPr>
          </a:p>
        </p:txBody>
      </p:sp>
      <p:sp>
        <p:nvSpPr>
          <p:cNvPr id="229" name="Google Shape;229;p35"/>
          <p:cNvSpPr txBox="1"/>
          <p:nvPr/>
        </p:nvSpPr>
        <p:spPr>
          <a:xfrm>
            <a:off x="170989" y="1345604"/>
            <a:ext cx="1633500" cy="1500300"/>
          </a:xfrm>
          <a:prstGeom prst="rect">
            <a:avLst/>
          </a:prstGeom>
          <a:noFill/>
          <a:ln>
            <a:noFill/>
          </a:ln>
        </p:spPr>
        <p:txBody>
          <a:bodyPr anchorCtr="0" anchor="t" bIns="11150" lIns="22325" spcFirstLastPara="1" rIns="22325" wrap="square" tIns="11150">
            <a:spAutoFit/>
          </a:bodyPr>
          <a:lstStyle/>
          <a:p>
            <a:pPr indent="0" lvl="0" marL="0" marR="0" rtl="0" algn="just">
              <a:lnSpc>
                <a:spcPct val="100000"/>
              </a:lnSpc>
              <a:spcBef>
                <a:spcPts val="0"/>
              </a:spcBef>
              <a:spcAft>
                <a:spcPts val="0"/>
              </a:spcAft>
              <a:buClr>
                <a:srgbClr val="000000"/>
              </a:buClr>
              <a:buSzPts val="300"/>
              <a:buFont typeface="Arial"/>
              <a:buNone/>
            </a:pPr>
            <a:r>
              <a:rPr b="0" i="0" lang="en" sz="600" u="none" cap="none" strike="noStrike">
                <a:solidFill>
                  <a:schemeClr val="dk1"/>
                </a:solidFill>
                <a:latin typeface="Century Gothic"/>
                <a:ea typeface="Century Gothic"/>
                <a:cs typeface="Century Gothic"/>
                <a:sym typeface="Century Gothic"/>
              </a:rPr>
              <a:t>Mitochondrial function requires precise coordination between mitochondrial and nuclear genomes. This study focuses on GPS2 (</a:t>
            </a:r>
            <a:r>
              <a:rPr b="1" i="0" lang="en" sz="600" u="none" cap="none" strike="noStrike">
                <a:solidFill>
                  <a:schemeClr val="dk1"/>
                </a:solidFill>
                <a:latin typeface="Century Gothic"/>
                <a:ea typeface="Century Gothic"/>
                <a:cs typeface="Century Gothic"/>
                <a:sym typeface="Century Gothic"/>
              </a:rPr>
              <a:t>G-protein Pathway Suppressor 2), </a:t>
            </a:r>
            <a:r>
              <a:rPr b="0" i="0" lang="en" sz="600" u="none" cap="none" strike="noStrike">
                <a:solidFill>
                  <a:schemeClr val="dk1"/>
                </a:solidFill>
                <a:latin typeface="Century Gothic"/>
                <a:ea typeface="Century Gothic"/>
                <a:cs typeface="Century Gothic"/>
                <a:sym typeface="Century Gothic"/>
              </a:rPr>
              <a:t>a key mediator of mitochondrial retrograde signaling. We hypothesize that GPS2 is recruited to </a:t>
            </a:r>
            <a:r>
              <a:rPr b="1" i="0" lang="en" sz="600" u="none" cap="none" strike="noStrike">
                <a:solidFill>
                  <a:schemeClr val="dk1"/>
                </a:solidFill>
                <a:latin typeface="Century Gothic"/>
                <a:ea typeface="Century Gothic"/>
                <a:cs typeface="Century Gothic"/>
                <a:sym typeface="Century Gothic"/>
              </a:rPr>
              <a:t>nuclear stress response genes</a:t>
            </a:r>
            <a:r>
              <a:rPr b="0" i="0" lang="en" sz="600" u="none" cap="none" strike="noStrike">
                <a:solidFill>
                  <a:schemeClr val="dk1"/>
                </a:solidFill>
                <a:latin typeface="Century Gothic"/>
                <a:ea typeface="Century Gothic"/>
                <a:cs typeface="Century Gothic"/>
                <a:sym typeface="Century Gothic"/>
              </a:rPr>
              <a:t> through interactions with the transcription factors </a:t>
            </a:r>
            <a:r>
              <a:rPr b="1" i="0" lang="en" sz="600" u="none" cap="none" strike="noStrike">
                <a:solidFill>
                  <a:schemeClr val="dk1"/>
                </a:solidFill>
                <a:latin typeface="Century Gothic"/>
                <a:ea typeface="Century Gothic"/>
                <a:cs typeface="Century Gothic"/>
                <a:sym typeface="Century Gothic"/>
              </a:rPr>
              <a:t>ATF3, ATF4, and ATF5</a:t>
            </a:r>
            <a:r>
              <a:rPr b="0" i="0" lang="en" sz="600" u="none" cap="none" strike="noStrike">
                <a:solidFill>
                  <a:schemeClr val="dk1"/>
                </a:solidFill>
                <a:latin typeface="Century Gothic"/>
                <a:ea typeface="Century Gothic"/>
                <a:cs typeface="Century Gothic"/>
                <a:sym typeface="Century Gothic"/>
              </a:rPr>
              <a:t>. Through the integration of ChIP-seq data, we have identified key co-regulated genes, indicating a </a:t>
            </a:r>
            <a:r>
              <a:rPr b="1" i="0" lang="en" sz="600" u="none" cap="none" strike="noStrike">
                <a:solidFill>
                  <a:schemeClr val="dk1"/>
                </a:solidFill>
                <a:latin typeface="Century Gothic"/>
                <a:ea typeface="Century Gothic"/>
                <a:cs typeface="Century Gothic"/>
                <a:sym typeface="Century Gothic"/>
              </a:rPr>
              <a:t>coordinated role for GPS2 and ATF4 in regulating mitochondrial stress responses</a:t>
            </a:r>
            <a:r>
              <a:rPr b="0" i="0" lang="en" sz="600" u="none" cap="none" strike="noStrike">
                <a:solidFill>
                  <a:schemeClr val="dk1"/>
                </a:solidFill>
                <a:latin typeface="Century Gothic"/>
                <a:ea typeface="Century Gothic"/>
                <a:cs typeface="Century Gothic"/>
                <a:sym typeface="Century Gothic"/>
              </a:rPr>
              <a:t>, with evidence suggesting potential direct interactions between GPS2 and ATF4.</a:t>
            </a:r>
            <a:endParaRPr b="0" i="0" sz="600" u="none" cap="none" strike="noStrike">
              <a:solidFill>
                <a:schemeClr val="dk1"/>
              </a:solidFill>
              <a:latin typeface="Century Gothic"/>
              <a:ea typeface="Century Gothic"/>
              <a:cs typeface="Century Gothic"/>
              <a:sym typeface="Century Gothic"/>
            </a:endParaRPr>
          </a:p>
        </p:txBody>
      </p:sp>
      <p:sp>
        <p:nvSpPr>
          <p:cNvPr id="230" name="Google Shape;230;p35"/>
          <p:cNvSpPr txBox="1"/>
          <p:nvPr/>
        </p:nvSpPr>
        <p:spPr>
          <a:xfrm>
            <a:off x="1640067" y="170956"/>
            <a:ext cx="6497400" cy="232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600"/>
              <a:buFont typeface="Century Gothic"/>
              <a:buNone/>
            </a:pPr>
            <a:r>
              <a:rPr b="1" i="0" lang="en" sz="1400" u="none" cap="none" strike="noStrike">
                <a:solidFill>
                  <a:schemeClr val="lt1"/>
                </a:solidFill>
                <a:latin typeface="Century Gothic"/>
                <a:ea typeface="Century Gothic"/>
                <a:cs typeface="Century Gothic"/>
                <a:sym typeface="Century Gothic"/>
              </a:rPr>
              <a:t>Exploring GPS2 and ATF4 Crosstalk in Mitochondrial Stress Response</a:t>
            </a:r>
            <a:endParaRPr b="0" i="0" sz="900" u="none" cap="none" strike="noStrike">
              <a:solidFill>
                <a:srgbClr val="000000"/>
              </a:solidFill>
              <a:latin typeface="Arial"/>
              <a:ea typeface="Arial"/>
              <a:cs typeface="Arial"/>
              <a:sym typeface="Arial"/>
            </a:endParaRPr>
          </a:p>
        </p:txBody>
      </p:sp>
      <p:sp>
        <p:nvSpPr>
          <p:cNvPr id="231" name="Google Shape;231;p35"/>
          <p:cNvSpPr txBox="1"/>
          <p:nvPr/>
        </p:nvSpPr>
        <p:spPr>
          <a:xfrm>
            <a:off x="687690" y="403865"/>
            <a:ext cx="7948500" cy="532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lt1"/>
              </a:buClr>
              <a:buSzPts val="1000"/>
              <a:buFont typeface="Arial"/>
              <a:buNone/>
            </a:pPr>
            <a:r>
              <a:rPr b="0" i="0" lang="en" sz="1000" u="none" cap="none" strike="noStrike">
                <a:solidFill>
                  <a:schemeClr val="lt1"/>
                </a:solidFill>
                <a:latin typeface="Century Gothic"/>
                <a:ea typeface="Century Gothic"/>
                <a:cs typeface="Century Gothic"/>
                <a:sym typeface="Century Gothic"/>
              </a:rPr>
              <a:t>Jawahar Mahendran</a:t>
            </a:r>
            <a:r>
              <a:rPr b="0" baseline="30000" i="0" lang="en" sz="1000" u="none" cap="none" strike="noStrike">
                <a:solidFill>
                  <a:schemeClr val="lt1"/>
                </a:solidFill>
                <a:latin typeface="Century Gothic"/>
                <a:ea typeface="Century Gothic"/>
                <a:cs typeface="Century Gothic"/>
                <a:sym typeface="Century Gothic"/>
              </a:rPr>
              <a:t>1</a:t>
            </a:r>
            <a:r>
              <a:rPr b="0" i="0" lang="en" sz="1000" u="none" cap="none" strike="noStrike">
                <a:solidFill>
                  <a:schemeClr val="lt1"/>
                </a:solidFill>
                <a:latin typeface="Century Gothic"/>
                <a:ea typeface="Century Gothic"/>
                <a:cs typeface="Century Gothic"/>
                <a:sym typeface="Century Gothic"/>
              </a:rPr>
              <a:t>, Valentina Perissi</a:t>
            </a:r>
            <a:r>
              <a:rPr b="0" baseline="30000" i="0" lang="en" sz="1000" u="none" cap="none" strike="noStrike">
                <a:solidFill>
                  <a:schemeClr val="lt1"/>
                </a:solidFill>
                <a:latin typeface="Century Gothic"/>
                <a:ea typeface="Century Gothic"/>
                <a:cs typeface="Century Gothic"/>
                <a:sym typeface="Century Gothic"/>
              </a:rPr>
              <a:t>2</a:t>
            </a:r>
            <a:r>
              <a:rPr b="0" i="0" lang="en" sz="1000" u="none" cap="none" strike="noStrike">
                <a:solidFill>
                  <a:schemeClr val="lt1"/>
                </a:solidFill>
                <a:latin typeface="Century Gothic"/>
                <a:ea typeface="Century Gothic"/>
                <a:cs typeface="Century Gothic"/>
                <a:sym typeface="Century Gothic"/>
              </a:rPr>
              <a:t> and Joseph Orofino</a:t>
            </a:r>
            <a:r>
              <a:rPr b="0" baseline="30000" i="0" lang="en" sz="1000" u="none" cap="none" strike="noStrike">
                <a:solidFill>
                  <a:schemeClr val="lt1"/>
                </a:solidFill>
                <a:latin typeface="Century Gothic"/>
                <a:ea typeface="Century Gothic"/>
                <a:cs typeface="Century Gothic"/>
                <a:sym typeface="Century Gothic"/>
              </a:rPr>
              <a:t>3</a:t>
            </a:r>
            <a:endParaRPr b="0" baseline="30000" i="0" sz="1000"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1000"/>
              <a:buFont typeface="Arial"/>
              <a:buNone/>
            </a:pPr>
            <a:r>
              <a:rPr b="0" i="0" lang="en" sz="700" u="none" cap="none" strike="noStrike">
                <a:solidFill>
                  <a:schemeClr val="lt1"/>
                </a:solidFill>
                <a:latin typeface="Century Gothic"/>
                <a:ea typeface="Century Gothic"/>
                <a:cs typeface="Century Gothic"/>
                <a:sym typeface="Century Gothic"/>
              </a:rPr>
              <a:t>1. Masters Student, Bioinformatics, Faculty of Computing and Data Science, Boston University</a:t>
            </a:r>
            <a:endParaRPr b="0" i="0" sz="700"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1000"/>
              <a:buFont typeface="Arial"/>
              <a:buNone/>
            </a:pPr>
            <a:r>
              <a:rPr b="0" i="0" lang="en" sz="700" u="none" cap="none" strike="noStrike">
                <a:solidFill>
                  <a:schemeClr val="lt1"/>
                </a:solidFill>
                <a:latin typeface="Century Gothic"/>
                <a:ea typeface="Century Gothic"/>
                <a:cs typeface="Century Gothic"/>
                <a:sym typeface="Century Gothic"/>
              </a:rPr>
              <a:t>2. Department of Biochemistry and Cell Biology, Chobanian and Avedisian School of Medicine, BUSM</a:t>
            </a:r>
            <a:endParaRPr b="0" i="0" sz="700"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1000"/>
              <a:buFont typeface="Arial"/>
              <a:buNone/>
            </a:pPr>
            <a:r>
              <a:rPr b="0" i="0" lang="en" sz="700" u="none" cap="none" strike="noStrike">
                <a:solidFill>
                  <a:schemeClr val="lt1"/>
                </a:solidFill>
                <a:latin typeface="Century Gothic"/>
                <a:ea typeface="Century Gothic"/>
                <a:cs typeface="Century Gothic"/>
                <a:sym typeface="Century Gothic"/>
              </a:rPr>
              <a:t>3. Faculty of Computing and Data Science, Bioinformatics, Boston University</a:t>
            </a:r>
            <a:endParaRPr b="0" i="0" sz="300" u="none" cap="none" strike="noStrike">
              <a:solidFill>
                <a:srgbClr val="000000"/>
              </a:solidFill>
              <a:latin typeface="Arial"/>
              <a:ea typeface="Arial"/>
              <a:cs typeface="Arial"/>
              <a:sym typeface="Arial"/>
            </a:endParaRPr>
          </a:p>
        </p:txBody>
      </p:sp>
      <p:sp>
        <p:nvSpPr>
          <p:cNvPr id="232" name="Google Shape;232;p35"/>
          <p:cNvSpPr txBox="1"/>
          <p:nvPr/>
        </p:nvSpPr>
        <p:spPr>
          <a:xfrm>
            <a:off x="436467" y="3065253"/>
            <a:ext cx="1059000" cy="207300"/>
          </a:xfrm>
          <a:prstGeom prst="rect">
            <a:avLst/>
          </a:prstGeom>
          <a:noFill/>
          <a:ln>
            <a:noFill/>
          </a:ln>
        </p:spPr>
        <p:txBody>
          <a:bodyPr anchorCtr="0" anchor="t" bIns="11150" lIns="22325" spcFirstLastPara="1" rIns="22325" wrap="square" tIns="11150">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Century Gothic"/>
                <a:ea typeface="Century Gothic"/>
                <a:cs typeface="Century Gothic"/>
                <a:sym typeface="Century Gothic"/>
              </a:rPr>
              <a:t>Introduction</a:t>
            </a:r>
            <a:endParaRPr b="0" i="0" sz="500" u="none" cap="none" strike="noStrike">
              <a:solidFill>
                <a:schemeClr val="dk1"/>
              </a:solidFill>
              <a:latin typeface="Arial"/>
              <a:ea typeface="Arial"/>
              <a:cs typeface="Arial"/>
              <a:sym typeface="Arial"/>
            </a:endParaRPr>
          </a:p>
        </p:txBody>
      </p:sp>
      <p:sp>
        <p:nvSpPr>
          <p:cNvPr id="233" name="Google Shape;233;p35"/>
          <p:cNvSpPr txBox="1"/>
          <p:nvPr/>
        </p:nvSpPr>
        <p:spPr>
          <a:xfrm>
            <a:off x="163019" y="3323295"/>
            <a:ext cx="1633500" cy="1713600"/>
          </a:xfrm>
          <a:prstGeom prst="rect">
            <a:avLst/>
          </a:prstGeom>
          <a:noFill/>
          <a:ln>
            <a:noFill/>
          </a:ln>
        </p:spPr>
        <p:txBody>
          <a:bodyPr anchorCtr="0" anchor="t" bIns="11150" lIns="22325" spcFirstLastPara="1" rIns="22325" wrap="square" tIns="11150">
            <a:noAutofit/>
          </a:bodyPr>
          <a:lstStyle/>
          <a:p>
            <a:pPr indent="0" lvl="0" marL="0" marR="0" rtl="0" algn="just">
              <a:lnSpc>
                <a:spcPct val="100000"/>
              </a:lnSpc>
              <a:spcBef>
                <a:spcPts val="0"/>
              </a:spcBef>
              <a:spcAft>
                <a:spcPts val="0"/>
              </a:spcAft>
              <a:buClr>
                <a:srgbClr val="000000"/>
              </a:buClr>
              <a:buSzPts val="300"/>
              <a:buFont typeface="Arial"/>
              <a:buNone/>
            </a:pPr>
            <a:r>
              <a:rPr b="0" i="0" lang="en" sz="600" u="none" cap="none" strike="noStrike">
                <a:solidFill>
                  <a:schemeClr val="dk1"/>
                </a:solidFill>
                <a:latin typeface="Century Gothic"/>
                <a:ea typeface="Century Gothic"/>
                <a:cs typeface="Century Gothic"/>
                <a:sym typeface="Century Gothic"/>
              </a:rPr>
              <a:t>Mitochondria depend on the nuclear genome for most of their proteome, requiring precise coordination of gene expression via anterograde and retrograde signaling pathways. GPS2  plays a crucial role in retrograde signaling, especially under mitochondrial stress</a:t>
            </a:r>
            <a:r>
              <a:rPr b="0" baseline="30000" i="0" lang="en" sz="600" u="none" cap="none" strike="noStrike">
                <a:solidFill>
                  <a:schemeClr val="dk1"/>
                </a:solidFill>
                <a:latin typeface="Century Gothic"/>
                <a:ea typeface="Century Gothic"/>
                <a:cs typeface="Century Gothic"/>
                <a:sym typeface="Century Gothic"/>
              </a:rPr>
              <a:t>[1]</a:t>
            </a:r>
            <a:r>
              <a:rPr b="0" i="0" lang="en" sz="600" u="none" cap="none" strike="noStrike">
                <a:solidFill>
                  <a:schemeClr val="dk1"/>
                </a:solidFill>
                <a:latin typeface="Century Gothic"/>
                <a:ea typeface="Century Gothic"/>
                <a:cs typeface="Century Gothic"/>
                <a:sym typeface="Century Gothic"/>
              </a:rPr>
              <a:t>. It is hypothesized that GPS2 interacts with bZIP transcription factors such as ATF3, ATF4, and ATF5, which are integral to stress response pathways, including the mitochondrial unfolded protein response (mtUPR)</a:t>
            </a:r>
            <a:r>
              <a:rPr b="0" baseline="30000" i="0" lang="en" sz="600" u="none" cap="none" strike="noStrike">
                <a:solidFill>
                  <a:schemeClr val="dk1"/>
                </a:solidFill>
                <a:latin typeface="Century Gothic"/>
                <a:ea typeface="Century Gothic"/>
                <a:cs typeface="Century Gothic"/>
                <a:sym typeface="Century Gothic"/>
              </a:rPr>
              <a:t>[2]</a:t>
            </a:r>
            <a:r>
              <a:rPr b="0" i="0" lang="en" sz="600" u="none" cap="none" strike="noStrike">
                <a:solidFill>
                  <a:schemeClr val="dk1"/>
                </a:solidFill>
                <a:latin typeface="Century Gothic"/>
                <a:ea typeface="Century Gothic"/>
                <a:cs typeface="Century Gothic"/>
                <a:sym typeface="Century Gothic"/>
              </a:rPr>
              <a:t>. Understanding GPS2's recruitment mechanisms with these transcription factors could be essential for understanding mitochondrial stress responses and has implications for metabolic diseases, aging, and cancer.</a:t>
            </a:r>
            <a:endParaRPr b="0" i="0" sz="600" u="none" cap="none" strike="noStrike">
              <a:solidFill>
                <a:schemeClr val="dk1"/>
              </a:solidFill>
              <a:latin typeface="Century Gothic"/>
              <a:ea typeface="Century Gothic"/>
              <a:cs typeface="Century Gothic"/>
              <a:sym typeface="Century Gothic"/>
            </a:endParaRPr>
          </a:p>
        </p:txBody>
      </p:sp>
      <p:sp>
        <p:nvSpPr>
          <p:cNvPr id="234" name="Google Shape;234;p35"/>
          <p:cNvSpPr txBox="1"/>
          <p:nvPr/>
        </p:nvSpPr>
        <p:spPr>
          <a:xfrm>
            <a:off x="1939909" y="1065482"/>
            <a:ext cx="1305000" cy="207300"/>
          </a:xfrm>
          <a:prstGeom prst="rect">
            <a:avLst/>
          </a:prstGeom>
          <a:noFill/>
          <a:ln>
            <a:noFill/>
          </a:ln>
        </p:spPr>
        <p:txBody>
          <a:bodyPr anchorCtr="0" anchor="t" bIns="11150" lIns="22325" spcFirstLastPara="1" rIns="22325" wrap="square" tIns="11150">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Century Gothic"/>
                <a:ea typeface="Century Gothic"/>
                <a:cs typeface="Century Gothic"/>
                <a:sym typeface="Century Gothic"/>
              </a:rPr>
              <a:t>Methodology</a:t>
            </a:r>
            <a:endParaRPr b="0" i="0" sz="500" u="none" cap="none" strike="noStrike">
              <a:solidFill>
                <a:schemeClr val="dk1"/>
              </a:solidFill>
              <a:latin typeface="Arial"/>
              <a:ea typeface="Arial"/>
              <a:cs typeface="Arial"/>
              <a:sym typeface="Arial"/>
            </a:endParaRPr>
          </a:p>
        </p:txBody>
      </p:sp>
      <p:sp>
        <p:nvSpPr>
          <p:cNvPr id="235" name="Google Shape;235;p35"/>
          <p:cNvSpPr txBox="1"/>
          <p:nvPr/>
        </p:nvSpPr>
        <p:spPr>
          <a:xfrm>
            <a:off x="7701241" y="1060307"/>
            <a:ext cx="780000" cy="176400"/>
          </a:xfrm>
          <a:prstGeom prst="rect">
            <a:avLst/>
          </a:prstGeom>
          <a:noFill/>
          <a:ln>
            <a:noFill/>
          </a:ln>
        </p:spPr>
        <p:txBody>
          <a:bodyPr anchorCtr="0" anchor="t" bIns="11150" lIns="22325" spcFirstLastPara="1" rIns="22325" wrap="square" tIns="11150">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lt1"/>
                </a:solidFill>
                <a:latin typeface="Century Gothic"/>
                <a:ea typeface="Century Gothic"/>
                <a:cs typeface="Century Gothic"/>
                <a:sym typeface="Century Gothic"/>
              </a:rPr>
              <a:t>Conclusion</a:t>
            </a:r>
            <a:endParaRPr b="0" i="0" sz="300" u="none" cap="none" strike="noStrike">
              <a:solidFill>
                <a:srgbClr val="000000"/>
              </a:solidFill>
              <a:latin typeface="Arial"/>
              <a:ea typeface="Arial"/>
              <a:cs typeface="Arial"/>
              <a:sym typeface="Arial"/>
            </a:endParaRPr>
          </a:p>
        </p:txBody>
      </p:sp>
      <p:sp>
        <p:nvSpPr>
          <p:cNvPr id="236" name="Google Shape;236;p35"/>
          <p:cNvSpPr txBox="1"/>
          <p:nvPr/>
        </p:nvSpPr>
        <p:spPr>
          <a:xfrm>
            <a:off x="7275398" y="1310369"/>
            <a:ext cx="1633500" cy="68700"/>
          </a:xfrm>
          <a:prstGeom prst="rect">
            <a:avLst/>
          </a:prstGeom>
          <a:noFill/>
          <a:ln>
            <a:noFill/>
          </a:ln>
        </p:spPr>
        <p:txBody>
          <a:bodyPr anchorCtr="0" anchor="t" bIns="11150" lIns="22325" spcFirstLastPara="1" rIns="22325" wrap="square" tIns="11150">
            <a:sp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237" name="Google Shape;237;p35"/>
          <p:cNvSpPr txBox="1"/>
          <p:nvPr/>
        </p:nvSpPr>
        <p:spPr>
          <a:xfrm>
            <a:off x="7461230" y="3999418"/>
            <a:ext cx="1259400" cy="176400"/>
          </a:xfrm>
          <a:prstGeom prst="rect">
            <a:avLst/>
          </a:prstGeom>
          <a:noFill/>
          <a:ln>
            <a:noFill/>
          </a:ln>
        </p:spPr>
        <p:txBody>
          <a:bodyPr anchorCtr="0" anchor="t" bIns="11150" lIns="22325" spcFirstLastPara="1" rIns="22325" wrap="square" tIns="11150">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lt1"/>
                </a:solidFill>
                <a:latin typeface="Century Gothic"/>
                <a:ea typeface="Century Gothic"/>
                <a:cs typeface="Century Gothic"/>
                <a:sym typeface="Century Gothic"/>
              </a:rPr>
              <a:t>References</a:t>
            </a:r>
            <a:endParaRPr b="0" i="0" sz="300" u="none" cap="none" strike="noStrike">
              <a:solidFill>
                <a:srgbClr val="000000"/>
              </a:solidFill>
              <a:latin typeface="Arial"/>
              <a:ea typeface="Arial"/>
              <a:cs typeface="Arial"/>
              <a:sym typeface="Arial"/>
            </a:endParaRPr>
          </a:p>
        </p:txBody>
      </p:sp>
      <p:pic>
        <p:nvPicPr>
          <p:cNvPr id="238" name="Google Shape;238;p35"/>
          <p:cNvPicPr preferRelativeResize="0"/>
          <p:nvPr/>
        </p:nvPicPr>
        <p:blipFill rotWithShape="1">
          <a:blip r:embed="rId3">
            <a:alphaModFix/>
          </a:blip>
          <a:srcRect b="0" l="0" r="0" t="0"/>
          <a:stretch/>
        </p:blipFill>
        <p:spPr>
          <a:xfrm>
            <a:off x="262569" y="330832"/>
            <a:ext cx="894737" cy="399464"/>
          </a:xfrm>
          <a:prstGeom prst="rect">
            <a:avLst/>
          </a:prstGeom>
          <a:noFill/>
          <a:ln>
            <a:noFill/>
          </a:ln>
        </p:spPr>
      </p:pic>
      <p:sp>
        <p:nvSpPr>
          <p:cNvPr id="239" name="Google Shape;239;p35"/>
          <p:cNvSpPr txBox="1"/>
          <p:nvPr/>
        </p:nvSpPr>
        <p:spPr>
          <a:xfrm>
            <a:off x="8191893" y="340134"/>
            <a:ext cx="314700" cy="1278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lt1"/>
                </a:solidFill>
                <a:latin typeface="Calibri"/>
                <a:ea typeface="Calibri"/>
                <a:cs typeface="Calibri"/>
                <a:sym typeface="Calibri"/>
              </a:rPr>
              <a:t>Github</a:t>
            </a:r>
            <a:endParaRPr b="1" i="0" sz="800" u="none" cap="none" strike="noStrike">
              <a:solidFill>
                <a:schemeClr val="lt1"/>
              </a:solidFill>
              <a:highlight>
                <a:schemeClr val="lt1"/>
              </a:highlight>
              <a:latin typeface="Calibri"/>
              <a:ea typeface="Calibri"/>
              <a:cs typeface="Calibri"/>
              <a:sym typeface="Calibri"/>
            </a:endParaRPr>
          </a:p>
        </p:txBody>
      </p:sp>
      <p:pic>
        <p:nvPicPr>
          <p:cNvPr id="240" name="Google Shape;240;p35"/>
          <p:cNvPicPr preferRelativeResize="0"/>
          <p:nvPr/>
        </p:nvPicPr>
        <p:blipFill rotWithShape="1">
          <a:blip r:embed="rId4">
            <a:alphaModFix/>
          </a:blip>
          <a:srcRect b="0" l="0" r="0" t="0"/>
          <a:stretch/>
        </p:blipFill>
        <p:spPr>
          <a:xfrm>
            <a:off x="8589816" y="509916"/>
            <a:ext cx="361291" cy="349739"/>
          </a:xfrm>
          <a:prstGeom prst="rect">
            <a:avLst/>
          </a:prstGeom>
          <a:solidFill>
            <a:schemeClr val="dk1"/>
          </a:solidFill>
          <a:ln>
            <a:noFill/>
          </a:ln>
        </p:spPr>
      </p:pic>
      <p:sp>
        <p:nvSpPr>
          <p:cNvPr id="241" name="Google Shape;241;p35"/>
          <p:cNvSpPr txBox="1"/>
          <p:nvPr/>
        </p:nvSpPr>
        <p:spPr>
          <a:xfrm>
            <a:off x="8496291" y="321531"/>
            <a:ext cx="555000" cy="127800"/>
          </a:xfrm>
          <a:prstGeom prst="rect">
            <a:avLst/>
          </a:prstGeom>
          <a:noFill/>
          <a:ln>
            <a:noFill/>
          </a:ln>
        </p:spPr>
        <p:txBody>
          <a:bodyPr anchorCtr="0" anchor="t" bIns="22325" lIns="22325" spcFirstLastPara="1" rIns="22325" wrap="square" tIns="223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chemeClr val="lt1"/>
                </a:solidFill>
                <a:latin typeface="Calibri"/>
                <a:ea typeface="Calibri"/>
                <a:cs typeface="Calibri"/>
                <a:sym typeface="Calibri"/>
              </a:rPr>
              <a:t>Contact </a:t>
            </a:r>
            <a:r>
              <a:rPr b="1" i="0" lang="en" sz="800" u="none" cap="none" strike="noStrike">
                <a:solidFill>
                  <a:schemeClr val="lt1"/>
                </a:solidFill>
                <a:highlight>
                  <a:schemeClr val="dk1"/>
                </a:highlight>
                <a:latin typeface="Calibri"/>
                <a:ea typeface="Calibri"/>
                <a:cs typeface="Calibri"/>
                <a:sym typeface="Calibri"/>
              </a:rPr>
              <a:t>  </a:t>
            </a:r>
            <a:r>
              <a:rPr b="1" i="0" lang="en" sz="800" u="none" cap="none" strike="noStrike">
                <a:solidFill>
                  <a:schemeClr val="lt1"/>
                </a:solidFill>
                <a:highlight>
                  <a:schemeClr val="lt1"/>
                </a:highlight>
                <a:latin typeface="Calibri"/>
                <a:ea typeface="Calibri"/>
                <a:cs typeface="Calibri"/>
                <a:sym typeface="Calibri"/>
              </a:rPr>
              <a:t>         </a:t>
            </a:r>
            <a:endParaRPr b="1" i="0" sz="800" u="none" cap="none" strike="noStrike">
              <a:solidFill>
                <a:schemeClr val="lt1"/>
              </a:solidFill>
              <a:highlight>
                <a:schemeClr val="lt1"/>
              </a:highlight>
              <a:latin typeface="Calibri"/>
              <a:ea typeface="Calibri"/>
              <a:cs typeface="Calibri"/>
              <a:sym typeface="Calibri"/>
            </a:endParaRPr>
          </a:p>
        </p:txBody>
      </p:sp>
      <p:pic>
        <p:nvPicPr>
          <p:cNvPr id="242" name="Google Shape;242;p35"/>
          <p:cNvPicPr preferRelativeResize="0"/>
          <p:nvPr/>
        </p:nvPicPr>
        <p:blipFill rotWithShape="1">
          <a:blip r:embed="rId5">
            <a:alphaModFix/>
          </a:blip>
          <a:srcRect b="0" l="0" r="0" t="0"/>
          <a:stretch/>
        </p:blipFill>
        <p:spPr>
          <a:xfrm>
            <a:off x="8155674" y="509916"/>
            <a:ext cx="361291" cy="349739"/>
          </a:xfrm>
          <a:prstGeom prst="rect">
            <a:avLst/>
          </a:prstGeom>
          <a:noFill/>
          <a:ln>
            <a:noFill/>
          </a:ln>
        </p:spPr>
      </p:pic>
      <p:cxnSp>
        <p:nvCxnSpPr>
          <p:cNvPr id="243" name="Google Shape;243;p35"/>
          <p:cNvCxnSpPr/>
          <p:nvPr/>
        </p:nvCxnSpPr>
        <p:spPr>
          <a:xfrm flipH="1" rot="10800000">
            <a:off x="627312" y="1287753"/>
            <a:ext cx="683100" cy="2400"/>
          </a:xfrm>
          <a:prstGeom prst="straightConnector1">
            <a:avLst/>
          </a:prstGeom>
          <a:noFill/>
          <a:ln cap="flat" cmpd="sng" w="9525">
            <a:solidFill>
              <a:schemeClr val="lt1"/>
            </a:solidFill>
            <a:prstDash val="solid"/>
            <a:round/>
            <a:headEnd len="med" w="med" type="oval"/>
            <a:tailEnd len="med" w="med" type="oval"/>
          </a:ln>
        </p:spPr>
      </p:cxnSp>
      <p:cxnSp>
        <p:nvCxnSpPr>
          <p:cNvPr id="244" name="Google Shape;244;p35"/>
          <p:cNvCxnSpPr/>
          <p:nvPr/>
        </p:nvCxnSpPr>
        <p:spPr>
          <a:xfrm flipH="1" rot="10800000">
            <a:off x="496546" y="3265259"/>
            <a:ext cx="938700" cy="3000"/>
          </a:xfrm>
          <a:prstGeom prst="straightConnector1">
            <a:avLst/>
          </a:prstGeom>
          <a:noFill/>
          <a:ln cap="flat" cmpd="sng" w="9525">
            <a:solidFill>
              <a:schemeClr val="lt1"/>
            </a:solidFill>
            <a:prstDash val="solid"/>
            <a:round/>
            <a:headEnd len="med" w="med" type="oval"/>
            <a:tailEnd len="med" w="med" type="oval"/>
          </a:ln>
        </p:spPr>
      </p:cxnSp>
      <p:sp>
        <p:nvSpPr>
          <p:cNvPr id="245" name="Google Shape;245;p35"/>
          <p:cNvSpPr txBox="1"/>
          <p:nvPr/>
        </p:nvSpPr>
        <p:spPr>
          <a:xfrm>
            <a:off x="4855186" y="1065482"/>
            <a:ext cx="938700" cy="207300"/>
          </a:xfrm>
          <a:prstGeom prst="rect">
            <a:avLst/>
          </a:prstGeom>
          <a:noFill/>
          <a:ln>
            <a:noFill/>
          </a:ln>
        </p:spPr>
        <p:txBody>
          <a:bodyPr anchorCtr="0" anchor="t" bIns="11150" lIns="22325" spcFirstLastPara="1" rIns="22325" wrap="square" tIns="11150">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Century Gothic"/>
                <a:ea typeface="Century Gothic"/>
                <a:cs typeface="Century Gothic"/>
                <a:sym typeface="Century Gothic"/>
              </a:rPr>
              <a:t>Results</a:t>
            </a:r>
            <a:endParaRPr b="0" i="0" sz="500" u="none" cap="none" strike="noStrike">
              <a:solidFill>
                <a:srgbClr val="000000"/>
              </a:solidFill>
              <a:latin typeface="Arial"/>
              <a:ea typeface="Arial"/>
              <a:cs typeface="Arial"/>
              <a:sym typeface="Arial"/>
            </a:endParaRPr>
          </a:p>
        </p:txBody>
      </p:sp>
      <p:cxnSp>
        <p:nvCxnSpPr>
          <p:cNvPr id="246" name="Google Shape;246;p35"/>
          <p:cNvCxnSpPr/>
          <p:nvPr/>
        </p:nvCxnSpPr>
        <p:spPr>
          <a:xfrm>
            <a:off x="5033335" y="1266264"/>
            <a:ext cx="582600" cy="900"/>
          </a:xfrm>
          <a:prstGeom prst="straightConnector1">
            <a:avLst/>
          </a:prstGeom>
          <a:noFill/>
          <a:ln cap="flat" cmpd="sng" w="9525">
            <a:solidFill>
              <a:schemeClr val="lt1"/>
            </a:solidFill>
            <a:prstDash val="solid"/>
            <a:round/>
            <a:headEnd len="med" w="med" type="oval"/>
            <a:tailEnd len="med" w="med" type="oval"/>
          </a:ln>
        </p:spPr>
      </p:cxnSp>
      <p:sp>
        <p:nvSpPr>
          <p:cNvPr id="247" name="Google Shape;247;p35"/>
          <p:cNvSpPr txBox="1"/>
          <p:nvPr/>
        </p:nvSpPr>
        <p:spPr>
          <a:xfrm>
            <a:off x="4881876" y="1290098"/>
            <a:ext cx="2200800" cy="2580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chemeClr val="dk1"/>
              </a:buClr>
              <a:buSzPts val="300"/>
              <a:buFont typeface="Arial"/>
              <a:buNone/>
            </a:pPr>
            <a:r>
              <a:rPr b="1" i="1" lang="en" sz="300" u="none" cap="none" strike="noStrike">
                <a:solidFill>
                  <a:schemeClr val="dk1"/>
                </a:solidFill>
                <a:latin typeface="Calibri"/>
                <a:ea typeface="Calibri"/>
                <a:cs typeface="Calibri"/>
                <a:sym typeface="Calibri"/>
              </a:rPr>
              <a:t>Figure 1: </a:t>
            </a:r>
            <a:r>
              <a:rPr b="1" i="0" lang="en" sz="300" u="none" cap="none" strike="noStrike">
                <a:solidFill>
                  <a:schemeClr val="dk1"/>
                </a:solidFill>
                <a:latin typeface="Calibri"/>
                <a:ea typeface="Calibri"/>
                <a:cs typeface="Calibri"/>
                <a:sym typeface="Calibri"/>
              </a:rPr>
              <a:t>Plot Profiles of GPS2 and ATF4 Signals Across Different Conditions</a:t>
            </a:r>
            <a:br>
              <a:rPr b="1" i="0" lang="en" sz="300" u="none" cap="none" strike="noStrike">
                <a:solidFill>
                  <a:schemeClr val="dk1"/>
                </a:solidFill>
                <a:latin typeface="Calibri"/>
                <a:ea typeface="Calibri"/>
                <a:cs typeface="Calibri"/>
                <a:sym typeface="Calibri"/>
              </a:rPr>
            </a:br>
            <a:r>
              <a:rPr b="0" i="0" lang="en" sz="300" u="none" cap="none" strike="noStrike">
                <a:solidFill>
                  <a:schemeClr val="dk1"/>
                </a:solidFill>
                <a:latin typeface="Calibri"/>
                <a:ea typeface="Calibri"/>
                <a:cs typeface="Calibri"/>
                <a:sym typeface="Calibri"/>
              </a:rPr>
              <a:t>This figure presents the plot profiles of GPS2 and ATF4 signals, segmented by experimental conditions. Each plot centers on ATF4 peaks, allowing for a comparison of signal intensities and distributions relative to ATF4 binding sites. The profiles illustrate how GPS2 binding behavior varies across the different conditions, revealing the interaction between GPS2 and ATF4 under specific cellular contexts.</a:t>
            </a:r>
            <a:endParaRPr b="0" i="0" sz="400" u="none" cap="none" strike="noStrike">
              <a:solidFill>
                <a:schemeClr val="dk1"/>
              </a:solidFill>
              <a:latin typeface="Calibri"/>
              <a:ea typeface="Calibri"/>
              <a:cs typeface="Calibri"/>
              <a:sym typeface="Calibri"/>
            </a:endParaRPr>
          </a:p>
        </p:txBody>
      </p:sp>
      <p:pic>
        <p:nvPicPr>
          <p:cNvPr id="248" name="Google Shape;248;p35"/>
          <p:cNvPicPr preferRelativeResize="0"/>
          <p:nvPr/>
        </p:nvPicPr>
        <p:blipFill rotWithShape="1">
          <a:blip r:embed="rId6">
            <a:alphaModFix/>
          </a:blip>
          <a:srcRect b="937" l="6752" r="68257" t="2435"/>
          <a:stretch/>
        </p:blipFill>
        <p:spPr>
          <a:xfrm>
            <a:off x="1912451" y="1325504"/>
            <a:ext cx="1410715" cy="3583850"/>
          </a:xfrm>
          <a:prstGeom prst="rect">
            <a:avLst/>
          </a:prstGeom>
          <a:solidFill>
            <a:srgbClr val="888888"/>
          </a:solidFill>
          <a:ln>
            <a:noFill/>
          </a:ln>
        </p:spPr>
      </p:pic>
      <p:sp>
        <p:nvSpPr>
          <p:cNvPr id="249" name="Google Shape;249;p35"/>
          <p:cNvSpPr txBox="1"/>
          <p:nvPr/>
        </p:nvSpPr>
        <p:spPr>
          <a:xfrm>
            <a:off x="4866137" y="1569392"/>
            <a:ext cx="1345800" cy="172800"/>
          </a:xfrm>
          <a:prstGeom prst="rect">
            <a:avLst/>
          </a:prstGeom>
          <a:noFill/>
          <a:ln>
            <a:noFill/>
          </a:ln>
        </p:spPr>
        <p:txBody>
          <a:bodyPr anchorCtr="0" anchor="t" bIns="22325" lIns="22325" spcFirstLastPara="1" rIns="22325" wrap="square" tIns="22325">
            <a:noAutofit/>
          </a:bodyPr>
          <a:lstStyle/>
          <a:p>
            <a:pPr indent="-101600" lvl="0" marL="114300" marR="0" rtl="0" algn="l">
              <a:lnSpc>
                <a:spcPct val="100000"/>
              </a:lnSpc>
              <a:spcBef>
                <a:spcPts val="0"/>
              </a:spcBef>
              <a:spcAft>
                <a:spcPts val="0"/>
              </a:spcAft>
              <a:buClr>
                <a:schemeClr val="lt1"/>
              </a:buClr>
              <a:buSzPts val="600"/>
              <a:buFont typeface="Century Gothic"/>
              <a:buAutoNum type="arabicPeriod"/>
            </a:pPr>
            <a:r>
              <a:rPr b="1" i="0" lang="en" sz="600" u="none" cap="none" strike="noStrike">
                <a:solidFill>
                  <a:schemeClr val="lt1"/>
                </a:solidFill>
                <a:latin typeface="Century Gothic"/>
                <a:ea typeface="Century Gothic"/>
                <a:cs typeface="Century Gothic"/>
                <a:sym typeface="Century Gothic"/>
              </a:rPr>
              <a:t>Adipocyte - Differentiation</a:t>
            </a:r>
            <a:endParaRPr b="0" i="0" sz="100" u="none" cap="none" strike="noStrike">
              <a:solidFill>
                <a:srgbClr val="000000"/>
              </a:solidFill>
              <a:latin typeface="Arial"/>
              <a:ea typeface="Arial"/>
              <a:cs typeface="Arial"/>
              <a:sym typeface="Arial"/>
            </a:endParaRPr>
          </a:p>
        </p:txBody>
      </p:sp>
      <p:graphicFrame>
        <p:nvGraphicFramePr>
          <p:cNvPr id="250" name="Google Shape;250;p35"/>
          <p:cNvGraphicFramePr/>
          <p:nvPr/>
        </p:nvGraphicFramePr>
        <p:xfrm>
          <a:off x="3662931" y="2703348"/>
          <a:ext cx="3000000" cy="3000000"/>
        </p:xfrm>
        <a:graphic>
          <a:graphicData uri="http://schemas.openxmlformats.org/drawingml/2006/table">
            <a:tbl>
              <a:tblPr>
                <a:noFill/>
                <a:tableStyleId>{0DC36284-27A1-4389-9642-44102B4506ED}</a:tableStyleId>
              </a:tblPr>
              <a:tblGrid>
                <a:gridCol w="1112600"/>
              </a:tblGrid>
              <a:tr h="109500">
                <a:tc>
                  <a:txBody>
                    <a:bodyPr/>
                    <a:lstStyle/>
                    <a:p>
                      <a:pPr indent="0" lvl="0" marL="0" marR="0" rtl="0" algn="ctr">
                        <a:lnSpc>
                          <a:spcPct val="100000"/>
                        </a:lnSpc>
                        <a:spcBef>
                          <a:spcPts val="0"/>
                        </a:spcBef>
                        <a:spcAft>
                          <a:spcPts val="0"/>
                        </a:spcAft>
                        <a:buClr>
                          <a:srgbClr val="000000"/>
                        </a:buClr>
                        <a:buSzPts val="400"/>
                        <a:buFont typeface="Arial"/>
                        <a:buNone/>
                      </a:pPr>
                      <a:r>
                        <a:rPr b="1" lang="en" sz="400" u="none" cap="none" strike="noStrike"/>
                        <a:t>Gene Set Enrichment</a:t>
                      </a:r>
                      <a:endParaRPr b="1" sz="4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14100">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HALLMARK UNFOLDED PROTEIN RESPONSE</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00FF00"/>
                    </a:solidFill>
                  </a:tcPr>
                </a:tc>
              </a:tr>
              <a:tr h="114100">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solidFill>
                            <a:schemeClr val="dk1"/>
                          </a:solidFill>
                          <a:highlight>
                            <a:srgbClr val="FFFFFF"/>
                          </a:highlight>
                        </a:rPr>
                        <a:t>HALLMARK_MTORC1_SIGNALING</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14100">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HALLMARK INTERFERON GAMMA RESPONSE</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14100">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HALLMARK </a:t>
                      </a:r>
                      <a:r>
                        <a:rPr lang="en" sz="300" u="none" cap="none" strike="noStrike">
                          <a:solidFill>
                            <a:schemeClr val="dk1"/>
                          </a:solidFill>
                        </a:rPr>
                        <a:t>PI3K AKT MTOR SIGNALING</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10325">
                <a:tc>
                  <a:txBody>
                    <a:bodyPr/>
                    <a:lstStyle/>
                    <a:p>
                      <a:pPr indent="0" lvl="0" marL="0" marR="0" rtl="0" algn="ctr">
                        <a:lnSpc>
                          <a:spcPct val="100000"/>
                        </a:lnSpc>
                        <a:spcBef>
                          <a:spcPts val="0"/>
                        </a:spcBef>
                        <a:spcAft>
                          <a:spcPts val="0"/>
                        </a:spcAft>
                        <a:buClr>
                          <a:schemeClr val="dk1"/>
                        </a:buClr>
                        <a:buSzPts val="300"/>
                        <a:buFont typeface="Arial"/>
                        <a:buNone/>
                      </a:pPr>
                      <a:r>
                        <a:rPr lang="en" sz="300" u="none" cap="none" strike="noStrike">
                          <a:solidFill>
                            <a:schemeClr val="dk1"/>
                          </a:solidFill>
                        </a:rPr>
                        <a:t>HALLMARK APICAL SURFACE</a:t>
                      </a:r>
                      <a:endParaRPr sz="300" u="none" cap="none" strike="noStrike">
                        <a:highlight>
                          <a:srgbClr val="FFFFFF"/>
                        </a:highlight>
                      </a:endParaRPr>
                    </a:p>
                  </a:txBody>
                  <a:tcPr marT="4650" marB="4650" marR="13950" marL="1395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10325">
                <a:tc>
                  <a:txBody>
                    <a:bodyPr/>
                    <a:lstStyle/>
                    <a:p>
                      <a:pPr indent="0" lvl="0" marL="0" marR="0" rtl="0" algn="ctr">
                        <a:lnSpc>
                          <a:spcPct val="110000"/>
                        </a:lnSpc>
                        <a:spcBef>
                          <a:spcPts val="0"/>
                        </a:spcBef>
                        <a:spcAft>
                          <a:spcPts val="0"/>
                        </a:spcAft>
                        <a:buClr>
                          <a:srgbClr val="000000"/>
                        </a:buClr>
                        <a:buSzPts val="300"/>
                        <a:buFont typeface="Arial"/>
                        <a:buNone/>
                      </a:pPr>
                      <a:r>
                        <a:rPr lang="en" sz="300" u="none" cap="none" strike="noStrike">
                          <a:highlight>
                            <a:srgbClr val="FFFFFF"/>
                          </a:highlight>
                        </a:rPr>
                        <a:t>HALLMARK_UV_RESPONSE_UP</a:t>
                      </a:r>
                      <a:endParaRPr sz="300" u="none" cap="none" strike="noStrike">
                        <a:highlight>
                          <a:srgbClr val="FFFFFF"/>
                        </a:highlight>
                      </a:endParaRPr>
                    </a:p>
                  </a:txBody>
                  <a:tcPr marT="4650" marB="4650" marR="13950" marL="1395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pic>
        <p:nvPicPr>
          <p:cNvPr id="251" name="Google Shape;251;p35"/>
          <p:cNvPicPr preferRelativeResize="0"/>
          <p:nvPr/>
        </p:nvPicPr>
        <p:blipFill rotWithShape="1">
          <a:blip r:embed="rId7">
            <a:alphaModFix/>
          </a:blip>
          <a:srcRect b="4240" l="1864" r="1516" t="22137"/>
          <a:stretch/>
        </p:blipFill>
        <p:spPr>
          <a:xfrm>
            <a:off x="4893731" y="1693373"/>
            <a:ext cx="1032231" cy="535839"/>
          </a:xfrm>
          <a:prstGeom prst="rect">
            <a:avLst/>
          </a:prstGeom>
          <a:solidFill>
            <a:srgbClr val="888888"/>
          </a:solidFill>
          <a:ln>
            <a:noFill/>
          </a:ln>
        </p:spPr>
      </p:pic>
      <p:graphicFrame>
        <p:nvGraphicFramePr>
          <p:cNvPr id="252" name="Google Shape;252;p35"/>
          <p:cNvGraphicFramePr/>
          <p:nvPr/>
        </p:nvGraphicFramePr>
        <p:xfrm>
          <a:off x="3835775" y="1449850"/>
          <a:ext cx="3000000" cy="3000000"/>
        </p:xfrm>
        <a:graphic>
          <a:graphicData uri="http://schemas.openxmlformats.org/drawingml/2006/table">
            <a:tbl>
              <a:tblPr>
                <a:noFill/>
                <a:tableStyleId>{0DC36284-27A1-4389-9642-44102B4506ED}</a:tableStyleId>
              </a:tblPr>
              <a:tblGrid>
                <a:gridCol w="354425"/>
                <a:gridCol w="290750"/>
                <a:gridCol w="294575"/>
              </a:tblGrid>
              <a:tr h="90875">
                <a:tc>
                  <a:txBody>
                    <a:bodyPr/>
                    <a:lstStyle/>
                    <a:p>
                      <a:pPr indent="0" lvl="0" marL="0" marR="0" rtl="0" algn="ctr">
                        <a:lnSpc>
                          <a:spcPct val="100000"/>
                        </a:lnSpc>
                        <a:spcBef>
                          <a:spcPts val="0"/>
                        </a:spcBef>
                        <a:spcAft>
                          <a:spcPts val="0"/>
                        </a:spcAft>
                        <a:buClr>
                          <a:srgbClr val="000000"/>
                        </a:buClr>
                        <a:buSzPts val="300"/>
                        <a:buFont typeface="Arial"/>
                        <a:buNone/>
                      </a:pPr>
                      <a:r>
                        <a:t/>
                      </a:r>
                      <a:endParaRPr b="1"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ATF4</a:t>
                      </a:r>
                      <a:endParaRPr b="1"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hMerge="1"/>
              </a:tr>
              <a:tr h="90875">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GPS2 </a:t>
                      </a:r>
                      <a:endParaRPr b="1" sz="300" u="none" cap="none" strike="noStrike"/>
                    </a:p>
                  </a:txBody>
                  <a:tcPr marT="22325" marB="22325" marR="22325" marL="223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Amino Acid Deprivation (ATF4_ISR)</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b="0" lang="en" sz="300" u="none" cap="none" strike="noStrike"/>
                        <a:t>(525)</a:t>
                      </a:r>
                      <a:endParaRPr b="0"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ER Stress (ATF4_WT)</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b="0" lang="en" sz="300" u="none" cap="none" strike="noStrike"/>
                        <a:t>(20639)</a:t>
                      </a:r>
                      <a:endParaRPr b="0"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83875">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GPS2_day0</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b="1" lang="en" sz="300" u="none" cap="none" strike="noStrike"/>
                        <a:t> </a:t>
                      </a:r>
                      <a:r>
                        <a:rPr lang="en" sz="300" u="none" cap="none" strike="noStrike"/>
                        <a:t>  (11917)</a:t>
                      </a:r>
                      <a:endParaRPr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387</a:t>
                      </a:r>
                      <a:endParaRPr sz="300" u="none" cap="none" strike="noStrike"/>
                    </a:p>
                    <a:p>
                      <a:pPr indent="0" lvl="0" marL="0" marR="0" rtl="0" algn="ctr">
                        <a:lnSpc>
                          <a:spcPct val="100000"/>
                        </a:lnSpc>
                        <a:spcBef>
                          <a:spcPts val="0"/>
                        </a:spcBef>
                        <a:spcAft>
                          <a:spcPts val="0"/>
                        </a:spcAft>
                        <a:buClr>
                          <a:srgbClr val="000000"/>
                        </a:buClr>
                        <a:buSzPts val="200"/>
                        <a:buFont typeface="Arial"/>
                        <a:buNone/>
                      </a:pPr>
                      <a:r>
                        <a:rPr lang="en" sz="200" u="none" cap="none" strike="noStrike"/>
                        <a:t>Distal intergenic(50%)</a:t>
                      </a:r>
                      <a:endParaRPr sz="2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266</a:t>
                      </a:r>
                      <a:endParaRPr sz="300" u="none" cap="none" strike="noStrike"/>
                    </a:p>
                    <a:p>
                      <a:pPr indent="0" lvl="0" marL="0" marR="0" rtl="0" algn="ctr">
                        <a:lnSpc>
                          <a:spcPct val="100000"/>
                        </a:lnSpc>
                        <a:spcBef>
                          <a:spcPts val="0"/>
                        </a:spcBef>
                        <a:spcAft>
                          <a:spcPts val="0"/>
                        </a:spcAft>
                        <a:buClr>
                          <a:srgbClr val="000000"/>
                        </a:buClr>
                        <a:buSzPts val="200"/>
                        <a:buFont typeface="Arial"/>
                        <a:buNone/>
                      </a:pPr>
                      <a:r>
                        <a:rPr lang="en" sz="200" u="none" cap="none" strike="noStrike"/>
                        <a:t>Promoter(83%)</a:t>
                      </a:r>
                      <a:endParaRPr sz="2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83875">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GPS2_day6</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lang="en" sz="300" u="none" cap="none" strike="noStrike"/>
                        <a:t>(44523)</a:t>
                      </a:r>
                      <a:endParaRPr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378</a:t>
                      </a:r>
                      <a:endParaRPr sz="300" u="none" cap="none" strike="noStrike"/>
                    </a:p>
                    <a:p>
                      <a:pPr indent="0" lvl="0" marL="0" marR="0" rtl="0" algn="ctr">
                        <a:lnSpc>
                          <a:spcPct val="100000"/>
                        </a:lnSpc>
                        <a:spcBef>
                          <a:spcPts val="0"/>
                        </a:spcBef>
                        <a:spcAft>
                          <a:spcPts val="0"/>
                        </a:spcAft>
                        <a:buClr>
                          <a:schemeClr val="dk1"/>
                        </a:buClr>
                        <a:buSzPts val="300"/>
                        <a:buFont typeface="Arial"/>
                        <a:buNone/>
                      </a:pPr>
                      <a:r>
                        <a:rPr lang="en" sz="200" u="none" cap="none" strike="noStrike">
                          <a:solidFill>
                            <a:schemeClr val="dk1"/>
                          </a:solidFill>
                        </a:rPr>
                        <a:t>Distal intergenic(51%)</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691</a:t>
                      </a:r>
                      <a:endParaRPr sz="300" u="none" cap="none" strike="noStrike"/>
                    </a:p>
                    <a:p>
                      <a:pPr indent="0" lvl="0" marL="0" marR="0" rtl="0" algn="ctr">
                        <a:lnSpc>
                          <a:spcPct val="100000"/>
                        </a:lnSpc>
                        <a:spcBef>
                          <a:spcPts val="0"/>
                        </a:spcBef>
                        <a:spcAft>
                          <a:spcPts val="0"/>
                        </a:spcAft>
                        <a:buClr>
                          <a:schemeClr val="dk1"/>
                        </a:buClr>
                        <a:buSzPts val="300"/>
                        <a:buFont typeface="Arial"/>
                        <a:buNone/>
                      </a:pPr>
                      <a:r>
                        <a:rPr lang="en" sz="200" u="none" cap="none" strike="noStrike">
                          <a:solidFill>
                            <a:schemeClr val="dk1"/>
                          </a:solidFill>
                        </a:rPr>
                        <a:t>Promoter(76%)</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3400">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GPS2_withFCCP</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b="1" lang="en" sz="300" u="none" cap="none" strike="noStrike"/>
                        <a:t> </a:t>
                      </a:r>
                      <a:r>
                        <a:rPr lang="en" sz="300" u="none" cap="none" strike="noStrike"/>
                        <a:t>(2623)</a:t>
                      </a:r>
                      <a:endParaRPr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0</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10</a:t>
                      </a:r>
                      <a:endParaRPr sz="300" u="none" cap="none" strike="noStrike"/>
                    </a:p>
                    <a:p>
                      <a:pPr indent="0" lvl="0" marL="0" marR="0" rtl="0" algn="ctr">
                        <a:lnSpc>
                          <a:spcPct val="100000"/>
                        </a:lnSpc>
                        <a:spcBef>
                          <a:spcPts val="0"/>
                        </a:spcBef>
                        <a:spcAft>
                          <a:spcPts val="0"/>
                        </a:spcAft>
                        <a:buClr>
                          <a:schemeClr val="dk1"/>
                        </a:buClr>
                        <a:buSzPts val="300"/>
                        <a:buFont typeface="Arial"/>
                        <a:buNone/>
                      </a:pPr>
                      <a:r>
                        <a:rPr lang="en" sz="200" u="none" cap="none" strike="noStrike">
                          <a:solidFill>
                            <a:schemeClr val="dk1"/>
                          </a:solidFill>
                        </a:rPr>
                        <a:t>Promoter(40%)</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A9999"/>
                    </a:solidFill>
                  </a:tcPr>
                </a:tc>
              </a:tr>
              <a:tr h="109450">
                <a:tc>
                  <a:txBody>
                    <a:bodyPr/>
                    <a:lstStyle/>
                    <a:p>
                      <a:pPr indent="0" lvl="0" marL="0" marR="0" rtl="0" algn="ctr">
                        <a:lnSpc>
                          <a:spcPct val="100000"/>
                        </a:lnSpc>
                        <a:spcBef>
                          <a:spcPts val="0"/>
                        </a:spcBef>
                        <a:spcAft>
                          <a:spcPts val="0"/>
                        </a:spcAft>
                        <a:buClr>
                          <a:srgbClr val="000000"/>
                        </a:buClr>
                        <a:buSzPts val="300"/>
                        <a:buFont typeface="Arial"/>
                        <a:buNone/>
                      </a:pPr>
                      <a:r>
                        <a:rPr b="1" lang="en" sz="300" u="none" cap="none" strike="noStrike"/>
                        <a:t>GPS2_siCTL</a:t>
                      </a:r>
                      <a:endParaRPr b="1" sz="300" u="none" cap="none" strike="noStrike"/>
                    </a:p>
                    <a:p>
                      <a:pPr indent="0" lvl="0" marL="0" marR="0" rtl="0" algn="ctr">
                        <a:lnSpc>
                          <a:spcPct val="100000"/>
                        </a:lnSpc>
                        <a:spcBef>
                          <a:spcPts val="0"/>
                        </a:spcBef>
                        <a:spcAft>
                          <a:spcPts val="0"/>
                        </a:spcAft>
                        <a:buClr>
                          <a:srgbClr val="000000"/>
                        </a:buClr>
                        <a:buSzPts val="300"/>
                        <a:buFont typeface="Arial"/>
                        <a:buNone/>
                      </a:pPr>
                      <a:r>
                        <a:rPr lang="en" sz="300" u="none" cap="none" strike="noStrike"/>
                        <a:t>(10059)</a:t>
                      </a:r>
                      <a:endParaRPr sz="300" u="none" cap="none" strike="noStrike"/>
                    </a:p>
                  </a:txBody>
                  <a:tcPr marT="22325" marB="22325" marR="22325" marL="223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111</a:t>
                      </a:r>
                      <a:endParaRPr sz="200" u="none" cap="none" strike="noStrike"/>
                    </a:p>
                    <a:p>
                      <a:pPr indent="0" lvl="0" marL="0" marR="0" rtl="0" algn="ctr">
                        <a:lnSpc>
                          <a:spcPct val="100000"/>
                        </a:lnSpc>
                        <a:spcBef>
                          <a:spcPts val="0"/>
                        </a:spcBef>
                        <a:spcAft>
                          <a:spcPts val="0"/>
                        </a:spcAft>
                        <a:buClr>
                          <a:schemeClr val="dk1"/>
                        </a:buClr>
                        <a:buSzPts val="300"/>
                        <a:buFont typeface="Arial"/>
                        <a:buNone/>
                      </a:pPr>
                      <a:r>
                        <a:rPr lang="en" sz="200" u="none" cap="none" strike="noStrike">
                          <a:solidFill>
                            <a:schemeClr val="dk1"/>
                          </a:solidFill>
                        </a:rPr>
                        <a:t>Distal intergenic(40%)</a:t>
                      </a:r>
                      <a:endParaRPr sz="2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300"/>
                        <a:buFont typeface="Arial"/>
                        <a:buNone/>
                      </a:pPr>
                      <a:r>
                        <a:rPr lang="en" sz="300" u="none" cap="none" strike="noStrike"/>
                        <a:t>301</a:t>
                      </a:r>
                      <a:endParaRPr sz="300" u="none" cap="none" strike="noStrike"/>
                    </a:p>
                    <a:p>
                      <a:pPr indent="0" lvl="0" marL="0" marR="0" rtl="0" algn="ctr">
                        <a:lnSpc>
                          <a:spcPct val="100000"/>
                        </a:lnSpc>
                        <a:spcBef>
                          <a:spcPts val="0"/>
                        </a:spcBef>
                        <a:spcAft>
                          <a:spcPts val="0"/>
                        </a:spcAft>
                        <a:buClr>
                          <a:schemeClr val="dk1"/>
                        </a:buClr>
                        <a:buSzPts val="300"/>
                        <a:buFont typeface="Arial"/>
                        <a:buNone/>
                      </a:pPr>
                      <a:r>
                        <a:rPr lang="en" sz="200" u="none" cap="none" strike="noStrike">
                          <a:solidFill>
                            <a:schemeClr val="dk1"/>
                          </a:solidFill>
                        </a:rPr>
                        <a:t>Promoter(95%)</a:t>
                      </a:r>
                      <a:endParaRPr sz="300" u="none" cap="none" strike="noStrike"/>
                    </a:p>
                  </a:txBody>
                  <a:tcPr marT="22325" marB="22325" marR="22325" marL="223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sp>
        <p:nvSpPr>
          <p:cNvPr id="253" name="Google Shape;253;p35"/>
          <p:cNvSpPr txBox="1"/>
          <p:nvPr/>
        </p:nvSpPr>
        <p:spPr>
          <a:xfrm rot="-1948821">
            <a:off x="3572673" y="1961454"/>
            <a:ext cx="287704" cy="77149"/>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300"/>
              <a:buFont typeface="Arial"/>
              <a:buNone/>
            </a:pPr>
            <a:r>
              <a:rPr b="1" i="0" lang="en" sz="300" u="none" cap="none" strike="noStrike">
                <a:solidFill>
                  <a:schemeClr val="dk1"/>
                </a:solidFill>
                <a:latin typeface="Calibri"/>
                <a:ea typeface="Calibri"/>
                <a:cs typeface="Calibri"/>
                <a:sym typeface="Calibri"/>
              </a:rPr>
              <a:t>Differentiation</a:t>
            </a:r>
            <a:endParaRPr b="1" i="0" sz="300" u="none" cap="none" strike="noStrike">
              <a:solidFill>
                <a:schemeClr val="dk1"/>
              </a:solidFill>
              <a:latin typeface="Calibri"/>
              <a:ea typeface="Calibri"/>
              <a:cs typeface="Calibri"/>
              <a:sym typeface="Calibri"/>
            </a:endParaRPr>
          </a:p>
        </p:txBody>
      </p:sp>
      <p:sp>
        <p:nvSpPr>
          <p:cNvPr id="254" name="Google Shape;254;p35"/>
          <p:cNvSpPr txBox="1"/>
          <p:nvPr/>
        </p:nvSpPr>
        <p:spPr>
          <a:xfrm rot="-1921787">
            <a:off x="3604516" y="2163380"/>
            <a:ext cx="223999" cy="77083"/>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300"/>
              <a:buFont typeface="Arial"/>
              <a:buNone/>
            </a:pPr>
            <a:r>
              <a:rPr b="1" i="0" lang="en" sz="300" u="none" cap="none" strike="noStrike">
                <a:solidFill>
                  <a:schemeClr val="dk1"/>
                </a:solidFill>
                <a:latin typeface="Calibri"/>
                <a:ea typeface="Calibri"/>
                <a:cs typeface="Calibri"/>
                <a:sym typeface="Calibri"/>
              </a:rPr>
              <a:t>Treatment</a:t>
            </a:r>
            <a:endParaRPr b="1" i="0" sz="300" u="none" cap="none" strike="noStrike">
              <a:solidFill>
                <a:schemeClr val="dk1"/>
              </a:solidFill>
              <a:latin typeface="Calibri"/>
              <a:ea typeface="Calibri"/>
              <a:cs typeface="Calibri"/>
              <a:sym typeface="Calibri"/>
            </a:endParaRPr>
          </a:p>
        </p:txBody>
      </p:sp>
      <p:sp>
        <p:nvSpPr>
          <p:cNvPr id="255" name="Google Shape;255;p35"/>
          <p:cNvSpPr txBox="1"/>
          <p:nvPr/>
        </p:nvSpPr>
        <p:spPr>
          <a:xfrm rot="-1941471">
            <a:off x="3623189" y="2317182"/>
            <a:ext cx="232621" cy="76988"/>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300"/>
              <a:buFont typeface="Arial"/>
              <a:buNone/>
            </a:pPr>
            <a:r>
              <a:rPr b="1" i="0" lang="en" sz="300" u="none" cap="none" strike="noStrike">
                <a:solidFill>
                  <a:schemeClr val="dk1"/>
                </a:solidFill>
                <a:latin typeface="Calibri"/>
                <a:ea typeface="Calibri"/>
                <a:cs typeface="Calibri"/>
                <a:sym typeface="Calibri"/>
              </a:rPr>
              <a:t>Wild-type</a:t>
            </a:r>
            <a:endParaRPr b="1" i="0" sz="300" u="none" cap="none" strike="noStrike">
              <a:solidFill>
                <a:schemeClr val="dk1"/>
              </a:solidFill>
              <a:latin typeface="Calibri"/>
              <a:ea typeface="Calibri"/>
              <a:cs typeface="Calibri"/>
              <a:sym typeface="Calibri"/>
            </a:endParaRPr>
          </a:p>
        </p:txBody>
      </p:sp>
      <p:sp>
        <p:nvSpPr>
          <p:cNvPr id="256" name="Google Shape;256;p35"/>
          <p:cNvSpPr txBox="1"/>
          <p:nvPr/>
        </p:nvSpPr>
        <p:spPr>
          <a:xfrm>
            <a:off x="4873694" y="2237087"/>
            <a:ext cx="1844100" cy="1728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chemeClr val="lt1"/>
                </a:solidFill>
                <a:latin typeface="Century Gothic"/>
                <a:ea typeface="Century Gothic"/>
                <a:cs typeface="Century Gothic"/>
                <a:sym typeface="Century Gothic"/>
              </a:rPr>
              <a:t>2. Mitochondrial Stress</a:t>
            </a:r>
            <a:endParaRPr b="0" i="0" sz="100" u="none" cap="none" strike="noStrike">
              <a:solidFill>
                <a:srgbClr val="000000"/>
              </a:solidFill>
              <a:latin typeface="Arial"/>
              <a:ea typeface="Arial"/>
              <a:cs typeface="Arial"/>
              <a:sym typeface="Arial"/>
            </a:endParaRPr>
          </a:p>
        </p:txBody>
      </p:sp>
      <p:pic>
        <p:nvPicPr>
          <p:cNvPr id="257" name="Google Shape;257;p35"/>
          <p:cNvPicPr preferRelativeResize="0"/>
          <p:nvPr/>
        </p:nvPicPr>
        <p:blipFill rotWithShape="1">
          <a:blip r:embed="rId8">
            <a:alphaModFix/>
          </a:blip>
          <a:srcRect b="4804" l="0" r="0" t="21962"/>
          <a:stretch/>
        </p:blipFill>
        <p:spPr>
          <a:xfrm>
            <a:off x="6041400" y="1701393"/>
            <a:ext cx="1058982" cy="535835"/>
          </a:xfrm>
          <a:prstGeom prst="rect">
            <a:avLst/>
          </a:prstGeom>
          <a:solidFill>
            <a:srgbClr val="888888"/>
          </a:solidFill>
          <a:ln>
            <a:noFill/>
          </a:ln>
        </p:spPr>
      </p:pic>
      <p:pic>
        <p:nvPicPr>
          <p:cNvPr id="258" name="Google Shape;258;p35"/>
          <p:cNvPicPr preferRelativeResize="0"/>
          <p:nvPr/>
        </p:nvPicPr>
        <p:blipFill rotWithShape="1">
          <a:blip r:embed="rId9">
            <a:alphaModFix/>
          </a:blip>
          <a:srcRect b="4279" l="2567" r="1994" t="21553"/>
          <a:stretch/>
        </p:blipFill>
        <p:spPr>
          <a:xfrm>
            <a:off x="4892347" y="2367751"/>
            <a:ext cx="1032231" cy="523775"/>
          </a:xfrm>
          <a:prstGeom prst="rect">
            <a:avLst/>
          </a:prstGeom>
          <a:noFill/>
          <a:ln>
            <a:noFill/>
          </a:ln>
        </p:spPr>
      </p:pic>
      <p:pic>
        <p:nvPicPr>
          <p:cNvPr id="259" name="Google Shape;259;p35"/>
          <p:cNvPicPr preferRelativeResize="0"/>
          <p:nvPr/>
        </p:nvPicPr>
        <p:blipFill rotWithShape="1">
          <a:blip r:embed="rId10">
            <a:alphaModFix/>
          </a:blip>
          <a:srcRect b="3552" l="2397" r="2454" t="22439"/>
          <a:stretch/>
        </p:blipFill>
        <p:spPr>
          <a:xfrm>
            <a:off x="6041400" y="2358169"/>
            <a:ext cx="1058982" cy="535835"/>
          </a:xfrm>
          <a:prstGeom prst="rect">
            <a:avLst/>
          </a:prstGeom>
          <a:solidFill>
            <a:srgbClr val="888888"/>
          </a:solidFill>
          <a:ln>
            <a:noFill/>
          </a:ln>
        </p:spPr>
      </p:pic>
      <p:sp>
        <p:nvSpPr>
          <p:cNvPr id="260" name="Google Shape;260;p35"/>
          <p:cNvSpPr txBox="1"/>
          <p:nvPr/>
        </p:nvSpPr>
        <p:spPr>
          <a:xfrm>
            <a:off x="4871019" y="2956590"/>
            <a:ext cx="960600" cy="1728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chemeClr val="lt1"/>
                </a:solidFill>
                <a:latin typeface="Century Gothic"/>
                <a:ea typeface="Century Gothic"/>
                <a:cs typeface="Century Gothic"/>
                <a:sym typeface="Century Gothic"/>
              </a:rPr>
              <a:t>3. GPS2-silencing</a:t>
            </a:r>
            <a:endParaRPr b="0" i="0" sz="100" u="none" cap="none" strike="noStrike">
              <a:solidFill>
                <a:srgbClr val="000000"/>
              </a:solidFill>
              <a:latin typeface="Arial"/>
              <a:ea typeface="Arial"/>
              <a:cs typeface="Arial"/>
              <a:sym typeface="Arial"/>
            </a:endParaRPr>
          </a:p>
        </p:txBody>
      </p:sp>
      <p:pic>
        <p:nvPicPr>
          <p:cNvPr id="261" name="Google Shape;261;p35"/>
          <p:cNvPicPr preferRelativeResize="0"/>
          <p:nvPr/>
        </p:nvPicPr>
        <p:blipFill rotWithShape="1">
          <a:blip r:embed="rId11">
            <a:alphaModFix/>
          </a:blip>
          <a:srcRect b="3991" l="2868" r="1848" t="21956"/>
          <a:stretch/>
        </p:blipFill>
        <p:spPr>
          <a:xfrm>
            <a:off x="4893732" y="3090258"/>
            <a:ext cx="1032231" cy="481568"/>
          </a:xfrm>
          <a:prstGeom prst="rect">
            <a:avLst/>
          </a:prstGeom>
          <a:solidFill>
            <a:srgbClr val="888888"/>
          </a:solidFill>
          <a:ln>
            <a:noFill/>
          </a:ln>
        </p:spPr>
      </p:pic>
      <p:pic>
        <p:nvPicPr>
          <p:cNvPr id="262" name="Google Shape;262;p35"/>
          <p:cNvPicPr preferRelativeResize="0"/>
          <p:nvPr/>
        </p:nvPicPr>
        <p:blipFill rotWithShape="1">
          <a:blip r:embed="rId12">
            <a:alphaModFix/>
          </a:blip>
          <a:srcRect b="3966" l="2265" r="2541" t="22848"/>
          <a:stretch/>
        </p:blipFill>
        <p:spPr>
          <a:xfrm>
            <a:off x="6035475" y="3090258"/>
            <a:ext cx="1058982" cy="481568"/>
          </a:xfrm>
          <a:prstGeom prst="rect">
            <a:avLst/>
          </a:prstGeom>
          <a:solidFill>
            <a:srgbClr val="888888"/>
          </a:solidFill>
          <a:ln>
            <a:noFill/>
          </a:ln>
        </p:spPr>
      </p:pic>
      <p:sp>
        <p:nvSpPr>
          <p:cNvPr id="263" name="Google Shape;263;p35"/>
          <p:cNvSpPr txBox="1"/>
          <p:nvPr/>
        </p:nvSpPr>
        <p:spPr>
          <a:xfrm>
            <a:off x="6168433" y="3944714"/>
            <a:ext cx="731400" cy="1122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chemeClr val="lt1"/>
                </a:solidFill>
                <a:latin typeface="Century Gothic"/>
                <a:ea typeface="Century Gothic"/>
                <a:cs typeface="Century Gothic"/>
                <a:sym typeface="Century Gothic"/>
              </a:rPr>
              <a:t>GPS2-silencing</a:t>
            </a:r>
            <a:endParaRPr b="0" i="0" sz="100" u="none" cap="none" strike="noStrike">
              <a:solidFill>
                <a:srgbClr val="000000"/>
              </a:solidFill>
              <a:latin typeface="Arial"/>
              <a:ea typeface="Arial"/>
              <a:cs typeface="Arial"/>
              <a:sym typeface="Arial"/>
            </a:endParaRPr>
          </a:p>
        </p:txBody>
      </p:sp>
      <p:sp>
        <p:nvSpPr>
          <p:cNvPr id="264" name="Google Shape;264;p35"/>
          <p:cNvSpPr txBox="1"/>
          <p:nvPr/>
        </p:nvSpPr>
        <p:spPr>
          <a:xfrm>
            <a:off x="5005850" y="3945898"/>
            <a:ext cx="825900" cy="1122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chemeClr val="lt1"/>
                </a:solidFill>
                <a:latin typeface="Century Gothic"/>
                <a:ea typeface="Century Gothic"/>
                <a:cs typeface="Century Gothic"/>
                <a:sym typeface="Century Gothic"/>
              </a:rPr>
              <a:t>Mitochondrial Stress</a:t>
            </a:r>
            <a:endParaRPr b="0" i="0" sz="100" u="none" cap="none" strike="noStrike">
              <a:solidFill>
                <a:srgbClr val="000000"/>
              </a:solidFill>
              <a:latin typeface="Arial"/>
              <a:ea typeface="Arial"/>
              <a:cs typeface="Arial"/>
              <a:sym typeface="Arial"/>
            </a:endParaRPr>
          </a:p>
        </p:txBody>
      </p:sp>
      <p:sp>
        <p:nvSpPr>
          <p:cNvPr id="265" name="Google Shape;265;p35"/>
          <p:cNvSpPr txBox="1"/>
          <p:nvPr/>
        </p:nvSpPr>
        <p:spPr>
          <a:xfrm>
            <a:off x="3940933" y="3945898"/>
            <a:ext cx="631200" cy="1173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chemeClr val="lt1"/>
                </a:solidFill>
                <a:latin typeface="Century Gothic"/>
                <a:ea typeface="Century Gothic"/>
                <a:cs typeface="Century Gothic"/>
                <a:sym typeface="Century Gothic"/>
              </a:rPr>
              <a:t>Differentiation</a:t>
            </a:r>
            <a:endParaRPr b="0" i="0" sz="100" u="none" cap="none" strike="noStrike">
              <a:solidFill>
                <a:srgbClr val="000000"/>
              </a:solidFill>
              <a:latin typeface="Arial"/>
              <a:ea typeface="Arial"/>
              <a:cs typeface="Arial"/>
              <a:sym typeface="Arial"/>
            </a:endParaRPr>
          </a:p>
        </p:txBody>
      </p:sp>
      <p:pic>
        <p:nvPicPr>
          <p:cNvPr id="266" name="Google Shape;266;p35"/>
          <p:cNvPicPr preferRelativeResize="0"/>
          <p:nvPr/>
        </p:nvPicPr>
        <p:blipFill rotWithShape="1">
          <a:blip r:embed="rId13">
            <a:alphaModFix/>
          </a:blip>
          <a:srcRect b="0" l="0" r="1205" t="15275"/>
          <a:stretch/>
        </p:blipFill>
        <p:spPr>
          <a:xfrm>
            <a:off x="6086170" y="4083547"/>
            <a:ext cx="778872" cy="422206"/>
          </a:xfrm>
          <a:prstGeom prst="rect">
            <a:avLst/>
          </a:prstGeom>
          <a:noFill/>
          <a:ln>
            <a:noFill/>
          </a:ln>
        </p:spPr>
      </p:pic>
      <p:pic>
        <p:nvPicPr>
          <p:cNvPr id="267" name="Google Shape;267;p35"/>
          <p:cNvPicPr preferRelativeResize="0"/>
          <p:nvPr/>
        </p:nvPicPr>
        <p:blipFill rotWithShape="1">
          <a:blip r:embed="rId14">
            <a:alphaModFix/>
          </a:blip>
          <a:srcRect b="0" l="0" r="0" t="0"/>
          <a:stretch/>
        </p:blipFill>
        <p:spPr>
          <a:xfrm>
            <a:off x="6086170" y="4566496"/>
            <a:ext cx="780122" cy="383320"/>
          </a:xfrm>
          <a:prstGeom prst="rect">
            <a:avLst/>
          </a:prstGeom>
          <a:solidFill>
            <a:srgbClr val="888888"/>
          </a:solidFill>
          <a:ln>
            <a:noFill/>
          </a:ln>
        </p:spPr>
      </p:pic>
      <p:pic>
        <p:nvPicPr>
          <p:cNvPr id="268" name="Google Shape;268;p35"/>
          <p:cNvPicPr preferRelativeResize="0"/>
          <p:nvPr/>
        </p:nvPicPr>
        <p:blipFill rotWithShape="1">
          <a:blip r:embed="rId15">
            <a:alphaModFix/>
          </a:blip>
          <a:srcRect b="0" l="0" r="0" t="0"/>
          <a:stretch/>
        </p:blipFill>
        <p:spPr>
          <a:xfrm>
            <a:off x="4962153" y="4083547"/>
            <a:ext cx="869528" cy="422206"/>
          </a:xfrm>
          <a:prstGeom prst="rect">
            <a:avLst/>
          </a:prstGeom>
          <a:solidFill>
            <a:srgbClr val="888888"/>
          </a:solidFill>
          <a:ln>
            <a:noFill/>
          </a:ln>
        </p:spPr>
      </p:pic>
      <p:pic>
        <p:nvPicPr>
          <p:cNvPr id="269" name="Google Shape;269;p35"/>
          <p:cNvPicPr preferRelativeResize="0"/>
          <p:nvPr/>
        </p:nvPicPr>
        <p:blipFill rotWithShape="1">
          <a:blip r:embed="rId16">
            <a:alphaModFix/>
          </a:blip>
          <a:srcRect b="0" l="0" r="50748" t="0"/>
          <a:stretch/>
        </p:blipFill>
        <p:spPr>
          <a:xfrm>
            <a:off x="5507601" y="4109335"/>
            <a:ext cx="264044" cy="172852"/>
          </a:xfrm>
          <a:prstGeom prst="rect">
            <a:avLst/>
          </a:prstGeom>
          <a:solidFill>
            <a:srgbClr val="888888"/>
          </a:solidFill>
          <a:ln>
            <a:noFill/>
          </a:ln>
        </p:spPr>
      </p:pic>
      <p:pic>
        <p:nvPicPr>
          <p:cNvPr id="270" name="Google Shape;270;p35"/>
          <p:cNvPicPr preferRelativeResize="0"/>
          <p:nvPr/>
        </p:nvPicPr>
        <p:blipFill rotWithShape="1">
          <a:blip r:embed="rId17">
            <a:alphaModFix/>
          </a:blip>
          <a:srcRect b="0" l="0" r="0" t="15640"/>
          <a:stretch/>
        </p:blipFill>
        <p:spPr>
          <a:xfrm>
            <a:off x="4962153" y="4566496"/>
            <a:ext cx="869529" cy="383321"/>
          </a:xfrm>
          <a:prstGeom prst="rect">
            <a:avLst/>
          </a:prstGeom>
          <a:solidFill>
            <a:srgbClr val="888888"/>
          </a:solidFill>
          <a:ln>
            <a:noFill/>
          </a:ln>
        </p:spPr>
      </p:pic>
      <p:pic>
        <p:nvPicPr>
          <p:cNvPr id="271" name="Google Shape;271;p35"/>
          <p:cNvPicPr preferRelativeResize="0"/>
          <p:nvPr/>
        </p:nvPicPr>
        <p:blipFill rotWithShape="1">
          <a:blip r:embed="rId18">
            <a:alphaModFix/>
          </a:blip>
          <a:srcRect b="0" l="0" r="0" t="0"/>
          <a:stretch/>
        </p:blipFill>
        <p:spPr>
          <a:xfrm>
            <a:off x="3872148" y="4566496"/>
            <a:ext cx="831799" cy="383221"/>
          </a:xfrm>
          <a:prstGeom prst="rect">
            <a:avLst/>
          </a:prstGeom>
          <a:solidFill>
            <a:srgbClr val="888888"/>
          </a:solidFill>
          <a:ln>
            <a:noFill/>
          </a:ln>
        </p:spPr>
      </p:pic>
      <p:pic>
        <p:nvPicPr>
          <p:cNvPr id="272" name="Google Shape;272;p35"/>
          <p:cNvPicPr preferRelativeResize="0"/>
          <p:nvPr/>
        </p:nvPicPr>
        <p:blipFill rotWithShape="1">
          <a:blip r:embed="rId19">
            <a:alphaModFix/>
          </a:blip>
          <a:srcRect b="0" l="0" r="0" t="0"/>
          <a:stretch/>
        </p:blipFill>
        <p:spPr>
          <a:xfrm>
            <a:off x="3875865" y="4083547"/>
            <a:ext cx="831800" cy="422206"/>
          </a:xfrm>
          <a:prstGeom prst="rect">
            <a:avLst/>
          </a:prstGeom>
          <a:solidFill>
            <a:srgbClr val="888888"/>
          </a:solidFill>
          <a:ln>
            <a:noFill/>
          </a:ln>
        </p:spPr>
      </p:pic>
      <p:sp>
        <p:nvSpPr>
          <p:cNvPr id="273" name="Google Shape;273;p35"/>
          <p:cNvSpPr txBox="1"/>
          <p:nvPr/>
        </p:nvSpPr>
        <p:spPr>
          <a:xfrm>
            <a:off x="7317270" y="1236266"/>
            <a:ext cx="1677000" cy="2719800"/>
          </a:xfrm>
          <a:prstGeom prst="rect">
            <a:avLst/>
          </a:prstGeom>
          <a:noFill/>
          <a:ln>
            <a:noFill/>
          </a:ln>
        </p:spPr>
        <p:txBody>
          <a:bodyPr anchorCtr="0" anchor="t" bIns="22325" lIns="22325" spcFirstLastPara="1" rIns="22325" wrap="square" tIns="22325">
            <a:noAutofit/>
          </a:bodyPr>
          <a:lstStyle/>
          <a:p>
            <a:pPr indent="0" lvl="0" marL="0" marR="0" rtl="0" algn="just">
              <a:lnSpc>
                <a:spcPct val="100000"/>
              </a:lnSpc>
              <a:spcBef>
                <a:spcPts val="0"/>
              </a:spcBef>
              <a:spcAft>
                <a:spcPts val="0"/>
              </a:spcAft>
              <a:buClr>
                <a:schemeClr val="dk1"/>
              </a:buClr>
              <a:buSzPts val="300"/>
              <a:buFont typeface="Arial"/>
              <a:buNone/>
            </a:pPr>
            <a:r>
              <a:rPr b="0" i="0" lang="en" sz="600" u="none" cap="none" strike="noStrike">
                <a:solidFill>
                  <a:schemeClr val="lt1"/>
                </a:solidFill>
                <a:latin typeface="Century Gothic"/>
                <a:ea typeface="Century Gothic"/>
                <a:cs typeface="Century Gothic"/>
                <a:sym typeface="Century Gothic"/>
              </a:rPr>
              <a:t>The analysis of peak overlaps between ATF4 and GPS2 under varying conditions provides valuable insights into their interplay, particularly within the context of mitochondrial stress and cellular differentiation. The consistent overlap of peaks between ATF4 in the amino acid-deprived state (AAD) and GPS2 during differentiation, coupled with the prominent enrichment of mitochondrial UPR pathways in the GSEA results, suggests a </a:t>
            </a:r>
            <a:r>
              <a:rPr b="1" i="0" lang="en" sz="600" u="none" cap="none" strike="noStrike">
                <a:solidFill>
                  <a:schemeClr val="lt1"/>
                </a:solidFill>
                <a:latin typeface="Century Gothic"/>
                <a:ea typeface="Century Gothic"/>
                <a:cs typeface="Century Gothic"/>
                <a:sym typeface="Century Gothic"/>
              </a:rPr>
              <a:t>coordinated role for GPS2 and ATF4 in mediating stress and differentiation responses.</a:t>
            </a:r>
            <a:r>
              <a:rPr b="0" i="0" lang="en" sz="600" u="none" cap="none" strike="noStrike">
                <a:solidFill>
                  <a:schemeClr val="lt1"/>
                </a:solidFill>
                <a:latin typeface="Century Gothic"/>
                <a:ea typeface="Century Gothic"/>
                <a:cs typeface="Century Gothic"/>
                <a:sym typeface="Century Gothic"/>
              </a:rPr>
              <a:t> The lack of overlap between ATF4 in AAD and GPS2 under mitochondrial stress induced by FCCP is surprising, especially given the detectable GPS2 signals in the plot profiles (Table 1 and Figure 2a). Furthermore, the observed increase in peak intensity for GPS2 on day 6 compared to day 0, aligned with RNA-seq data</a:t>
            </a:r>
            <a:r>
              <a:rPr b="0" baseline="30000" i="0" lang="en" sz="600" u="none" cap="none" strike="noStrike">
                <a:solidFill>
                  <a:schemeClr val="lt1"/>
                </a:solidFill>
                <a:latin typeface="Century Gothic"/>
                <a:ea typeface="Century Gothic"/>
                <a:cs typeface="Century Gothic"/>
                <a:sym typeface="Century Gothic"/>
              </a:rPr>
              <a:t>[3,4]</a:t>
            </a:r>
            <a:r>
              <a:rPr b="0" i="0" lang="en" sz="600" u="none" cap="none" strike="noStrike">
                <a:solidFill>
                  <a:schemeClr val="lt1"/>
                </a:solidFill>
                <a:latin typeface="Century Gothic"/>
                <a:ea typeface="Century Gothic"/>
                <a:cs typeface="Century Gothic"/>
                <a:sym typeface="Century Gothic"/>
              </a:rPr>
              <a:t>, reinforces the notion of GPS2's dynamic regulation during differentiation. Collectively, these findings highlight GPS2's potential role in modulating ATF4 activity in response to cellular stress and differentiation, with a particular emphasis on mechanisms associated with the mitochondrial UPR.</a:t>
            </a:r>
            <a:endParaRPr b="0" i="0" sz="6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Century Gothic"/>
              <a:ea typeface="Century Gothic"/>
              <a:cs typeface="Century Gothic"/>
              <a:sym typeface="Century Gothic"/>
            </a:endParaRPr>
          </a:p>
        </p:txBody>
      </p:sp>
      <p:cxnSp>
        <p:nvCxnSpPr>
          <p:cNvPr id="274" name="Google Shape;274;p35"/>
          <p:cNvCxnSpPr/>
          <p:nvPr/>
        </p:nvCxnSpPr>
        <p:spPr>
          <a:xfrm>
            <a:off x="7694750" y="1237550"/>
            <a:ext cx="750600" cy="9900"/>
          </a:xfrm>
          <a:prstGeom prst="straightConnector1">
            <a:avLst/>
          </a:prstGeom>
          <a:noFill/>
          <a:ln cap="flat" cmpd="sng" w="9525">
            <a:solidFill>
              <a:schemeClr val="lt1"/>
            </a:solidFill>
            <a:prstDash val="solid"/>
            <a:round/>
            <a:headEnd len="med" w="med" type="oval"/>
            <a:tailEnd len="med" w="med" type="oval"/>
          </a:ln>
        </p:spPr>
      </p:cxnSp>
      <p:cxnSp>
        <p:nvCxnSpPr>
          <p:cNvPr id="275" name="Google Shape;275;p35"/>
          <p:cNvCxnSpPr/>
          <p:nvPr/>
        </p:nvCxnSpPr>
        <p:spPr>
          <a:xfrm>
            <a:off x="7701239" y="4158188"/>
            <a:ext cx="770100" cy="16500"/>
          </a:xfrm>
          <a:prstGeom prst="straightConnector1">
            <a:avLst/>
          </a:prstGeom>
          <a:noFill/>
          <a:ln cap="flat" cmpd="sng" w="9525">
            <a:solidFill>
              <a:schemeClr val="lt1"/>
            </a:solidFill>
            <a:prstDash val="solid"/>
            <a:round/>
            <a:headEnd len="med" w="med" type="oval"/>
            <a:tailEnd len="med" w="med" type="oval"/>
          </a:ln>
        </p:spPr>
      </p:cxnSp>
      <p:sp>
        <p:nvSpPr>
          <p:cNvPr id="276" name="Google Shape;276;p35"/>
          <p:cNvSpPr txBox="1"/>
          <p:nvPr/>
        </p:nvSpPr>
        <p:spPr>
          <a:xfrm>
            <a:off x="7253358" y="4188716"/>
            <a:ext cx="1740900" cy="710700"/>
          </a:xfrm>
          <a:prstGeom prst="rect">
            <a:avLst/>
          </a:prstGeom>
          <a:noFill/>
          <a:ln>
            <a:noFill/>
          </a:ln>
        </p:spPr>
        <p:txBody>
          <a:bodyPr anchorCtr="0" anchor="t" bIns="22325" lIns="22325" spcFirstLastPara="1" rIns="22325" wrap="square" tIns="22325">
            <a:noAutofit/>
          </a:bodyPr>
          <a:lstStyle/>
          <a:p>
            <a:pPr indent="-82550" lvl="0" marL="114300" marR="0" rtl="0" algn="just">
              <a:lnSpc>
                <a:spcPct val="100000"/>
              </a:lnSpc>
              <a:spcBef>
                <a:spcPts val="0"/>
              </a:spcBef>
              <a:spcAft>
                <a:spcPts val="0"/>
              </a:spcAft>
              <a:buClr>
                <a:schemeClr val="lt1"/>
              </a:buClr>
              <a:buSzPts val="300"/>
              <a:buFont typeface="Century Gothic"/>
              <a:buAutoNum type="arabicPeriod"/>
            </a:pPr>
            <a:r>
              <a:rPr b="0" i="0" lang="en" sz="300" u="none" cap="none" strike="noStrike">
                <a:solidFill>
                  <a:schemeClr val="lt1"/>
                </a:solidFill>
                <a:highlight>
                  <a:srgbClr val="E3163D"/>
                </a:highlight>
                <a:latin typeface="Century Gothic"/>
                <a:ea typeface="Century Gothic"/>
                <a:cs typeface="Century Gothic"/>
                <a:sym typeface="Century Gothic"/>
              </a:rPr>
              <a:t>Cardamone MD, Tanasa B, Cederquist CT, et al. Mitochondrial Retrograde Signaling in Mammals Is Mediated by the Transcriptional Cofactor GPS2 via Direct Mitochondria-to-Nucleus Translocation. </a:t>
            </a:r>
            <a:r>
              <a:rPr b="0" i="1" lang="en" sz="300" u="none" cap="none" strike="noStrike">
                <a:solidFill>
                  <a:schemeClr val="lt1"/>
                </a:solidFill>
                <a:highlight>
                  <a:srgbClr val="E3163D"/>
                </a:highlight>
                <a:latin typeface="Century Gothic"/>
                <a:ea typeface="Century Gothic"/>
                <a:cs typeface="Century Gothic"/>
                <a:sym typeface="Century Gothic"/>
              </a:rPr>
              <a:t>Mol Cell</a:t>
            </a:r>
            <a:r>
              <a:rPr b="0" i="0" lang="en" sz="300" u="none" cap="none" strike="noStrike">
                <a:solidFill>
                  <a:schemeClr val="lt1"/>
                </a:solidFill>
                <a:highlight>
                  <a:srgbClr val="E3163D"/>
                </a:highlight>
                <a:latin typeface="Century Gothic"/>
                <a:ea typeface="Century Gothic"/>
                <a:cs typeface="Century Gothic"/>
                <a:sym typeface="Century Gothic"/>
              </a:rPr>
              <a:t>. 2018;69(5):757-772.e7. doi:10.1016/j.molcel.2018.01.037</a:t>
            </a:r>
            <a:endParaRPr b="0" i="0" sz="300" u="none" cap="none" strike="noStrike">
              <a:solidFill>
                <a:schemeClr val="lt1"/>
              </a:solidFill>
              <a:highlight>
                <a:srgbClr val="E3163D"/>
              </a:highlight>
              <a:latin typeface="Century Gothic"/>
              <a:ea typeface="Century Gothic"/>
              <a:cs typeface="Century Gothic"/>
              <a:sym typeface="Century Gothic"/>
            </a:endParaRPr>
          </a:p>
          <a:p>
            <a:pPr indent="-82550" lvl="0" marL="114300" marR="0" rtl="0" algn="just">
              <a:lnSpc>
                <a:spcPct val="100000"/>
              </a:lnSpc>
              <a:spcBef>
                <a:spcPts val="0"/>
              </a:spcBef>
              <a:spcAft>
                <a:spcPts val="0"/>
              </a:spcAft>
              <a:buClr>
                <a:schemeClr val="lt1"/>
              </a:buClr>
              <a:buSzPts val="300"/>
              <a:buFont typeface="Century Gothic"/>
              <a:buAutoNum type="arabicPeriod"/>
            </a:pPr>
            <a:r>
              <a:rPr b="0" i="0" lang="en" sz="300" u="none" cap="none" strike="noStrike">
                <a:solidFill>
                  <a:schemeClr val="lt1"/>
                </a:solidFill>
                <a:highlight>
                  <a:srgbClr val="E3163D"/>
                </a:highlight>
                <a:latin typeface="Century Gothic"/>
                <a:ea typeface="Century Gothic"/>
                <a:cs typeface="Century Gothic"/>
                <a:sym typeface="Century Gothic"/>
              </a:rPr>
              <a:t>Melber A, Haynes CM. UPRmt regulation and output: a stress response mediated by mitochondrial-nuclear communication. </a:t>
            </a:r>
            <a:r>
              <a:rPr b="0" i="1" lang="en" sz="300" u="none" cap="none" strike="noStrike">
                <a:solidFill>
                  <a:schemeClr val="lt1"/>
                </a:solidFill>
                <a:highlight>
                  <a:srgbClr val="E3163D"/>
                </a:highlight>
                <a:latin typeface="Century Gothic"/>
                <a:ea typeface="Century Gothic"/>
                <a:cs typeface="Century Gothic"/>
                <a:sym typeface="Century Gothic"/>
              </a:rPr>
              <a:t>Cell Res</a:t>
            </a:r>
            <a:r>
              <a:rPr b="0" i="0" lang="en" sz="300" u="none" cap="none" strike="noStrike">
                <a:solidFill>
                  <a:schemeClr val="lt1"/>
                </a:solidFill>
                <a:highlight>
                  <a:srgbClr val="E3163D"/>
                </a:highlight>
                <a:latin typeface="Century Gothic"/>
                <a:ea typeface="Century Gothic"/>
                <a:cs typeface="Century Gothic"/>
                <a:sym typeface="Century Gothic"/>
              </a:rPr>
              <a:t>. 2018;28(3):281-295. doi:10.1038/cr.2018.16</a:t>
            </a:r>
            <a:endParaRPr b="0" i="0" sz="300" u="none" cap="none" strike="noStrike">
              <a:solidFill>
                <a:schemeClr val="lt1"/>
              </a:solidFill>
              <a:highlight>
                <a:srgbClr val="E3163D"/>
              </a:highlight>
              <a:latin typeface="Century Gothic"/>
              <a:ea typeface="Century Gothic"/>
              <a:cs typeface="Century Gothic"/>
              <a:sym typeface="Century Gothic"/>
            </a:endParaRPr>
          </a:p>
          <a:p>
            <a:pPr indent="-82550" lvl="0" marL="114300" marR="0" rtl="0" algn="just">
              <a:lnSpc>
                <a:spcPct val="100000"/>
              </a:lnSpc>
              <a:spcBef>
                <a:spcPts val="0"/>
              </a:spcBef>
              <a:spcAft>
                <a:spcPts val="0"/>
              </a:spcAft>
              <a:buClr>
                <a:schemeClr val="lt1"/>
              </a:buClr>
              <a:buSzPts val="300"/>
              <a:buFont typeface="Century Gothic"/>
              <a:buAutoNum type="arabicPeriod"/>
            </a:pPr>
            <a:r>
              <a:rPr b="0" i="0" lang="en" sz="300" u="none" cap="none" strike="noStrike">
                <a:solidFill>
                  <a:schemeClr val="lt1"/>
                </a:solidFill>
                <a:highlight>
                  <a:srgbClr val="E3163D"/>
                </a:highlight>
                <a:latin typeface="Century Gothic"/>
                <a:ea typeface="Century Gothic"/>
                <a:cs typeface="Century Gothic"/>
                <a:sym typeface="Century Gothic"/>
              </a:rPr>
              <a:t>Margaret E Torrence, Michael R MacArthur, Aaron M Hosios, Alexander J Valvezan, John M Asara, James R Mitchell, Brendan D Manning (2021) The mTORC1-mediated activation of ATF4 promotes protein and glutathione synthesis downstream of growth signals eLife 10:e63326</a:t>
            </a:r>
            <a:endParaRPr b="0" i="0" sz="300" u="none" cap="none" strike="noStrike">
              <a:solidFill>
                <a:schemeClr val="lt1"/>
              </a:solidFill>
              <a:highlight>
                <a:srgbClr val="E3163D"/>
              </a:highlight>
              <a:latin typeface="Century Gothic"/>
              <a:ea typeface="Century Gothic"/>
              <a:cs typeface="Century Gothic"/>
              <a:sym typeface="Century Gothic"/>
            </a:endParaRPr>
          </a:p>
          <a:p>
            <a:pPr indent="-82550" lvl="0" marL="114300" marR="0" rtl="0" algn="just">
              <a:lnSpc>
                <a:spcPct val="100000"/>
              </a:lnSpc>
              <a:spcBef>
                <a:spcPts val="0"/>
              </a:spcBef>
              <a:spcAft>
                <a:spcPts val="0"/>
              </a:spcAft>
              <a:buClr>
                <a:schemeClr val="lt1"/>
              </a:buClr>
              <a:buSzPts val="300"/>
              <a:buFont typeface="Century Gothic"/>
              <a:buAutoNum type="arabicPeriod"/>
            </a:pPr>
            <a:r>
              <a:rPr b="0" i="0" lang="en" sz="300" u="none" cap="none" strike="noStrike">
                <a:solidFill>
                  <a:schemeClr val="lt1"/>
                </a:solidFill>
                <a:highlight>
                  <a:srgbClr val="E3163D"/>
                </a:highlight>
                <a:latin typeface="Century Gothic"/>
                <a:ea typeface="Century Gothic"/>
                <a:cs typeface="Century Gothic"/>
                <a:sym typeface="Century Gothic"/>
              </a:rPr>
              <a:t>Fusakio, M. E., Willy, J. A., Wang, Y., Mirek, E. T., Al Baghdadi, R. J., Adams, C. M., Anthony, T. G., &amp; Wek, R. C. (2016). Transcription factor ATF4 directs basal and stress-induced gene expression in the unfolded protein response and cholesterol metabolism in the liver. </a:t>
            </a:r>
            <a:r>
              <a:rPr b="0" i="1" lang="en" sz="300" u="none" cap="none" strike="noStrike">
                <a:solidFill>
                  <a:schemeClr val="lt1"/>
                </a:solidFill>
                <a:highlight>
                  <a:srgbClr val="E3163D"/>
                </a:highlight>
                <a:latin typeface="Century Gothic"/>
                <a:ea typeface="Century Gothic"/>
                <a:cs typeface="Century Gothic"/>
                <a:sym typeface="Century Gothic"/>
              </a:rPr>
              <a:t>Molecular biology of the cell</a:t>
            </a:r>
            <a:r>
              <a:rPr b="0" i="0" lang="en" sz="300" u="none" cap="none" strike="noStrike">
                <a:solidFill>
                  <a:schemeClr val="lt1"/>
                </a:solidFill>
                <a:highlight>
                  <a:srgbClr val="E3163D"/>
                </a:highlight>
                <a:latin typeface="Century Gothic"/>
                <a:ea typeface="Century Gothic"/>
                <a:cs typeface="Century Gothic"/>
                <a:sym typeface="Century Gothic"/>
              </a:rPr>
              <a:t>, </a:t>
            </a:r>
            <a:r>
              <a:rPr b="0" i="1" lang="en" sz="300" u="none" cap="none" strike="noStrike">
                <a:solidFill>
                  <a:schemeClr val="lt1"/>
                </a:solidFill>
                <a:highlight>
                  <a:srgbClr val="E3163D"/>
                </a:highlight>
                <a:latin typeface="Century Gothic"/>
                <a:ea typeface="Century Gothic"/>
                <a:cs typeface="Century Gothic"/>
                <a:sym typeface="Century Gothic"/>
              </a:rPr>
              <a:t>27</a:t>
            </a:r>
            <a:r>
              <a:rPr b="0" i="0" lang="en" sz="300" u="none" cap="none" strike="noStrike">
                <a:solidFill>
                  <a:schemeClr val="lt1"/>
                </a:solidFill>
                <a:highlight>
                  <a:srgbClr val="E3163D"/>
                </a:highlight>
                <a:latin typeface="Century Gothic"/>
                <a:ea typeface="Century Gothic"/>
                <a:cs typeface="Century Gothic"/>
                <a:sym typeface="Century Gothic"/>
              </a:rPr>
              <a:t>(9), 1536–1551. https://doi.org/10.1091/mbc.E16-01-0039</a:t>
            </a:r>
            <a:endParaRPr b="0" i="0" sz="300" u="none" cap="none" strike="noStrike">
              <a:solidFill>
                <a:schemeClr val="lt1"/>
              </a:solidFill>
              <a:highlight>
                <a:srgbClr val="E3163D"/>
              </a:highlight>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chemeClr val="lt1"/>
              </a:solidFill>
              <a:highlight>
                <a:srgbClr val="E3163D"/>
              </a:highlight>
              <a:latin typeface="Century Gothic"/>
              <a:ea typeface="Century Gothic"/>
              <a:cs typeface="Century Gothic"/>
              <a:sym typeface="Century Gothic"/>
            </a:endParaRPr>
          </a:p>
        </p:txBody>
      </p:sp>
      <p:sp>
        <p:nvSpPr>
          <p:cNvPr id="277" name="Google Shape;277;p35"/>
          <p:cNvSpPr txBox="1"/>
          <p:nvPr/>
        </p:nvSpPr>
        <p:spPr>
          <a:xfrm>
            <a:off x="3609685" y="1264231"/>
            <a:ext cx="1170600" cy="129900"/>
          </a:xfrm>
          <a:prstGeom prst="rect">
            <a:avLst/>
          </a:prstGeom>
          <a:noFill/>
          <a:ln>
            <a:noFill/>
          </a:ln>
        </p:spPr>
        <p:txBody>
          <a:bodyPr anchorCtr="0" anchor="t" bIns="22325" lIns="22325" spcFirstLastPara="1" rIns="22325" wrap="square" tIns="22325">
            <a:noAutofit/>
          </a:bodyPr>
          <a:lstStyle/>
          <a:p>
            <a:pPr indent="0" lvl="0" marL="0" marR="0" rtl="0" algn="just">
              <a:lnSpc>
                <a:spcPct val="100000"/>
              </a:lnSpc>
              <a:spcBef>
                <a:spcPts val="0"/>
              </a:spcBef>
              <a:spcAft>
                <a:spcPts val="0"/>
              </a:spcAft>
              <a:buClr>
                <a:srgbClr val="000000"/>
              </a:buClr>
              <a:buSzPts val="300"/>
              <a:buFont typeface="Arial"/>
              <a:buNone/>
            </a:pPr>
            <a:r>
              <a:rPr b="1" i="1" lang="en" sz="300" u="none" cap="none" strike="noStrike">
                <a:solidFill>
                  <a:schemeClr val="dk1"/>
                </a:solidFill>
                <a:latin typeface="Calibri"/>
                <a:ea typeface="Calibri"/>
                <a:cs typeface="Calibri"/>
                <a:sym typeface="Calibri"/>
              </a:rPr>
              <a:t>Table 1: </a:t>
            </a:r>
            <a:r>
              <a:rPr b="0" i="0" lang="en" sz="300" u="none" cap="none" strike="noStrike">
                <a:solidFill>
                  <a:schemeClr val="dk1"/>
                </a:solidFill>
                <a:latin typeface="Calibri"/>
                <a:ea typeface="Calibri"/>
                <a:cs typeface="Calibri"/>
                <a:sym typeface="Calibri"/>
              </a:rPr>
              <a:t>Overlap of ATF4 and GPS2 Peaks across different conditions with percentages indicating the predominant peak annotations.</a:t>
            </a:r>
            <a:endParaRPr b="0" i="0" sz="300" u="none" cap="none" strike="noStrike">
              <a:solidFill>
                <a:schemeClr val="dk1"/>
              </a:solidFill>
              <a:latin typeface="Calibri"/>
              <a:ea typeface="Calibri"/>
              <a:cs typeface="Calibri"/>
              <a:sym typeface="Calibri"/>
            </a:endParaRPr>
          </a:p>
        </p:txBody>
      </p:sp>
      <p:sp>
        <p:nvSpPr>
          <p:cNvPr id="278" name="Google Shape;278;p35"/>
          <p:cNvSpPr txBox="1"/>
          <p:nvPr/>
        </p:nvSpPr>
        <p:spPr>
          <a:xfrm>
            <a:off x="3643454" y="2561966"/>
            <a:ext cx="1135500" cy="117300"/>
          </a:xfrm>
          <a:prstGeom prst="rect">
            <a:avLst/>
          </a:prstGeom>
          <a:noFill/>
          <a:ln>
            <a:noFill/>
          </a:ln>
        </p:spPr>
        <p:txBody>
          <a:bodyPr anchorCtr="0" anchor="t" bIns="22325" lIns="22325" spcFirstLastPara="1" rIns="22325" wrap="square" tIns="22325">
            <a:noAutofit/>
          </a:bodyPr>
          <a:lstStyle/>
          <a:p>
            <a:pPr indent="0" lvl="0" marL="0" marR="0" rtl="0" algn="just">
              <a:lnSpc>
                <a:spcPct val="100000"/>
              </a:lnSpc>
              <a:spcBef>
                <a:spcPts val="0"/>
              </a:spcBef>
              <a:spcAft>
                <a:spcPts val="0"/>
              </a:spcAft>
              <a:buClr>
                <a:srgbClr val="000000"/>
              </a:buClr>
              <a:buSzPts val="300"/>
              <a:buFont typeface="Arial"/>
              <a:buNone/>
            </a:pPr>
            <a:r>
              <a:rPr b="1" i="1" lang="en" sz="300" u="none" cap="none" strike="noStrike">
                <a:solidFill>
                  <a:schemeClr val="dk1"/>
                </a:solidFill>
                <a:latin typeface="Calibri"/>
                <a:ea typeface="Calibri"/>
                <a:cs typeface="Calibri"/>
                <a:sym typeface="Calibri"/>
              </a:rPr>
              <a:t>Table 2: </a:t>
            </a:r>
            <a:r>
              <a:rPr b="0" i="0" lang="en" sz="300" u="none" cap="none" strike="noStrike">
                <a:solidFill>
                  <a:schemeClr val="dk1"/>
                </a:solidFill>
                <a:latin typeface="Calibri"/>
                <a:ea typeface="Calibri"/>
                <a:cs typeface="Calibri"/>
                <a:sym typeface="Calibri"/>
              </a:rPr>
              <a:t>Representative GSEA results of the overlapping peaks from MSIGDB</a:t>
            </a:r>
            <a:endParaRPr b="0" i="0" sz="300" u="none" cap="none" strike="noStrike">
              <a:solidFill>
                <a:schemeClr val="dk1"/>
              </a:solidFill>
              <a:latin typeface="Calibri"/>
              <a:ea typeface="Calibri"/>
              <a:cs typeface="Calibri"/>
              <a:sym typeface="Calibri"/>
            </a:endParaRPr>
          </a:p>
        </p:txBody>
      </p:sp>
      <p:sp>
        <p:nvSpPr>
          <p:cNvPr id="279" name="Google Shape;279;p35"/>
          <p:cNvSpPr txBox="1"/>
          <p:nvPr/>
        </p:nvSpPr>
        <p:spPr>
          <a:xfrm>
            <a:off x="3458552" y="4158188"/>
            <a:ext cx="387000" cy="750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400"/>
              <a:buFont typeface="Arial"/>
              <a:buNone/>
            </a:pPr>
            <a:r>
              <a:rPr b="1" i="0" lang="en" sz="400" u="none" cap="none" strike="noStrike">
                <a:solidFill>
                  <a:schemeClr val="lt1"/>
                </a:solidFill>
                <a:latin typeface="Calibri"/>
                <a:ea typeface="Calibri"/>
                <a:cs typeface="Calibri"/>
                <a:sym typeface="Calibri"/>
              </a:rPr>
              <a:t>ER stress through Tunicamycin</a:t>
            </a:r>
            <a:endParaRPr b="1" i="0" sz="400" u="none" cap="none" strike="noStrike">
              <a:solidFill>
                <a:schemeClr val="lt1"/>
              </a:solidFill>
              <a:latin typeface="Calibri"/>
              <a:ea typeface="Calibri"/>
              <a:cs typeface="Calibri"/>
              <a:sym typeface="Calibri"/>
            </a:endParaRPr>
          </a:p>
        </p:txBody>
      </p:sp>
      <p:sp>
        <p:nvSpPr>
          <p:cNvPr id="280" name="Google Shape;280;p35"/>
          <p:cNvSpPr txBox="1"/>
          <p:nvPr/>
        </p:nvSpPr>
        <p:spPr>
          <a:xfrm>
            <a:off x="3448776" y="4614445"/>
            <a:ext cx="450600" cy="750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400"/>
              <a:buFont typeface="Arial"/>
              <a:buNone/>
            </a:pPr>
            <a:r>
              <a:rPr b="1" i="0" lang="en" sz="400" u="none" cap="none" strike="noStrike">
                <a:solidFill>
                  <a:schemeClr val="lt1"/>
                </a:solidFill>
                <a:latin typeface="Calibri"/>
                <a:ea typeface="Calibri"/>
                <a:cs typeface="Calibri"/>
                <a:sym typeface="Calibri"/>
              </a:rPr>
              <a:t>mTORC1 signaling (Gr</a:t>
            </a:r>
            <a:r>
              <a:rPr b="1" lang="en" sz="400">
                <a:solidFill>
                  <a:schemeClr val="lt1"/>
                </a:solidFill>
                <a:latin typeface="Calibri"/>
                <a:ea typeface="Calibri"/>
                <a:cs typeface="Calibri"/>
                <a:sym typeface="Calibri"/>
              </a:rPr>
              <a:t>owth </a:t>
            </a:r>
            <a:r>
              <a:rPr b="1" i="0" lang="en" sz="400" u="none" cap="none" strike="noStrike">
                <a:solidFill>
                  <a:schemeClr val="lt1"/>
                </a:solidFill>
                <a:latin typeface="Calibri"/>
                <a:ea typeface="Calibri"/>
                <a:cs typeface="Calibri"/>
                <a:sym typeface="Calibri"/>
              </a:rPr>
              <a:t>Differentiation)</a:t>
            </a:r>
            <a:endParaRPr b="1" i="0" sz="400" u="none" cap="none" strike="noStrike">
              <a:solidFill>
                <a:schemeClr val="lt1"/>
              </a:solidFill>
              <a:latin typeface="Calibri"/>
              <a:ea typeface="Calibri"/>
              <a:cs typeface="Calibri"/>
              <a:sym typeface="Calibri"/>
            </a:endParaRPr>
          </a:p>
        </p:txBody>
      </p:sp>
      <p:sp>
        <p:nvSpPr>
          <p:cNvPr id="281" name="Google Shape;281;p35"/>
          <p:cNvSpPr txBox="1"/>
          <p:nvPr/>
        </p:nvSpPr>
        <p:spPr>
          <a:xfrm>
            <a:off x="3447175" y="4096200"/>
            <a:ext cx="409800" cy="858600"/>
          </a:xfrm>
          <a:prstGeom prst="rect">
            <a:avLst/>
          </a:prstGeom>
          <a:noFill/>
          <a:ln cap="flat" cmpd="sng" w="9525">
            <a:solidFill>
              <a:schemeClr val="dk1"/>
            </a:solidFill>
            <a:prstDash val="solid"/>
            <a:round/>
            <a:headEnd len="sm" w="sm" type="none"/>
            <a:tailEnd len="sm" w="sm" type="none"/>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Calibri"/>
              <a:ea typeface="Calibri"/>
              <a:cs typeface="Calibri"/>
              <a:sym typeface="Calibri"/>
            </a:endParaRPr>
          </a:p>
        </p:txBody>
      </p:sp>
      <p:sp>
        <p:nvSpPr>
          <p:cNvPr id="282" name="Google Shape;282;p35"/>
          <p:cNvSpPr txBox="1"/>
          <p:nvPr/>
        </p:nvSpPr>
        <p:spPr>
          <a:xfrm>
            <a:off x="3448776" y="3977962"/>
            <a:ext cx="409800" cy="105600"/>
          </a:xfrm>
          <a:prstGeom prst="rect">
            <a:avLst/>
          </a:prstGeom>
          <a:solidFill>
            <a:schemeClr val="lt1"/>
          </a:solidFill>
          <a:ln>
            <a:noFill/>
          </a:ln>
        </p:spPr>
        <p:txBody>
          <a:bodyPr anchorCtr="0" anchor="t" bIns="22325" lIns="22325" spcFirstLastPara="1" rIns="22325" wrap="square" tIns="22325">
            <a:noAutofit/>
          </a:bodyPr>
          <a:lstStyle/>
          <a:p>
            <a:pPr indent="0" lvl="0" marL="0" marR="0" rtl="0" algn="ctr">
              <a:lnSpc>
                <a:spcPct val="100000"/>
              </a:lnSpc>
              <a:spcBef>
                <a:spcPts val="0"/>
              </a:spcBef>
              <a:spcAft>
                <a:spcPts val="0"/>
              </a:spcAft>
              <a:buClr>
                <a:srgbClr val="000000"/>
              </a:buClr>
              <a:buSzPts val="300"/>
              <a:buFont typeface="Arial"/>
              <a:buNone/>
            </a:pPr>
            <a:r>
              <a:rPr b="1" i="0" lang="en" sz="300" u="none" cap="none" strike="noStrike">
                <a:solidFill>
                  <a:schemeClr val="dk1"/>
                </a:solidFill>
                <a:latin typeface="Calibri"/>
                <a:ea typeface="Calibri"/>
                <a:cs typeface="Calibri"/>
                <a:sym typeface="Calibri"/>
              </a:rPr>
              <a:t>RNA-seq conditions</a:t>
            </a:r>
            <a:endParaRPr b="0" i="0" sz="2900" u="none" cap="none" strike="noStrike">
              <a:solidFill>
                <a:schemeClr val="dk1"/>
              </a:solidFill>
              <a:latin typeface="Calibri"/>
              <a:ea typeface="Calibri"/>
              <a:cs typeface="Calibri"/>
              <a:sym typeface="Calibri"/>
            </a:endParaRPr>
          </a:p>
        </p:txBody>
      </p:sp>
      <p:sp>
        <p:nvSpPr>
          <p:cNvPr id="283" name="Google Shape;283;p35"/>
          <p:cNvSpPr/>
          <p:nvPr/>
        </p:nvSpPr>
        <p:spPr>
          <a:xfrm>
            <a:off x="3875865" y="3887914"/>
            <a:ext cx="2982300" cy="170100"/>
          </a:xfrm>
          <a:prstGeom prst="roundRect">
            <a:avLst>
              <a:gd fmla="val 0" name="adj"/>
            </a:avLst>
          </a:prstGeom>
          <a:noFill/>
          <a:ln cap="flat" cmpd="sng" w="9525">
            <a:solidFill>
              <a:schemeClr val="dk1"/>
            </a:solidFill>
            <a:prstDash val="solid"/>
            <a:round/>
            <a:headEnd len="sm" w="sm" type="none"/>
            <a:tailEnd len="sm" w="sm" type="none"/>
          </a:ln>
        </p:spPr>
        <p:txBody>
          <a:bodyPr anchorCtr="0" anchor="ctr" bIns="22325" lIns="22325" spcFirstLastPara="1" rIns="22325" wrap="square" tIns="2232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Calibri"/>
              <a:ea typeface="Calibri"/>
              <a:cs typeface="Calibri"/>
              <a:sym typeface="Calibri"/>
            </a:endParaRPr>
          </a:p>
        </p:txBody>
      </p:sp>
      <p:sp>
        <p:nvSpPr>
          <p:cNvPr id="284" name="Google Shape;284;p35"/>
          <p:cNvSpPr txBox="1"/>
          <p:nvPr/>
        </p:nvSpPr>
        <p:spPr>
          <a:xfrm>
            <a:off x="3875865" y="3872347"/>
            <a:ext cx="2982300" cy="75000"/>
          </a:xfrm>
          <a:prstGeom prst="rect">
            <a:avLst/>
          </a:prstGeom>
          <a:solidFill>
            <a:schemeClr val="lt1"/>
          </a:solidFill>
          <a:ln>
            <a:noFill/>
          </a:ln>
        </p:spPr>
        <p:txBody>
          <a:bodyPr anchorCtr="0" anchor="t" bIns="22325" lIns="22325" spcFirstLastPara="1" rIns="22325" wrap="square" tIns="22325">
            <a:noAutofit/>
          </a:bodyPr>
          <a:lstStyle/>
          <a:p>
            <a:pPr indent="0" lvl="0" marL="0" marR="0" rtl="0" algn="ctr">
              <a:lnSpc>
                <a:spcPct val="100000"/>
              </a:lnSpc>
              <a:spcBef>
                <a:spcPts val="0"/>
              </a:spcBef>
              <a:spcAft>
                <a:spcPts val="0"/>
              </a:spcAft>
              <a:buClr>
                <a:srgbClr val="000000"/>
              </a:buClr>
              <a:buSzPts val="300"/>
              <a:buFont typeface="Arial"/>
              <a:buNone/>
            </a:pPr>
            <a:r>
              <a:rPr b="1" i="0" lang="en" sz="300" u="none" cap="none" strike="noStrike">
                <a:solidFill>
                  <a:schemeClr val="dk1"/>
                </a:solidFill>
                <a:latin typeface="Calibri"/>
                <a:ea typeface="Calibri"/>
                <a:cs typeface="Calibri"/>
                <a:sym typeface="Calibri"/>
              </a:rPr>
              <a:t>GPS2 conditions</a:t>
            </a:r>
            <a:endParaRPr b="0" i="0" sz="2900" u="none" cap="none" strike="noStrike">
              <a:solidFill>
                <a:schemeClr val="dk1"/>
              </a:solidFill>
              <a:latin typeface="Calibri"/>
              <a:ea typeface="Calibri"/>
              <a:cs typeface="Calibri"/>
              <a:sym typeface="Calibri"/>
            </a:endParaRPr>
          </a:p>
        </p:txBody>
      </p:sp>
      <p:cxnSp>
        <p:nvCxnSpPr>
          <p:cNvPr id="285" name="Google Shape;285;p35"/>
          <p:cNvCxnSpPr>
            <a:stCxn id="281" idx="1"/>
            <a:endCxn id="281" idx="3"/>
          </p:cNvCxnSpPr>
          <p:nvPr/>
        </p:nvCxnSpPr>
        <p:spPr>
          <a:xfrm>
            <a:off x="3447175" y="4525500"/>
            <a:ext cx="409800" cy="0"/>
          </a:xfrm>
          <a:prstGeom prst="straightConnector1">
            <a:avLst/>
          </a:prstGeom>
          <a:noFill/>
          <a:ln cap="flat" cmpd="sng" w="9525">
            <a:solidFill>
              <a:schemeClr val="dk1"/>
            </a:solidFill>
            <a:prstDash val="solid"/>
            <a:round/>
            <a:headEnd len="sm" w="sm" type="none"/>
            <a:tailEnd len="sm" w="sm" type="none"/>
          </a:ln>
        </p:spPr>
      </p:cxnSp>
      <p:sp>
        <p:nvSpPr>
          <p:cNvPr id="286" name="Google Shape;286;p35"/>
          <p:cNvSpPr txBox="1"/>
          <p:nvPr/>
        </p:nvSpPr>
        <p:spPr>
          <a:xfrm>
            <a:off x="3473251" y="3601649"/>
            <a:ext cx="3426900" cy="258000"/>
          </a:xfrm>
          <a:prstGeom prst="rect">
            <a:avLst/>
          </a:prstGeom>
          <a:noFill/>
          <a:ln>
            <a:noFill/>
          </a:ln>
        </p:spPr>
        <p:txBody>
          <a:bodyPr anchorCtr="0" anchor="t" bIns="22325" lIns="22325" spcFirstLastPara="1" rIns="22325" wrap="square" tIns="22325">
            <a:noAutofit/>
          </a:bodyPr>
          <a:lstStyle/>
          <a:p>
            <a:pPr indent="0" lvl="0" marL="0" marR="0" rtl="0" algn="l">
              <a:lnSpc>
                <a:spcPct val="100000"/>
              </a:lnSpc>
              <a:spcBef>
                <a:spcPts val="0"/>
              </a:spcBef>
              <a:spcAft>
                <a:spcPts val="0"/>
              </a:spcAft>
              <a:buClr>
                <a:schemeClr val="dk1"/>
              </a:buClr>
              <a:buSzPts val="300"/>
              <a:buFont typeface="Arial"/>
              <a:buNone/>
            </a:pPr>
            <a:r>
              <a:rPr b="1" i="1" lang="en" sz="300" u="none" cap="none" strike="noStrike">
                <a:solidFill>
                  <a:schemeClr val="dk1"/>
                </a:solidFill>
                <a:latin typeface="Calibri"/>
                <a:ea typeface="Calibri"/>
                <a:cs typeface="Calibri"/>
                <a:sym typeface="Calibri"/>
              </a:rPr>
              <a:t>Figure 2: </a:t>
            </a:r>
            <a:r>
              <a:rPr b="1" i="0" lang="en" sz="300" u="none" cap="none" strike="noStrike">
                <a:solidFill>
                  <a:schemeClr val="dk1"/>
                </a:solidFill>
                <a:latin typeface="Calibri"/>
                <a:ea typeface="Calibri"/>
                <a:cs typeface="Calibri"/>
                <a:sym typeface="Calibri"/>
              </a:rPr>
              <a:t>Plot Profiles of GPS2 and ATF4 Signals Across Conditions upon comparison with ATF4-RNA seq data</a:t>
            </a:r>
            <a:endParaRPr sz="300"/>
          </a:p>
          <a:p>
            <a:pPr indent="0" lvl="0" marL="0" marR="0" rtl="0" algn="just">
              <a:lnSpc>
                <a:spcPct val="100000"/>
              </a:lnSpc>
              <a:spcBef>
                <a:spcPts val="0"/>
              </a:spcBef>
              <a:spcAft>
                <a:spcPts val="0"/>
              </a:spcAft>
              <a:buClr>
                <a:schemeClr val="dk1"/>
              </a:buClr>
              <a:buSzPts val="300"/>
              <a:buFont typeface="Arial"/>
              <a:buNone/>
            </a:pPr>
            <a:r>
              <a:rPr b="0" i="0" lang="en" sz="300" u="none" cap="none" strike="noStrike">
                <a:solidFill>
                  <a:schemeClr val="dk1"/>
                </a:solidFill>
                <a:latin typeface="Calibri"/>
                <a:ea typeface="Calibri"/>
                <a:cs typeface="Calibri"/>
                <a:sym typeface="Calibri"/>
              </a:rPr>
              <a:t>This figure presents the plot profiles of GPS2 alongside ATF4_ISR (Amino Acid Deprivation) signals, segmented by experimental conditions. Each plot is centered on ATF4 peaks associated with differentially expressed genes identified from RNA-seq experiments. The profiles illustrate the variability in GPS2 binding behavior across different conditions, with a specific focus on genes that are differentially expressed under conditions similar to those in the GPS2 experiments.</a:t>
            </a:r>
            <a:endParaRPr b="0" i="0" sz="400" u="none" cap="none" strike="noStrike">
              <a:solidFill>
                <a:schemeClr val="dk1"/>
              </a:solidFill>
              <a:latin typeface="Calibri"/>
              <a:ea typeface="Calibri"/>
              <a:cs typeface="Calibri"/>
              <a:sym typeface="Calibri"/>
            </a:endParaRPr>
          </a:p>
        </p:txBody>
      </p:sp>
      <p:cxnSp>
        <p:nvCxnSpPr>
          <p:cNvPr id="287" name="Google Shape;287;p35"/>
          <p:cNvCxnSpPr/>
          <p:nvPr/>
        </p:nvCxnSpPr>
        <p:spPr>
          <a:xfrm flipH="1" rot="10800000">
            <a:off x="2076996" y="1266584"/>
            <a:ext cx="1030800" cy="300"/>
          </a:xfrm>
          <a:prstGeom prst="straightConnector1">
            <a:avLst/>
          </a:prstGeom>
          <a:noFill/>
          <a:ln cap="flat" cmpd="sng" w="9525">
            <a:solidFill>
              <a:schemeClr val="lt1"/>
            </a:solidFill>
            <a:prstDash val="solid"/>
            <a:round/>
            <a:headEnd len="med" w="med" type="oval"/>
            <a:tailEnd len="med" w="med" type="oval"/>
          </a:ln>
        </p:spPr>
      </p:cxnSp>
    </p:spTree>
  </p:cSld>
  <p:clrMapOvr>
    <a:masterClrMapping/>
  </p:clrMapOvr>
  <p:transition spd="med">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GPS2 and ATF4 Peak overlaps</a:t>
            </a:r>
            <a:endParaRPr/>
          </a:p>
        </p:txBody>
      </p:sp>
      <p:graphicFrame>
        <p:nvGraphicFramePr>
          <p:cNvPr id="293" name="Google Shape;293;p36"/>
          <p:cNvGraphicFramePr/>
          <p:nvPr/>
        </p:nvGraphicFramePr>
        <p:xfrm>
          <a:off x="394600" y="1200988"/>
          <a:ext cx="3000000" cy="3000000"/>
        </p:xfrm>
        <a:graphic>
          <a:graphicData uri="http://schemas.openxmlformats.org/drawingml/2006/table">
            <a:tbl>
              <a:tblPr>
                <a:noFill/>
                <a:tableStyleId>{0DC36284-27A1-4389-9642-44102B4506ED}</a:tableStyleId>
              </a:tblPr>
              <a:tblGrid>
                <a:gridCol w="2379150"/>
                <a:gridCol w="2237350"/>
                <a:gridCol w="1691975"/>
                <a:gridCol w="1691975"/>
              </a:tblGrid>
              <a:tr h="300700">
                <a:tc>
                  <a:txBody>
                    <a:bodyPr/>
                    <a:lstStyle/>
                    <a:p>
                      <a:pPr indent="0" lvl="0" marL="0" marR="0" rtl="0" algn="ctr">
                        <a:lnSpc>
                          <a:spcPct val="100000"/>
                        </a:lnSpc>
                        <a:spcBef>
                          <a:spcPts val="0"/>
                        </a:spcBef>
                        <a:spcAft>
                          <a:spcPts val="0"/>
                        </a:spcAft>
                        <a:buClr>
                          <a:srgbClr val="000000"/>
                        </a:buClr>
                        <a:buSzPts val="1400"/>
                        <a:buFont typeface="Arial"/>
                        <a:buNone/>
                      </a:pPr>
                      <a:r>
                        <a:t/>
                      </a:r>
                      <a:endParaRPr b="1"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gridSpan="3">
                  <a:txBody>
                    <a:bodyPr/>
                    <a:lstStyle/>
                    <a:p>
                      <a:pPr indent="0" lvl="0" marL="0" rtl="0" algn="ctr">
                        <a:spcBef>
                          <a:spcPts val="0"/>
                        </a:spcBef>
                        <a:spcAft>
                          <a:spcPts val="0"/>
                        </a:spcAft>
                        <a:buNone/>
                      </a:pPr>
                      <a:r>
                        <a:rPr b="1" lang="en" sz="1200"/>
                        <a:t>ATF4</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c hMerge="1"/>
              </a:tr>
              <a:tr h="300700">
                <a:tc>
                  <a:txBody>
                    <a:bodyPr/>
                    <a:lstStyle/>
                    <a:p>
                      <a:pPr indent="0" lvl="0" marL="0" marR="0" rtl="0" algn="ctr">
                        <a:lnSpc>
                          <a:spcPct val="100000"/>
                        </a:lnSpc>
                        <a:spcBef>
                          <a:spcPts val="0"/>
                        </a:spcBef>
                        <a:spcAft>
                          <a:spcPts val="0"/>
                        </a:spcAft>
                        <a:buNone/>
                      </a:pPr>
                      <a:r>
                        <a:t/>
                      </a:r>
                      <a:endParaRPr b="1" sz="1200" u="none" cap="none" strike="noStrike"/>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gridSpan="2">
                  <a:txBody>
                    <a:bodyPr/>
                    <a:lstStyle/>
                    <a:p>
                      <a:pPr indent="0" lvl="0" marL="0" marR="0" rtl="0" algn="ctr">
                        <a:lnSpc>
                          <a:spcPct val="100000"/>
                        </a:lnSpc>
                        <a:spcBef>
                          <a:spcPts val="0"/>
                        </a:spcBef>
                        <a:spcAft>
                          <a:spcPts val="0"/>
                        </a:spcAft>
                        <a:buNone/>
                      </a:pPr>
                      <a:r>
                        <a:rPr b="1" lang="en" sz="1200"/>
                        <a:t>Overlap = 83</a:t>
                      </a:r>
                      <a:endParaRPr b="1"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c>
                  <a:txBody>
                    <a:bodyPr/>
                    <a:lstStyle/>
                    <a:p>
                      <a:pPr indent="0" lvl="0" marL="0" marR="0" rtl="0" algn="ctr">
                        <a:lnSpc>
                          <a:spcPct val="100000"/>
                        </a:lnSpc>
                        <a:spcBef>
                          <a:spcPts val="0"/>
                        </a:spcBef>
                        <a:spcAft>
                          <a:spcPts val="0"/>
                        </a:spcAft>
                        <a:buNone/>
                      </a:pPr>
                      <a:r>
                        <a:t/>
                      </a:r>
                      <a:endParaRPr b="1"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616125">
                <a:tc>
                  <a:txBody>
                    <a:bodyPr/>
                    <a:lstStyle/>
                    <a:p>
                      <a:pPr indent="0" lvl="0" marL="0" marR="0" rtl="0" algn="ctr">
                        <a:lnSpc>
                          <a:spcPct val="100000"/>
                        </a:lnSpc>
                        <a:spcBef>
                          <a:spcPts val="0"/>
                        </a:spcBef>
                        <a:spcAft>
                          <a:spcPts val="0"/>
                        </a:spcAft>
                        <a:buClr>
                          <a:srgbClr val="000000"/>
                        </a:buClr>
                        <a:buSzPts val="1400"/>
                        <a:buFont typeface="Arial"/>
                        <a:buNone/>
                      </a:pPr>
                      <a:r>
                        <a:rPr b="1" lang="en" sz="1200" u="none" cap="none" strike="noStrike"/>
                        <a:t>GPS2 </a:t>
                      </a:r>
                      <a:endParaRPr b="1" sz="1200" u="none" cap="none" strike="noStrike"/>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200" u="none" cap="none" strike="noStrike"/>
                        <a:t>Amino Acid Deprivation (ATF4_ISR)</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b="0" lang="en" sz="1000" u="none" cap="none" strike="noStrike"/>
                        <a:t>(525)</a:t>
                      </a:r>
                      <a:endParaRPr b="0"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200" u="none" cap="none" strike="noStrike"/>
                        <a:t>ER Stress (ATF4_WT)</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b="0" lang="en" sz="1000" u="none" cap="none" strike="noStrike"/>
                        <a:t>(20639)</a:t>
                      </a:r>
                      <a:endParaRPr b="0"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200"/>
                        <a:t>ATF4 common</a:t>
                      </a:r>
                      <a:endParaRPr b="1" sz="1200"/>
                    </a:p>
                    <a:p>
                      <a:pPr indent="0" lvl="0" marL="0" rtl="0" algn="ctr">
                        <a:spcBef>
                          <a:spcPts val="0"/>
                        </a:spcBef>
                        <a:spcAft>
                          <a:spcPts val="0"/>
                        </a:spcAft>
                        <a:buNone/>
                      </a:pPr>
                      <a:r>
                        <a:rPr lang="en" sz="1000"/>
                        <a:t>(</a:t>
                      </a:r>
                      <a:r>
                        <a:rPr lang="en" sz="1000"/>
                        <a:t>ATF4_ISR on ATF4_WT)</a:t>
                      </a:r>
                      <a:endParaRPr sz="1100"/>
                    </a:p>
                    <a:p>
                      <a:pPr indent="0" lvl="0" marL="0" marR="0" rtl="0" algn="ctr">
                        <a:lnSpc>
                          <a:spcPct val="100000"/>
                        </a:lnSpc>
                        <a:spcBef>
                          <a:spcPts val="0"/>
                        </a:spcBef>
                        <a:spcAft>
                          <a:spcPts val="0"/>
                        </a:spcAft>
                        <a:buNone/>
                      </a:pPr>
                      <a:r>
                        <a:rPr lang="en" sz="1200"/>
                        <a:t>(83)</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u="none" cap="none" strike="noStrike"/>
                        <a:t>GPS2_day0</a:t>
                      </a:r>
                      <a:endParaRPr b="1" sz="1000" u="none" cap="none" strike="noStrike"/>
                    </a:p>
                    <a:p>
                      <a:pPr indent="0" lvl="0" marL="0" marR="0" rtl="0" algn="ctr">
                        <a:lnSpc>
                          <a:spcPct val="100000"/>
                        </a:lnSpc>
                        <a:spcBef>
                          <a:spcPts val="0"/>
                        </a:spcBef>
                        <a:spcAft>
                          <a:spcPts val="0"/>
                        </a:spcAft>
                        <a:buClr>
                          <a:srgbClr val="000000"/>
                        </a:buClr>
                        <a:buSzPts val="1200"/>
                        <a:buFont typeface="Arial"/>
                        <a:buNone/>
                      </a:pPr>
                      <a:r>
                        <a:rPr b="1" lang="en" sz="1000" u="none" cap="none" strike="noStrike"/>
                        <a:t> </a:t>
                      </a:r>
                      <a:r>
                        <a:rPr lang="en" sz="1000" u="none" cap="none" strike="noStrike"/>
                        <a:t>  (11917)</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000" u="none" cap="none" strike="noStrike"/>
                        <a:t>387</a:t>
                      </a:r>
                      <a:endParaRPr sz="1000" u="none" cap="none" strike="noStrike"/>
                    </a:p>
                    <a:p>
                      <a:pPr indent="0" lvl="0" marL="0" marR="0" rtl="0" algn="ctr">
                        <a:lnSpc>
                          <a:spcPct val="100000"/>
                        </a:lnSpc>
                        <a:spcBef>
                          <a:spcPts val="0"/>
                        </a:spcBef>
                        <a:spcAft>
                          <a:spcPts val="0"/>
                        </a:spcAft>
                        <a:buClr>
                          <a:srgbClr val="000000"/>
                        </a:buClr>
                        <a:buSzPts val="1000"/>
                        <a:buFont typeface="Arial"/>
                        <a:buNone/>
                      </a:pPr>
                      <a:r>
                        <a:rPr lang="en" sz="800" u="none" cap="none" strike="noStrike"/>
                        <a:t>Distal intergenic(50%)</a:t>
                      </a:r>
                      <a:endParaRPr sz="8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200" u="none" cap="none" strike="noStrike"/>
                        <a:t>266</a:t>
                      </a:r>
                      <a:endParaRPr sz="1200" u="none" cap="none" strike="noStrike"/>
                    </a:p>
                    <a:p>
                      <a:pPr indent="0" lvl="0" marL="0" marR="0" rtl="0" algn="ctr">
                        <a:lnSpc>
                          <a:spcPct val="100000"/>
                        </a:lnSpc>
                        <a:spcBef>
                          <a:spcPts val="0"/>
                        </a:spcBef>
                        <a:spcAft>
                          <a:spcPts val="0"/>
                        </a:spcAft>
                        <a:buClr>
                          <a:srgbClr val="000000"/>
                        </a:buClr>
                        <a:buSzPts val="1000"/>
                        <a:buFont typeface="Arial"/>
                        <a:buNone/>
                      </a:pPr>
                      <a:r>
                        <a:rPr lang="en" sz="800" u="none" cap="none" strike="noStrike"/>
                        <a:t>Promoter(83%)</a:t>
                      </a:r>
                      <a:endParaRPr sz="8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200"/>
                        <a:t>8</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u="none" cap="none" strike="noStrike"/>
                        <a:t>GPS2_day6</a:t>
                      </a:r>
                      <a:endParaRPr b="1" sz="1000" u="none" cap="none" strike="noStrike"/>
                    </a:p>
                    <a:p>
                      <a:pPr indent="0" lvl="0" marL="0" marR="0" rtl="0" algn="ctr">
                        <a:lnSpc>
                          <a:spcPct val="100000"/>
                        </a:lnSpc>
                        <a:spcBef>
                          <a:spcPts val="0"/>
                        </a:spcBef>
                        <a:spcAft>
                          <a:spcPts val="0"/>
                        </a:spcAft>
                        <a:buClr>
                          <a:srgbClr val="000000"/>
                        </a:buClr>
                        <a:buSzPts val="1200"/>
                        <a:buFont typeface="Arial"/>
                        <a:buNone/>
                      </a:pPr>
                      <a:r>
                        <a:rPr lang="en" sz="1000" u="none" cap="none" strike="noStrike"/>
                        <a:t>(44523)</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000" u="none" cap="none" strike="noStrike"/>
                        <a:t>378</a:t>
                      </a:r>
                      <a:endParaRPr sz="1000" u="none" cap="none" strike="noStrike"/>
                    </a:p>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rgbClr val="000000"/>
                          </a:solidFill>
                        </a:rPr>
                        <a:t>Distal intergenic(51%)</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200" u="none" cap="none" strike="noStrike"/>
                        <a:t>691</a:t>
                      </a:r>
                      <a:endParaRPr sz="1200" u="none" cap="none" strike="noStrike"/>
                    </a:p>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rgbClr val="000000"/>
                          </a:solidFill>
                        </a:rPr>
                        <a:t>Promoter(76%)</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200"/>
                        <a:t>5</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u="none" cap="none" strike="noStrike"/>
                        <a:t>GPS2_withFCCP</a:t>
                      </a:r>
                      <a:endParaRPr b="1" sz="1000" u="none" cap="none" strike="noStrike"/>
                    </a:p>
                    <a:p>
                      <a:pPr indent="0" lvl="0" marL="0" marR="0" rtl="0" algn="ctr">
                        <a:lnSpc>
                          <a:spcPct val="100000"/>
                        </a:lnSpc>
                        <a:spcBef>
                          <a:spcPts val="0"/>
                        </a:spcBef>
                        <a:spcAft>
                          <a:spcPts val="0"/>
                        </a:spcAft>
                        <a:buClr>
                          <a:srgbClr val="000000"/>
                        </a:buClr>
                        <a:buSzPts val="1200"/>
                        <a:buFont typeface="Arial"/>
                        <a:buNone/>
                      </a:pPr>
                      <a:r>
                        <a:rPr b="1" lang="en" sz="1000" u="none" cap="none" strike="noStrike"/>
                        <a:t> </a:t>
                      </a:r>
                      <a:r>
                        <a:rPr lang="en" sz="1000" u="none" cap="none" strike="noStrike"/>
                        <a:t>(2623)</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000" u="none" cap="none" strike="noStrike"/>
                        <a:t>0</a:t>
                      </a:r>
                      <a:endParaRPr sz="10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200" u="none" cap="none" strike="noStrike"/>
                        <a:t>10</a:t>
                      </a:r>
                      <a:endParaRPr sz="1200" u="none" cap="none" strike="noStrike"/>
                    </a:p>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rgbClr val="000000"/>
                          </a:solidFill>
                        </a:rPr>
                        <a:t>Promoter(40%)</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None/>
                      </a:pPr>
                      <a:r>
                        <a:rPr lang="en" sz="1200"/>
                        <a:t>0</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u="none" cap="none" strike="noStrike"/>
                        <a:t>GPS2_siCTL</a:t>
                      </a:r>
                      <a:endParaRPr b="1" sz="1000" u="none" cap="none" strike="noStrike"/>
                    </a:p>
                    <a:p>
                      <a:pPr indent="0" lvl="0" marL="0" marR="0" rtl="0" algn="ctr">
                        <a:lnSpc>
                          <a:spcPct val="100000"/>
                        </a:lnSpc>
                        <a:spcBef>
                          <a:spcPts val="0"/>
                        </a:spcBef>
                        <a:spcAft>
                          <a:spcPts val="0"/>
                        </a:spcAft>
                        <a:buClr>
                          <a:srgbClr val="000000"/>
                        </a:buClr>
                        <a:buSzPts val="1200"/>
                        <a:buFont typeface="Arial"/>
                        <a:buNone/>
                      </a:pPr>
                      <a:r>
                        <a:rPr lang="en" sz="1000" u="none" cap="none" strike="noStrike"/>
                        <a:t>(10059)</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000" u="none" cap="none" strike="noStrike"/>
                        <a:t>111</a:t>
                      </a:r>
                      <a:endParaRPr sz="800" u="none" cap="none" strike="noStrike"/>
                    </a:p>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rgbClr val="000000"/>
                          </a:solidFill>
                        </a:rPr>
                        <a:t>Distal intergenic(40%)</a:t>
                      </a:r>
                      <a:endParaRPr sz="8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200" u="none" cap="none" strike="noStrike"/>
                        <a:t>301</a:t>
                      </a:r>
                      <a:endParaRPr sz="1200" u="none" cap="none" strike="noStrike"/>
                    </a:p>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rgbClr val="000000"/>
                          </a:solidFill>
                        </a:rPr>
                        <a:t>Promoter(95%)</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200"/>
                        <a:t>2</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idx="1" type="body"/>
          </p:nvPr>
        </p:nvSpPr>
        <p:spPr>
          <a:xfrm>
            <a:off x="311700" y="495550"/>
            <a:ext cx="8520600" cy="407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ATF4_ISR over GPS2_FCCP (Treatment)		ATF4_ISR over GPS2_Differentiation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br>
              <a:rPr lang="en"/>
            </a:br>
            <a:r>
              <a:rPr lang="en"/>
              <a:t>					</a:t>
            </a:r>
            <a:r>
              <a:rPr lang="en"/>
              <a:t>ATF4_ISR over GPS2_Silencing</a:t>
            </a:r>
            <a:endParaRPr/>
          </a:p>
        </p:txBody>
      </p:sp>
      <p:pic>
        <p:nvPicPr>
          <p:cNvPr id="299" name="Google Shape;299;p37"/>
          <p:cNvPicPr preferRelativeResize="0"/>
          <p:nvPr/>
        </p:nvPicPr>
        <p:blipFill rotWithShape="1">
          <a:blip r:embed="rId3">
            <a:alphaModFix/>
          </a:blip>
          <a:srcRect b="0" l="0" r="0" t="14118"/>
          <a:stretch/>
        </p:blipFill>
        <p:spPr>
          <a:xfrm>
            <a:off x="403500" y="925475"/>
            <a:ext cx="3995375" cy="1646275"/>
          </a:xfrm>
          <a:prstGeom prst="rect">
            <a:avLst/>
          </a:prstGeom>
          <a:noFill/>
          <a:ln>
            <a:noFill/>
          </a:ln>
        </p:spPr>
      </p:pic>
      <p:pic>
        <p:nvPicPr>
          <p:cNvPr id="300" name="Google Shape;300;p37"/>
          <p:cNvPicPr preferRelativeResize="0"/>
          <p:nvPr/>
        </p:nvPicPr>
        <p:blipFill rotWithShape="1">
          <a:blip r:embed="rId4">
            <a:alphaModFix/>
          </a:blip>
          <a:srcRect b="0" l="0" r="0" t="13778"/>
          <a:stretch/>
        </p:blipFill>
        <p:spPr>
          <a:xfrm>
            <a:off x="4970872" y="893589"/>
            <a:ext cx="3826999" cy="1755874"/>
          </a:xfrm>
          <a:prstGeom prst="rect">
            <a:avLst/>
          </a:prstGeom>
          <a:noFill/>
          <a:ln>
            <a:noFill/>
          </a:ln>
        </p:spPr>
      </p:pic>
      <p:pic>
        <p:nvPicPr>
          <p:cNvPr id="301" name="Google Shape;301;p37"/>
          <p:cNvPicPr preferRelativeResize="0"/>
          <p:nvPr/>
        </p:nvPicPr>
        <p:blipFill rotWithShape="1">
          <a:blip r:embed="rId5">
            <a:alphaModFix/>
          </a:blip>
          <a:srcRect b="0" l="0" r="0" t="12694"/>
          <a:stretch/>
        </p:blipFill>
        <p:spPr>
          <a:xfrm>
            <a:off x="1942550" y="3157950"/>
            <a:ext cx="4129999" cy="1560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idx="1" type="body"/>
          </p:nvPr>
        </p:nvSpPr>
        <p:spPr>
          <a:xfrm>
            <a:off x="311700" y="495550"/>
            <a:ext cx="8520600" cy="407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ATF4_WT over GPS2_FCCP (Treatment)		ATF4_WT over GPS2_Differentiation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br>
              <a:rPr lang="en"/>
            </a:br>
            <a:r>
              <a:rPr lang="en"/>
              <a:t>					ATF4_WT over GPS2_Silencing</a:t>
            </a:r>
            <a:endParaRPr/>
          </a:p>
        </p:txBody>
      </p:sp>
      <p:pic>
        <p:nvPicPr>
          <p:cNvPr id="307" name="Google Shape;307;p38"/>
          <p:cNvPicPr preferRelativeResize="0"/>
          <p:nvPr/>
        </p:nvPicPr>
        <p:blipFill rotWithShape="1">
          <a:blip r:embed="rId3">
            <a:alphaModFix/>
          </a:blip>
          <a:srcRect b="0" l="0" r="0" t="14850"/>
          <a:stretch/>
        </p:blipFill>
        <p:spPr>
          <a:xfrm>
            <a:off x="2687475" y="3035900"/>
            <a:ext cx="3329049" cy="1803650"/>
          </a:xfrm>
          <a:prstGeom prst="rect">
            <a:avLst/>
          </a:prstGeom>
          <a:noFill/>
          <a:ln>
            <a:noFill/>
          </a:ln>
        </p:spPr>
      </p:pic>
      <p:pic>
        <p:nvPicPr>
          <p:cNvPr id="308" name="Google Shape;308;p38"/>
          <p:cNvPicPr preferRelativeResize="0"/>
          <p:nvPr/>
        </p:nvPicPr>
        <p:blipFill rotWithShape="1">
          <a:blip r:embed="rId4">
            <a:alphaModFix/>
          </a:blip>
          <a:srcRect b="0" l="0" r="0" t="13442"/>
          <a:stretch/>
        </p:blipFill>
        <p:spPr>
          <a:xfrm>
            <a:off x="5307200" y="891875"/>
            <a:ext cx="3050401" cy="1679875"/>
          </a:xfrm>
          <a:prstGeom prst="rect">
            <a:avLst/>
          </a:prstGeom>
          <a:noFill/>
          <a:ln>
            <a:noFill/>
          </a:ln>
        </p:spPr>
      </p:pic>
      <p:pic>
        <p:nvPicPr>
          <p:cNvPr id="309" name="Google Shape;309;p38"/>
          <p:cNvPicPr preferRelativeResize="0"/>
          <p:nvPr/>
        </p:nvPicPr>
        <p:blipFill rotWithShape="1">
          <a:blip r:embed="rId5">
            <a:alphaModFix/>
          </a:blip>
          <a:srcRect b="0" l="0" r="0" t="13382"/>
          <a:stretch/>
        </p:blipFill>
        <p:spPr>
          <a:xfrm>
            <a:off x="886775" y="942525"/>
            <a:ext cx="3236201" cy="1578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GPS2 signal over ATF4_ISR peaks from RNA-seq </a:t>
            </a:r>
            <a:r>
              <a:rPr b="1" lang="en" sz="1200">
                <a:solidFill>
                  <a:srgbClr val="212121"/>
                </a:solidFill>
                <a:highlight>
                  <a:srgbClr val="FFFFFF"/>
                </a:highlight>
              </a:rPr>
              <a:t>(26960794)</a:t>
            </a:r>
            <a:endParaRPr b="1" sz="1200">
              <a:solidFill>
                <a:srgbClr val="212121"/>
              </a:solidFill>
              <a:highlight>
                <a:srgbClr val="FFFFFF"/>
              </a:highlight>
            </a:endParaRPr>
          </a:p>
          <a:p>
            <a:pPr indent="0" lvl="0" marL="0" rtl="0" algn="l">
              <a:spcBef>
                <a:spcPts val="0"/>
              </a:spcBef>
              <a:spcAft>
                <a:spcPts val="0"/>
              </a:spcAft>
              <a:buNone/>
            </a:pPr>
            <a:r>
              <a:t/>
            </a:r>
            <a:endParaRPr/>
          </a:p>
        </p:txBody>
      </p:sp>
      <p:sp>
        <p:nvSpPr>
          <p:cNvPr id="315" name="Google Shape;315;p3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6" name="Google Shape;316;p39"/>
          <p:cNvPicPr preferRelativeResize="0"/>
          <p:nvPr/>
        </p:nvPicPr>
        <p:blipFill>
          <a:blip r:embed="rId3">
            <a:alphaModFix/>
          </a:blip>
          <a:stretch>
            <a:fillRect/>
          </a:stretch>
        </p:blipFill>
        <p:spPr>
          <a:xfrm>
            <a:off x="66025" y="1090700"/>
            <a:ext cx="9005773" cy="1192750"/>
          </a:xfrm>
          <a:prstGeom prst="rect">
            <a:avLst/>
          </a:prstGeom>
          <a:noFill/>
          <a:ln>
            <a:noFill/>
          </a:ln>
        </p:spPr>
      </p:pic>
      <p:sp>
        <p:nvSpPr>
          <p:cNvPr id="317" name="Google Shape;317;p39"/>
          <p:cNvSpPr txBox="1"/>
          <p:nvPr/>
        </p:nvSpPr>
        <p:spPr>
          <a:xfrm>
            <a:off x="138300" y="2086300"/>
            <a:ext cx="9005700" cy="1299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b="1" lang="en" sz="1000">
                <a:solidFill>
                  <a:schemeClr val="dk2"/>
                </a:solidFill>
                <a:latin typeface="Roboto"/>
                <a:ea typeface="Roboto"/>
                <a:cs typeface="Roboto"/>
                <a:sym typeface="Roboto"/>
              </a:rPr>
              <a:t>5 			     52			 	58			 57			     16			      49</a:t>
            </a:r>
            <a:r>
              <a:rPr b="1" lang="en" sz="1800">
                <a:solidFill>
                  <a:schemeClr val="dk2"/>
                </a:solidFill>
                <a:latin typeface="Roboto"/>
                <a:ea typeface="Roboto"/>
                <a:cs typeface="Roboto"/>
                <a:sym typeface="Roboto"/>
              </a:rPr>
              <a:t>						</a:t>
            </a:r>
            <a:endParaRPr b="1" sz="1800">
              <a:solidFill>
                <a:schemeClr val="dk2"/>
              </a:solidFill>
              <a:latin typeface="Roboto"/>
              <a:ea typeface="Roboto"/>
              <a:cs typeface="Roboto"/>
              <a:sym typeface="Roboto"/>
            </a:endParaRPr>
          </a:p>
        </p:txBody>
      </p:sp>
      <p:pic>
        <p:nvPicPr>
          <p:cNvPr id="318" name="Google Shape;318;p39"/>
          <p:cNvPicPr preferRelativeResize="0"/>
          <p:nvPr/>
        </p:nvPicPr>
        <p:blipFill>
          <a:blip r:embed="rId4">
            <a:alphaModFix/>
          </a:blip>
          <a:stretch>
            <a:fillRect/>
          </a:stretch>
        </p:blipFill>
        <p:spPr>
          <a:xfrm>
            <a:off x="3225475" y="2429400"/>
            <a:ext cx="1346524" cy="1988351"/>
          </a:xfrm>
          <a:prstGeom prst="rect">
            <a:avLst/>
          </a:prstGeom>
          <a:noFill/>
          <a:ln>
            <a:noFill/>
          </a:ln>
        </p:spPr>
      </p:pic>
      <p:pic>
        <p:nvPicPr>
          <p:cNvPr id="319" name="Google Shape;319;p39"/>
          <p:cNvPicPr preferRelativeResize="0"/>
          <p:nvPr/>
        </p:nvPicPr>
        <p:blipFill>
          <a:blip r:embed="rId5">
            <a:alphaModFix/>
          </a:blip>
          <a:stretch>
            <a:fillRect/>
          </a:stretch>
        </p:blipFill>
        <p:spPr>
          <a:xfrm>
            <a:off x="1598925" y="2429400"/>
            <a:ext cx="1512900" cy="1988350"/>
          </a:xfrm>
          <a:prstGeom prst="rect">
            <a:avLst/>
          </a:prstGeom>
          <a:noFill/>
          <a:ln>
            <a:noFill/>
          </a:ln>
        </p:spPr>
      </p:pic>
      <p:pic>
        <p:nvPicPr>
          <p:cNvPr id="320" name="Google Shape;320;p39"/>
          <p:cNvPicPr preferRelativeResize="0"/>
          <p:nvPr/>
        </p:nvPicPr>
        <p:blipFill>
          <a:blip r:embed="rId6">
            <a:alphaModFix/>
          </a:blip>
          <a:stretch>
            <a:fillRect/>
          </a:stretch>
        </p:blipFill>
        <p:spPr>
          <a:xfrm>
            <a:off x="175250" y="2429400"/>
            <a:ext cx="1346525" cy="1988350"/>
          </a:xfrm>
          <a:prstGeom prst="rect">
            <a:avLst/>
          </a:prstGeom>
          <a:noFill/>
          <a:ln>
            <a:noFill/>
          </a:ln>
        </p:spPr>
      </p:pic>
      <p:pic>
        <p:nvPicPr>
          <p:cNvPr id="321" name="Google Shape;321;p39"/>
          <p:cNvPicPr preferRelativeResize="0"/>
          <p:nvPr/>
        </p:nvPicPr>
        <p:blipFill>
          <a:blip r:embed="rId7">
            <a:alphaModFix/>
          </a:blip>
          <a:stretch>
            <a:fillRect/>
          </a:stretch>
        </p:blipFill>
        <p:spPr>
          <a:xfrm>
            <a:off x="6151400" y="2429400"/>
            <a:ext cx="1400749" cy="1988350"/>
          </a:xfrm>
          <a:prstGeom prst="rect">
            <a:avLst/>
          </a:prstGeom>
          <a:noFill/>
          <a:ln>
            <a:noFill/>
          </a:ln>
        </p:spPr>
      </p:pic>
      <p:pic>
        <p:nvPicPr>
          <p:cNvPr id="322" name="Google Shape;322;p39"/>
          <p:cNvPicPr preferRelativeResize="0"/>
          <p:nvPr/>
        </p:nvPicPr>
        <p:blipFill>
          <a:blip r:embed="rId8">
            <a:alphaModFix/>
          </a:blip>
          <a:stretch>
            <a:fillRect/>
          </a:stretch>
        </p:blipFill>
        <p:spPr>
          <a:xfrm>
            <a:off x="4685650" y="2429400"/>
            <a:ext cx="1400751" cy="1988351"/>
          </a:xfrm>
          <a:prstGeom prst="rect">
            <a:avLst/>
          </a:prstGeom>
          <a:noFill/>
          <a:ln>
            <a:noFill/>
          </a:ln>
        </p:spPr>
      </p:pic>
      <p:pic>
        <p:nvPicPr>
          <p:cNvPr id="323" name="Google Shape;323;p39"/>
          <p:cNvPicPr preferRelativeResize="0"/>
          <p:nvPr/>
        </p:nvPicPr>
        <p:blipFill>
          <a:blip r:embed="rId9">
            <a:alphaModFix/>
          </a:blip>
          <a:stretch>
            <a:fillRect/>
          </a:stretch>
        </p:blipFill>
        <p:spPr>
          <a:xfrm>
            <a:off x="7617150" y="2472275"/>
            <a:ext cx="1400750" cy="19454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555"/>
              <a:t>GPS2 signal over ATF4_ISR peaks from mTORC1 RNA-seq</a:t>
            </a:r>
            <a:r>
              <a:rPr b="1" lang="en" sz="1200">
                <a:solidFill>
                  <a:srgbClr val="212121"/>
                </a:solidFill>
                <a:highlight>
                  <a:srgbClr val="FFFFFF"/>
                </a:highlight>
              </a:rPr>
              <a:t>(33646118)</a:t>
            </a:r>
            <a:endParaRPr b="1" sz="1200">
              <a:solidFill>
                <a:srgbClr val="212121"/>
              </a:solidFill>
              <a:highlight>
                <a:srgbClr val="FFFFFF"/>
              </a:highlight>
            </a:endParaRPr>
          </a:p>
          <a:p>
            <a:pPr indent="0" lvl="0" marL="0" rtl="0" algn="l">
              <a:spcBef>
                <a:spcPts val="0"/>
              </a:spcBef>
              <a:spcAft>
                <a:spcPts val="0"/>
              </a:spcAft>
              <a:buNone/>
            </a:pPr>
            <a:r>
              <a:t/>
            </a:r>
            <a:endParaRPr/>
          </a:p>
        </p:txBody>
      </p:sp>
      <p:sp>
        <p:nvSpPr>
          <p:cNvPr id="329" name="Google Shape;329;p40"/>
          <p:cNvSpPr txBox="1"/>
          <p:nvPr>
            <p:ph idx="1" type="body"/>
          </p:nvPr>
        </p:nvSpPr>
        <p:spPr>
          <a:xfrm>
            <a:off x="311700" y="1017800"/>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0" name="Google Shape;330;p40"/>
          <p:cNvPicPr preferRelativeResize="0"/>
          <p:nvPr/>
        </p:nvPicPr>
        <p:blipFill rotWithShape="1">
          <a:blip r:embed="rId3">
            <a:alphaModFix/>
          </a:blip>
          <a:srcRect b="0" l="0" r="0" t="11894"/>
          <a:stretch/>
        </p:blipFill>
        <p:spPr>
          <a:xfrm>
            <a:off x="311700" y="1017800"/>
            <a:ext cx="4188474" cy="2786225"/>
          </a:xfrm>
          <a:prstGeom prst="rect">
            <a:avLst/>
          </a:prstGeom>
          <a:noFill/>
          <a:ln>
            <a:noFill/>
          </a:ln>
        </p:spPr>
      </p:pic>
      <p:pic>
        <p:nvPicPr>
          <p:cNvPr id="331" name="Google Shape;331;p40"/>
          <p:cNvPicPr preferRelativeResize="0"/>
          <p:nvPr/>
        </p:nvPicPr>
        <p:blipFill>
          <a:blip r:embed="rId4">
            <a:alphaModFix/>
          </a:blip>
          <a:stretch>
            <a:fillRect/>
          </a:stretch>
        </p:blipFill>
        <p:spPr>
          <a:xfrm>
            <a:off x="4928900" y="1017800"/>
            <a:ext cx="3617974" cy="2786224"/>
          </a:xfrm>
          <a:prstGeom prst="rect">
            <a:avLst/>
          </a:prstGeom>
          <a:noFill/>
          <a:ln>
            <a:noFill/>
          </a:ln>
        </p:spPr>
      </p:pic>
      <p:sp>
        <p:nvSpPr>
          <p:cNvPr id="332" name="Google Shape;332;p40"/>
          <p:cNvSpPr txBox="1"/>
          <p:nvPr/>
        </p:nvSpPr>
        <p:spPr>
          <a:xfrm>
            <a:off x="4479450" y="2183950"/>
            <a:ext cx="4494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33</a:t>
            </a:r>
            <a:endParaRPr b="1" sz="18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38" name="Google Shape;338;p4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GPS2 signal over ATF4_WT peaks from RNA-seq </a:t>
            </a:r>
            <a:r>
              <a:rPr b="1" lang="en" sz="1200">
                <a:solidFill>
                  <a:srgbClr val="212121"/>
                </a:solidFill>
                <a:highlight>
                  <a:srgbClr val="FFFFFF"/>
                </a:highlight>
              </a:rPr>
              <a:t>(26960794)</a:t>
            </a:r>
            <a:endParaRPr b="1" sz="1200">
              <a:solidFill>
                <a:srgbClr val="212121"/>
              </a:solidFill>
              <a:highlight>
                <a:srgbClr val="FFFFFF"/>
              </a:highlight>
            </a:endParaRPr>
          </a:p>
          <a:p>
            <a:pPr indent="0" lvl="0" marL="0" rtl="0" algn="l">
              <a:spcBef>
                <a:spcPts val="0"/>
              </a:spcBef>
              <a:spcAft>
                <a:spcPts val="0"/>
              </a:spcAft>
              <a:buNone/>
            </a:pPr>
            <a:r>
              <a:t/>
            </a:r>
            <a:endParaRPr/>
          </a:p>
        </p:txBody>
      </p:sp>
      <p:pic>
        <p:nvPicPr>
          <p:cNvPr id="339" name="Google Shape;339;p41"/>
          <p:cNvPicPr preferRelativeResize="0"/>
          <p:nvPr/>
        </p:nvPicPr>
        <p:blipFill>
          <a:blip r:embed="rId3">
            <a:alphaModFix/>
          </a:blip>
          <a:stretch>
            <a:fillRect/>
          </a:stretch>
        </p:blipFill>
        <p:spPr>
          <a:xfrm>
            <a:off x="217700" y="1268225"/>
            <a:ext cx="8789325" cy="968850"/>
          </a:xfrm>
          <a:prstGeom prst="rect">
            <a:avLst/>
          </a:prstGeom>
          <a:noFill/>
          <a:ln>
            <a:noFill/>
          </a:ln>
        </p:spPr>
      </p:pic>
      <p:pic>
        <p:nvPicPr>
          <p:cNvPr id="340" name="Google Shape;340;p41"/>
          <p:cNvPicPr preferRelativeResize="0"/>
          <p:nvPr/>
        </p:nvPicPr>
        <p:blipFill rotWithShape="1">
          <a:blip r:embed="rId4">
            <a:alphaModFix/>
          </a:blip>
          <a:srcRect b="6791" l="12541" r="20640" t="43523"/>
          <a:stretch/>
        </p:blipFill>
        <p:spPr>
          <a:xfrm>
            <a:off x="4721975" y="2701875"/>
            <a:ext cx="1350125" cy="1525551"/>
          </a:xfrm>
          <a:prstGeom prst="rect">
            <a:avLst/>
          </a:prstGeom>
          <a:noFill/>
          <a:ln>
            <a:noFill/>
          </a:ln>
        </p:spPr>
      </p:pic>
      <p:sp>
        <p:nvSpPr>
          <p:cNvPr id="341" name="Google Shape;341;p41"/>
          <p:cNvSpPr txBox="1"/>
          <p:nvPr/>
        </p:nvSpPr>
        <p:spPr>
          <a:xfrm>
            <a:off x="318350" y="2322300"/>
            <a:ext cx="8595900" cy="2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	</a:t>
            </a:r>
            <a:r>
              <a:rPr b="1" lang="en" sz="1800">
                <a:solidFill>
                  <a:schemeClr val="dk2"/>
                </a:solidFill>
                <a:latin typeface="Roboto"/>
                <a:ea typeface="Roboto"/>
                <a:cs typeface="Roboto"/>
                <a:sym typeface="Roboto"/>
              </a:rPr>
              <a:t>150			1953		1929		   1896		     410		     1832</a:t>
            </a:r>
            <a:endParaRPr b="1" sz="1800">
              <a:solidFill>
                <a:schemeClr val="dk2"/>
              </a:solidFill>
              <a:latin typeface="Roboto"/>
              <a:ea typeface="Roboto"/>
              <a:cs typeface="Roboto"/>
              <a:sym typeface="Roboto"/>
            </a:endParaRPr>
          </a:p>
        </p:txBody>
      </p:sp>
      <p:pic>
        <p:nvPicPr>
          <p:cNvPr id="342" name="Google Shape;342;p41"/>
          <p:cNvPicPr preferRelativeResize="0"/>
          <p:nvPr/>
        </p:nvPicPr>
        <p:blipFill>
          <a:blip r:embed="rId5">
            <a:alphaModFix/>
          </a:blip>
          <a:stretch>
            <a:fillRect/>
          </a:stretch>
        </p:blipFill>
        <p:spPr>
          <a:xfrm>
            <a:off x="7628375" y="2690513"/>
            <a:ext cx="1409173" cy="1525549"/>
          </a:xfrm>
          <a:prstGeom prst="rect">
            <a:avLst/>
          </a:prstGeom>
          <a:noFill/>
          <a:ln>
            <a:noFill/>
          </a:ln>
        </p:spPr>
      </p:pic>
      <p:pic>
        <p:nvPicPr>
          <p:cNvPr id="343" name="Google Shape;343;p41"/>
          <p:cNvPicPr preferRelativeResize="0"/>
          <p:nvPr/>
        </p:nvPicPr>
        <p:blipFill>
          <a:blip r:embed="rId6">
            <a:alphaModFix/>
          </a:blip>
          <a:stretch>
            <a:fillRect/>
          </a:stretch>
        </p:blipFill>
        <p:spPr>
          <a:xfrm>
            <a:off x="3268775" y="2701875"/>
            <a:ext cx="1350126" cy="1525549"/>
          </a:xfrm>
          <a:prstGeom prst="rect">
            <a:avLst/>
          </a:prstGeom>
          <a:noFill/>
          <a:ln>
            <a:noFill/>
          </a:ln>
        </p:spPr>
      </p:pic>
      <p:pic>
        <p:nvPicPr>
          <p:cNvPr id="344" name="Google Shape;344;p41"/>
          <p:cNvPicPr preferRelativeResize="0"/>
          <p:nvPr/>
        </p:nvPicPr>
        <p:blipFill>
          <a:blip r:embed="rId7">
            <a:alphaModFix/>
          </a:blip>
          <a:stretch>
            <a:fillRect/>
          </a:stretch>
        </p:blipFill>
        <p:spPr>
          <a:xfrm>
            <a:off x="1815575" y="2734702"/>
            <a:ext cx="1350125" cy="1461623"/>
          </a:xfrm>
          <a:prstGeom prst="rect">
            <a:avLst/>
          </a:prstGeom>
          <a:noFill/>
          <a:ln>
            <a:noFill/>
          </a:ln>
        </p:spPr>
      </p:pic>
      <p:pic>
        <p:nvPicPr>
          <p:cNvPr id="345" name="Google Shape;345;p41"/>
          <p:cNvPicPr preferRelativeResize="0"/>
          <p:nvPr/>
        </p:nvPicPr>
        <p:blipFill>
          <a:blip r:embed="rId8">
            <a:alphaModFix/>
          </a:blip>
          <a:stretch>
            <a:fillRect/>
          </a:stretch>
        </p:blipFill>
        <p:spPr>
          <a:xfrm>
            <a:off x="349525" y="2701875"/>
            <a:ext cx="1409174" cy="1502826"/>
          </a:xfrm>
          <a:prstGeom prst="rect">
            <a:avLst/>
          </a:prstGeom>
          <a:noFill/>
          <a:ln>
            <a:noFill/>
          </a:ln>
        </p:spPr>
      </p:pic>
      <p:pic>
        <p:nvPicPr>
          <p:cNvPr id="346" name="Google Shape;346;p41"/>
          <p:cNvPicPr preferRelativeResize="0"/>
          <p:nvPr/>
        </p:nvPicPr>
        <p:blipFill>
          <a:blip r:embed="rId9">
            <a:alphaModFix/>
          </a:blip>
          <a:stretch>
            <a:fillRect/>
          </a:stretch>
        </p:blipFill>
        <p:spPr>
          <a:xfrm>
            <a:off x="6175175" y="2714100"/>
            <a:ext cx="1350124" cy="15028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2" name="Google Shape;352;p42"/>
          <p:cNvPicPr preferRelativeResize="0"/>
          <p:nvPr/>
        </p:nvPicPr>
        <p:blipFill rotWithShape="1">
          <a:blip r:embed="rId3">
            <a:alphaModFix/>
          </a:blip>
          <a:srcRect b="0" l="0" r="0" t="11126"/>
          <a:stretch/>
        </p:blipFill>
        <p:spPr>
          <a:xfrm>
            <a:off x="311700" y="1229875"/>
            <a:ext cx="3773026" cy="2600450"/>
          </a:xfrm>
          <a:prstGeom prst="rect">
            <a:avLst/>
          </a:prstGeom>
          <a:noFill/>
          <a:ln>
            <a:noFill/>
          </a:ln>
        </p:spPr>
      </p:pic>
      <p:pic>
        <p:nvPicPr>
          <p:cNvPr id="353" name="Google Shape;353;p42"/>
          <p:cNvPicPr preferRelativeResize="0"/>
          <p:nvPr/>
        </p:nvPicPr>
        <p:blipFill>
          <a:blip r:embed="rId4">
            <a:alphaModFix/>
          </a:blip>
          <a:stretch>
            <a:fillRect/>
          </a:stretch>
        </p:blipFill>
        <p:spPr>
          <a:xfrm>
            <a:off x="4681200" y="1166850"/>
            <a:ext cx="4009526" cy="2663476"/>
          </a:xfrm>
          <a:prstGeom prst="rect">
            <a:avLst/>
          </a:prstGeom>
          <a:noFill/>
          <a:ln>
            <a:noFill/>
          </a:ln>
        </p:spPr>
      </p:pic>
      <p:sp>
        <p:nvSpPr>
          <p:cNvPr id="354" name="Google Shape;354;p4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555"/>
              <a:t>GPS2 signal over ATF4_WT peaks from mTORC1 RNA-seq</a:t>
            </a:r>
            <a:r>
              <a:rPr b="1" lang="en" sz="1200">
                <a:solidFill>
                  <a:srgbClr val="212121"/>
                </a:solidFill>
                <a:highlight>
                  <a:srgbClr val="FFFFFF"/>
                </a:highlight>
              </a:rPr>
              <a:t>(33646118)</a:t>
            </a:r>
            <a:endParaRPr b="1" sz="1200">
              <a:solidFill>
                <a:srgbClr val="212121"/>
              </a:solidFill>
              <a:highlight>
                <a:srgbClr val="FFFFFF"/>
              </a:highlight>
            </a:endParaRPr>
          </a:p>
          <a:p>
            <a:pPr indent="0" lvl="0" marL="0" rtl="0" algn="l">
              <a:spcBef>
                <a:spcPts val="0"/>
              </a:spcBef>
              <a:spcAft>
                <a:spcPts val="0"/>
              </a:spcAft>
              <a:buNone/>
            </a:pPr>
            <a:r>
              <a:t/>
            </a:r>
            <a:endParaRPr/>
          </a:p>
        </p:txBody>
      </p:sp>
      <p:sp>
        <p:nvSpPr>
          <p:cNvPr id="355" name="Google Shape;355;p42"/>
          <p:cNvSpPr txBox="1"/>
          <p:nvPr/>
        </p:nvSpPr>
        <p:spPr>
          <a:xfrm>
            <a:off x="4084725" y="2297000"/>
            <a:ext cx="597900" cy="4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543</a:t>
            </a:r>
            <a:endParaRPr b="1" sz="1800">
              <a:solidFill>
                <a:schemeClr val="dk2"/>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Differentiation; </a:t>
            </a:r>
            <a:r>
              <a:rPr lang="en" u="sng"/>
              <a:t>ATF4:</a:t>
            </a:r>
            <a:r>
              <a:rPr lang="en"/>
              <a:t> </a:t>
            </a:r>
            <a:r>
              <a:rPr b="1" lang="en"/>
              <a:t>Amino Acid Deprivation</a:t>
            </a:r>
            <a:endParaRPr b="1"/>
          </a:p>
        </p:txBody>
      </p:sp>
      <p:sp>
        <p:nvSpPr>
          <p:cNvPr id="361" name="Google Shape;361;p4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000"/>
              <a:t>Comparison of GPS2 Differentiation Conditions and ATF4_ISR Peaks with ATF4 Genes Dysregulated by Tunicamycin-Induced ER Stress</a:t>
            </a:r>
            <a:endParaRPr b="1" sz="10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sz="1000"/>
              <a:t>Comparison of GPS2 Differentiation Conditions and ATF4_ISR Peaks with ATF4 Genes Dysregulated by Tunicamycin and Insulin-Rapamycin</a:t>
            </a:r>
            <a:endParaRPr sz="1700"/>
          </a:p>
        </p:txBody>
      </p:sp>
      <p:pic>
        <p:nvPicPr>
          <p:cNvPr id="362" name="Google Shape;362;p43"/>
          <p:cNvPicPr preferRelativeResize="0"/>
          <p:nvPr/>
        </p:nvPicPr>
        <p:blipFill>
          <a:blip r:embed="rId3">
            <a:alphaModFix/>
          </a:blip>
          <a:stretch>
            <a:fillRect/>
          </a:stretch>
        </p:blipFill>
        <p:spPr>
          <a:xfrm>
            <a:off x="501050" y="1602900"/>
            <a:ext cx="8403400" cy="968850"/>
          </a:xfrm>
          <a:prstGeom prst="rect">
            <a:avLst/>
          </a:prstGeom>
          <a:noFill/>
          <a:ln>
            <a:noFill/>
          </a:ln>
        </p:spPr>
      </p:pic>
      <p:pic>
        <p:nvPicPr>
          <p:cNvPr id="363" name="Google Shape;363;p43"/>
          <p:cNvPicPr preferRelativeResize="0"/>
          <p:nvPr/>
        </p:nvPicPr>
        <p:blipFill>
          <a:blip r:embed="rId4">
            <a:alphaModFix/>
          </a:blip>
          <a:stretch>
            <a:fillRect/>
          </a:stretch>
        </p:blipFill>
        <p:spPr>
          <a:xfrm>
            <a:off x="1123125" y="2859400"/>
            <a:ext cx="5328948" cy="152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Treatment; </a:t>
            </a:r>
            <a:r>
              <a:rPr lang="en" u="sng"/>
              <a:t>ATF4:</a:t>
            </a:r>
            <a:r>
              <a:rPr lang="en"/>
              <a:t> </a:t>
            </a:r>
            <a:r>
              <a:rPr b="1" lang="en"/>
              <a:t>Amino Acid Deprivation</a:t>
            </a:r>
            <a:endParaRPr b="1"/>
          </a:p>
        </p:txBody>
      </p:sp>
      <p:sp>
        <p:nvSpPr>
          <p:cNvPr id="369" name="Google Shape;369;p44"/>
          <p:cNvSpPr txBox="1"/>
          <p:nvPr>
            <p:ph idx="1" type="body"/>
          </p:nvPr>
        </p:nvSpPr>
        <p:spPr>
          <a:xfrm>
            <a:off x="311700" y="1183675"/>
            <a:ext cx="8520600" cy="33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000"/>
              <a:t>Comparison of GPS2 Treatment Conditions(with/no FCCP) and ATF4_ISR Peaks with ATF4 Genes Dysregulated by Tunicamycin-Induced ER Stress</a:t>
            </a:r>
            <a:endParaRPr b="1" sz="1000"/>
          </a:p>
          <a:p>
            <a:pPr indent="0" lvl="0" marL="0" rtl="0" algn="l">
              <a:spcBef>
                <a:spcPts val="1200"/>
              </a:spcBef>
              <a:spcAft>
                <a:spcPts val="0"/>
              </a:spcAft>
              <a:buNone/>
            </a:pPr>
            <a:r>
              <a:t/>
            </a:r>
            <a:endParaRPr/>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b="1" sz="900"/>
          </a:p>
          <a:p>
            <a:pPr indent="0" lvl="0" marL="0" rtl="0" algn="l">
              <a:spcBef>
                <a:spcPts val="1200"/>
              </a:spcBef>
              <a:spcAft>
                <a:spcPts val="0"/>
              </a:spcAft>
              <a:buNone/>
            </a:pPr>
            <a:r>
              <a:rPr b="1" lang="en" sz="900"/>
              <a:t>Comparison of GPS2 Treatment Conditions(with/no FCCP) and ATF4_ISR Peaks with ATF4 Genes Dysregulated by Tunicamycin and Insulin-Rapamycin</a:t>
            </a:r>
            <a:endParaRPr sz="1600"/>
          </a:p>
          <a:p>
            <a:pPr indent="0" lvl="0" marL="0" rtl="0" algn="l">
              <a:spcBef>
                <a:spcPts val="1200"/>
              </a:spcBef>
              <a:spcAft>
                <a:spcPts val="1200"/>
              </a:spcAft>
              <a:buNone/>
            </a:pPr>
            <a:r>
              <a:t/>
            </a:r>
            <a:endParaRPr/>
          </a:p>
        </p:txBody>
      </p:sp>
      <p:pic>
        <p:nvPicPr>
          <p:cNvPr id="370" name="Google Shape;370;p44"/>
          <p:cNvPicPr preferRelativeResize="0"/>
          <p:nvPr/>
        </p:nvPicPr>
        <p:blipFill>
          <a:blip r:embed="rId3">
            <a:alphaModFix/>
          </a:blip>
          <a:stretch>
            <a:fillRect/>
          </a:stretch>
        </p:blipFill>
        <p:spPr>
          <a:xfrm>
            <a:off x="284475" y="1550700"/>
            <a:ext cx="8613023" cy="1200225"/>
          </a:xfrm>
          <a:prstGeom prst="rect">
            <a:avLst/>
          </a:prstGeom>
          <a:noFill/>
          <a:ln>
            <a:noFill/>
          </a:ln>
        </p:spPr>
      </p:pic>
      <p:pic>
        <p:nvPicPr>
          <p:cNvPr id="371" name="Google Shape;371;p44"/>
          <p:cNvPicPr preferRelativeResize="0"/>
          <p:nvPr/>
        </p:nvPicPr>
        <p:blipFill>
          <a:blip r:embed="rId4">
            <a:alphaModFix/>
          </a:blip>
          <a:stretch>
            <a:fillRect/>
          </a:stretch>
        </p:blipFill>
        <p:spPr>
          <a:xfrm>
            <a:off x="1155975" y="3135200"/>
            <a:ext cx="4694876" cy="1493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Wild Type</a:t>
            </a:r>
            <a:r>
              <a:rPr b="1" lang="en"/>
              <a:t>; </a:t>
            </a:r>
            <a:r>
              <a:rPr lang="en" u="sng"/>
              <a:t>ATF4:</a:t>
            </a:r>
            <a:r>
              <a:rPr lang="en"/>
              <a:t> </a:t>
            </a:r>
            <a:r>
              <a:rPr b="1" lang="en"/>
              <a:t>Amino Acid Deprivation</a:t>
            </a:r>
            <a:endParaRPr b="1"/>
          </a:p>
        </p:txBody>
      </p:sp>
      <p:sp>
        <p:nvSpPr>
          <p:cNvPr id="377" name="Google Shape;377;p45"/>
          <p:cNvSpPr txBox="1"/>
          <p:nvPr>
            <p:ph idx="1" type="body"/>
          </p:nvPr>
        </p:nvSpPr>
        <p:spPr>
          <a:xfrm>
            <a:off x="311700" y="1183675"/>
            <a:ext cx="8520600" cy="33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t>Comparison of siGPS2, siCTL and ATF4_ISR Peaks with ATF4 Genes Dysregulated by Tunicamycin-Induced ER Stress</a:t>
            </a:r>
            <a:endParaRPr b="1" sz="1200"/>
          </a:p>
          <a:p>
            <a:pPr indent="0" lvl="0" marL="0" rtl="0" algn="l">
              <a:spcBef>
                <a:spcPts val="1200"/>
              </a:spcBef>
              <a:spcAft>
                <a:spcPts val="0"/>
              </a:spcAft>
              <a:buNone/>
            </a:pPr>
            <a:r>
              <a:t/>
            </a:r>
            <a:endParaRPr/>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b="1" sz="900"/>
          </a:p>
          <a:p>
            <a:pPr indent="0" lvl="0" marL="0" rtl="0" algn="l">
              <a:spcBef>
                <a:spcPts val="1200"/>
              </a:spcBef>
              <a:spcAft>
                <a:spcPts val="0"/>
              </a:spcAft>
              <a:buNone/>
            </a:pPr>
            <a:r>
              <a:rPr b="1" lang="en" sz="1100"/>
              <a:t>Comparison of siGPS2, siCTL and ATF4_ISR Peaks with ATF4 Genes Dysregulated by Tunicamycin and Insulin-Rapamycin</a:t>
            </a:r>
            <a:endParaRPr/>
          </a:p>
          <a:p>
            <a:pPr indent="0" lvl="0" marL="0" rtl="0" algn="l">
              <a:spcBef>
                <a:spcPts val="1200"/>
              </a:spcBef>
              <a:spcAft>
                <a:spcPts val="1200"/>
              </a:spcAft>
              <a:buNone/>
            </a:pPr>
            <a:r>
              <a:t/>
            </a:r>
            <a:endParaRPr/>
          </a:p>
        </p:txBody>
      </p:sp>
      <p:pic>
        <p:nvPicPr>
          <p:cNvPr id="378" name="Google Shape;378;p45"/>
          <p:cNvPicPr preferRelativeResize="0"/>
          <p:nvPr/>
        </p:nvPicPr>
        <p:blipFill>
          <a:blip r:embed="rId3">
            <a:alphaModFix/>
          </a:blip>
          <a:stretch>
            <a:fillRect/>
          </a:stretch>
        </p:blipFill>
        <p:spPr>
          <a:xfrm>
            <a:off x="88575" y="1526650"/>
            <a:ext cx="8937277" cy="1104937"/>
          </a:xfrm>
          <a:prstGeom prst="rect">
            <a:avLst/>
          </a:prstGeom>
          <a:noFill/>
          <a:ln>
            <a:noFill/>
          </a:ln>
        </p:spPr>
      </p:pic>
      <p:pic>
        <p:nvPicPr>
          <p:cNvPr id="379" name="Google Shape;379;p45"/>
          <p:cNvPicPr preferRelativeResize="0"/>
          <p:nvPr/>
        </p:nvPicPr>
        <p:blipFill>
          <a:blip r:embed="rId4">
            <a:alphaModFix/>
          </a:blip>
          <a:stretch>
            <a:fillRect/>
          </a:stretch>
        </p:blipFill>
        <p:spPr>
          <a:xfrm>
            <a:off x="851900" y="3111801"/>
            <a:ext cx="4944899" cy="1573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000"/>
              <a:t>Comparison of GPS2 Differentiation Conditions and ATF4_WT Peaks with ATF4 Genes Dysregulated by Tunicamycin-Induced ER Stress</a:t>
            </a:r>
            <a:endParaRPr b="1" sz="10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sz="1000"/>
              <a:t>Comparison of GPS2 Differentiation Conditions and ATF4_WT Peaks with ATF4 Genes Dysregulated by Tunicamycin and Insulin-Rapamycin</a:t>
            </a:r>
            <a:endParaRPr sz="1700"/>
          </a:p>
        </p:txBody>
      </p:sp>
      <p:sp>
        <p:nvSpPr>
          <p:cNvPr id="385" name="Google Shape;385;p46"/>
          <p:cNvSpPr txBox="1"/>
          <p:nvPr>
            <p:ph type="title"/>
          </p:nvPr>
        </p:nvSpPr>
        <p:spPr>
          <a:xfrm>
            <a:off x="464100" y="5624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Differentiation; </a:t>
            </a:r>
            <a:r>
              <a:rPr lang="en" u="sng"/>
              <a:t>ATF4:</a:t>
            </a:r>
            <a:r>
              <a:rPr lang="en"/>
              <a:t> </a:t>
            </a:r>
            <a:r>
              <a:rPr b="1" lang="en"/>
              <a:t>Tunicamycin treated</a:t>
            </a:r>
            <a:endParaRPr b="1"/>
          </a:p>
        </p:txBody>
      </p:sp>
      <p:pic>
        <p:nvPicPr>
          <p:cNvPr id="386" name="Google Shape;386;p46"/>
          <p:cNvPicPr preferRelativeResize="0"/>
          <p:nvPr/>
        </p:nvPicPr>
        <p:blipFill>
          <a:blip r:embed="rId3">
            <a:alphaModFix/>
          </a:blip>
          <a:stretch>
            <a:fillRect/>
          </a:stretch>
        </p:blipFill>
        <p:spPr>
          <a:xfrm>
            <a:off x="311700" y="1500425"/>
            <a:ext cx="8520602" cy="1071325"/>
          </a:xfrm>
          <a:prstGeom prst="rect">
            <a:avLst/>
          </a:prstGeom>
          <a:noFill/>
          <a:ln>
            <a:noFill/>
          </a:ln>
        </p:spPr>
      </p:pic>
      <p:pic>
        <p:nvPicPr>
          <p:cNvPr id="387" name="Google Shape;387;p46"/>
          <p:cNvPicPr preferRelativeResize="0"/>
          <p:nvPr/>
        </p:nvPicPr>
        <p:blipFill>
          <a:blip r:embed="rId4">
            <a:alphaModFix/>
          </a:blip>
          <a:stretch>
            <a:fillRect/>
          </a:stretch>
        </p:blipFill>
        <p:spPr>
          <a:xfrm>
            <a:off x="884200" y="2836675"/>
            <a:ext cx="5702225" cy="18140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7"/>
          <p:cNvSpPr txBox="1"/>
          <p:nvPr>
            <p:ph idx="1" type="body"/>
          </p:nvPr>
        </p:nvSpPr>
        <p:spPr>
          <a:xfrm>
            <a:off x="311700" y="1183675"/>
            <a:ext cx="8520600" cy="33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000"/>
              <a:t>Comparison of GPS2 Treatment Conditions(with/no FCCP) and ATF4_WT Peaks with ATF4 Genes Dysregulated by Tunicamycin-Induced ER Stress</a:t>
            </a:r>
            <a:endParaRPr b="1" sz="1000"/>
          </a:p>
          <a:p>
            <a:pPr indent="0" lvl="0" marL="0" rtl="0" algn="l">
              <a:spcBef>
                <a:spcPts val="1200"/>
              </a:spcBef>
              <a:spcAft>
                <a:spcPts val="0"/>
              </a:spcAft>
              <a:buNone/>
            </a:pPr>
            <a:r>
              <a:t/>
            </a:r>
            <a:endParaRPr/>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b="1" sz="900"/>
          </a:p>
          <a:p>
            <a:pPr indent="0" lvl="0" marL="0" rtl="0" algn="l">
              <a:spcBef>
                <a:spcPts val="1200"/>
              </a:spcBef>
              <a:spcAft>
                <a:spcPts val="0"/>
              </a:spcAft>
              <a:buNone/>
            </a:pPr>
            <a:r>
              <a:rPr b="1" lang="en" sz="900"/>
              <a:t>Comparison of GPS2 Treatment Conditions(with/no FCCP) and ATF4_WT Peaks with ATF4 Genes Dysregulated by Tunicamycin and Insulin-Rapamycin</a:t>
            </a:r>
            <a:endParaRPr sz="1600"/>
          </a:p>
          <a:p>
            <a:pPr indent="0" lvl="0" marL="0" rtl="0" algn="l">
              <a:spcBef>
                <a:spcPts val="1200"/>
              </a:spcBef>
              <a:spcAft>
                <a:spcPts val="1200"/>
              </a:spcAft>
              <a:buNone/>
            </a:pPr>
            <a:r>
              <a:t/>
            </a:r>
            <a:endParaRPr/>
          </a:p>
        </p:txBody>
      </p:sp>
      <p:sp>
        <p:nvSpPr>
          <p:cNvPr id="393" name="Google Shape;393;p47"/>
          <p:cNvSpPr txBox="1"/>
          <p:nvPr>
            <p:ph type="title"/>
          </p:nvPr>
        </p:nvSpPr>
        <p:spPr>
          <a:xfrm>
            <a:off x="464100" y="5624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Treatment</a:t>
            </a:r>
            <a:r>
              <a:rPr b="1" lang="en"/>
              <a:t>; </a:t>
            </a:r>
            <a:r>
              <a:rPr lang="en" u="sng"/>
              <a:t>ATF4:</a:t>
            </a:r>
            <a:r>
              <a:rPr lang="en"/>
              <a:t> </a:t>
            </a:r>
            <a:r>
              <a:rPr b="1" lang="en"/>
              <a:t>Tunicamycin treated</a:t>
            </a:r>
            <a:endParaRPr b="1"/>
          </a:p>
        </p:txBody>
      </p:sp>
      <p:pic>
        <p:nvPicPr>
          <p:cNvPr id="394" name="Google Shape;394;p47"/>
          <p:cNvPicPr preferRelativeResize="0"/>
          <p:nvPr/>
        </p:nvPicPr>
        <p:blipFill>
          <a:blip r:embed="rId3">
            <a:alphaModFix/>
          </a:blip>
          <a:stretch>
            <a:fillRect/>
          </a:stretch>
        </p:blipFill>
        <p:spPr>
          <a:xfrm>
            <a:off x="412075" y="1476375"/>
            <a:ext cx="8420224" cy="1095375"/>
          </a:xfrm>
          <a:prstGeom prst="rect">
            <a:avLst/>
          </a:prstGeom>
          <a:noFill/>
          <a:ln>
            <a:noFill/>
          </a:ln>
        </p:spPr>
      </p:pic>
      <p:pic>
        <p:nvPicPr>
          <p:cNvPr id="395" name="Google Shape;395;p47"/>
          <p:cNvPicPr preferRelativeResize="0"/>
          <p:nvPr/>
        </p:nvPicPr>
        <p:blipFill>
          <a:blip r:embed="rId4">
            <a:alphaModFix/>
          </a:blip>
          <a:stretch>
            <a:fillRect/>
          </a:stretch>
        </p:blipFill>
        <p:spPr>
          <a:xfrm>
            <a:off x="939725" y="3029275"/>
            <a:ext cx="5451548" cy="1734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Wild Type; </a:t>
            </a:r>
            <a:r>
              <a:rPr lang="en" u="sng"/>
              <a:t>ATF4:</a:t>
            </a:r>
            <a:r>
              <a:rPr lang="en"/>
              <a:t> </a:t>
            </a:r>
            <a:r>
              <a:rPr b="1" lang="en"/>
              <a:t>Tunicamycin treated</a:t>
            </a:r>
            <a:endParaRPr b="1"/>
          </a:p>
          <a:p>
            <a:pPr indent="0" lvl="0" marL="0" rtl="0" algn="l">
              <a:spcBef>
                <a:spcPts val="0"/>
              </a:spcBef>
              <a:spcAft>
                <a:spcPts val="0"/>
              </a:spcAft>
              <a:buNone/>
            </a:pPr>
            <a:r>
              <a:t/>
            </a:r>
            <a:endParaRPr b="1"/>
          </a:p>
        </p:txBody>
      </p:sp>
      <p:sp>
        <p:nvSpPr>
          <p:cNvPr id="401" name="Google Shape;401;p48"/>
          <p:cNvSpPr txBox="1"/>
          <p:nvPr>
            <p:ph idx="1" type="body"/>
          </p:nvPr>
        </p:nvSpPr>
        <p:spPr>
          <a:xfrm>
            <a:off x="311700" y="1183675"/>
            <a:ext cx="8520600" cy="33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t>Comparison of siGPS2, siCTL and ATF4_WT Peaks with ATF4 Genes Dysregulated by Tunicamycin-Induced ER Stress</a:t>
            </a:r>
            <a:endParaRPr b="1" sz="1200"/>
          </a:p>
          <a:p>
            <a:pPr indent="0" lvl="0" marL="0" rtl="0" algn="l">
              <a:spcBef>
                <a:spcPts val="1200"/>
              </a:spcBef>
              <a:spcAft>
                <a:spcPts val="0"/>
              </a:spcAft>
              <a:buNone/>
            </a:pPr>
            <a:r>
              <a:t/>
            </a:r>
            <a:endParaRPr/>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b="1" sz="900"/>
          </a:p>
          <a:p>
            <a:pPr indent="0" lvl="0" marL="0" rtl="0" algn="l">
              <a:spcBef>
                <a:spcPts val="1200"/>
              </a:spcBef>
              <a:spcAft>
                <a:spcPts val="0"/>
              </a:spcAft>
              <a:buNone/>
            </a:pPr>
            <a:r>
              <a:rPr b="1" lang="en" sz="1100"/>
              <a:t>Comparison of siGPS2, siCTL and ATF4_WT Peaks with ATF4 Genes Dysregulated by Tunicamycin and Insulin-Rapamycin</a:t>
            </a:r>
            <a:endParaRPr/>
          </a:p>
          <a:p>
            <a:pPr indent="0" lvl="0" marL="0" rtl="0" algn="l">
              <a:spcBef>
                <a:spcPts val="1200"/>
              </a:spcBef>
              <a:spcAft>
                <a:spcPts val="1200"/>
              </a:spcAft>
              <a:buNone/>
            </a:pPr>
            <a:r>
              <a:t/>
            </a:r>
            <a:endParaRPr/>
          </a:p>
        </p:txBody>
      </p:sp>
      <p:pic>
        <p:nvPicPr>
          <p:cNvPr id="402" name="Google Shape;402;p48"/>
          <p:cNvPicPr preferRelativeResize="0"/>
          <p:nvPr/>
        </p:nvPicPr>
        <p:blipFill>
          <a:blip r:embed="rId3">
            <a:alphaModFix/>
          </a:blip>
          <a:stretch>
            <a:fillRect/>
          </a:stretch>
        </p:blipFill>
        <p:spPr>
          <a:xfrm>
            <a:off x="311700" y="1533400"/>
            <a:ext cx="8520602" cy="1184500"/>
          </a:xfrm>
          <a:prstGeom prst="rect">
            <a:avLst/>
          </a:prstGeom>
          <a:noFill/>
          <a:ln>
            <a:noFill/>
          </a:ln>
        </p:spPr>
      </p:pic>
      <p:pic>
        <p:nvPicPr>
          <p:cNvPr id="403" name="Google Shape;403;p48"/>
          <p:cNvPicPr preferRelativeResize="0"/>
          <p:nvPr/>
        </p:nvPicPr>
        <p:blipFill>
          <a:blip r:embed="rId4">
            <a:alphaModFix/>
          </a:blip>
          <a:stretch>
            <a:fillRect/>
          </a:stretch>
        </p:blipFill>
        <p:spPr>
          <a:xfrm>
            <a:off x="1257250" y="3129900"/>
            <a:ext cx="4931701" cy="15688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49"/>
          <p:cNvPicPr preferRelativeResize="0"/>
          <p:nvPr/>
        </p:nvPicPr>
        <p:blipFill>
          <a:blip r:embed="rId3">
            <a:alphaModFix/>
          </a:blip>
          <a:stretch>
            <a:fillRect/>
          </a:stretch>
        </p:blipFill>
        <p:spPr>
          <a:xfrm>
            <a:off x="422500" y="1239150"/>
            <a:ext cx="5734000" cy="3256500"/>
          </a:xfrm>
          <a:prstGeom prst="rect">
            <a:avLst/>
          </a:prstGeom>
          <a:noFill/>
          <a:ln>
            <a:noFill/>
          </a:ln>
        </p:spPr>
      </p:pic>
      <p:sp>
        <p:nvSpPr>
          <p:cNvPr id="409" name="Google Shape;409;p49"/>
          <p:cNvSpPr txBox="1"/>
          <p:nvPr>
            <p:ph type="title"/>
          </p:nvPr>
        </p:nvSpPr>
        <p:spPr>
          <a:xfrm>
            <a:off x="464100" y="5624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Treatment</a:t>
            </a:r>
            <a:r>
              <a:rPr b="1" lang="en"/>
              <a:t>; </a:t>
            </a:r>
            <a:r>
              <a:rPr lang="en" u="sng"/>
              <a:t>ATF3:</a:t>
            </a:r>
            <a:r>
              <a:rPr lang="en"/>
              <a:t> </a:t>
            </a:r>
            <a:r>
              <a:rPr b="1" lang="en"/>
              <a:t>Wild-type</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50"/>
          <p:cNvPicPr preferRelativeResize="0"/>
          <p:nvPr/>
        </p:nvPicPr>
        <p:blipFill>
          <a:blip r:embed="rId3">
            <a:alphaModFix/>
          </a:blip>
          <a:stretch>
            <a:fillRect/>
          </a:stretch>
        </p:blipFill>
        <p:spPr>
          <a:xfrm>
            <a:off x="515071" y="1134725"/>
            <a:ext cx="5731450" cy="3646675"/>
          </a:xfrm>
          <a:prstGeom prst="rect">
            <a:avLst/>
          </a:prstGeom>
          <a:noFill/>
          <a:ln>
            <a:noFill/>
          </a:ln>
        </p:spPr>
      </p:pic>
      <p:sp>
        <p:nvSpPr>
          <p:cNvPr id="415" name="Google Shape;415;p50"/>
          <p:cNvSpPr txBox="1"/>
          <p:nvPr>
            <p:ph type="title"/>
          </p:nvPr>
        </p:nvSpPr>
        <p:spPr>
          <a:xfrm>
            <a:off x="464100" y="4788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Wild-type</a:t>
            </a:r>
            <a:r>
              <a:rPr b="1" lang="en"/>
              <a:t>; </a:t>
            </a:r>
            <a:r>
              <a:rPr lang="en" u="sng"/>
              <a:t>ATF3:</a:t>
            </a:r>
            <a:r>
              <a:rPr lang="en"/>
              <a:t> </a:t>
            </a:r>
            <a:r>
              <a:rPr b="1" lang="en"/>
              <a:t>Wild-type</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pic>
        <p:nvPicPr>
          <p:cNvPr id="420" name="Google Shape;420;p51"/>
          <p:cNvPicPr preferRelativeResize="0"/>
          <p:nvPr/>
        </p:nvPicPr>
        <p:blipFill>
          <a:blip r:embed="rId3">
            <a:alphaModFix/>
          </a:blip>
          <a:stretch>
            <a:fillRect/>
          </a:stretch>
        </p:blipFill>
        <p:spPr>
          <a:xfrm>
            <a:off x="726801" y="1251775"/>
            <a:ext cx="5179050" cy="3295200"/>
          </a:xfrm>
          <a:prstGeom prst="rect">
            <a:avLst/>
          </a:prstGeom>
          <a:noFill/>
          <a:ln>
            <a:noFill/>
          </a:ln>
        </p:spPr>
      </p:pic>
      <p:sp>
        <p:nvSpPr>
          <p:cNvPr id="421" name="Google Shape;421;p51"/>
          <p:cNvSpPr txBox="1"/>
          <p:nvPr>
            <p:ph type="title"/>
          </p:nvPr>
        </p:nvSpPr>
        <p:spPr>
          <a:xfrm>
            <a:off x="399125" y="4695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GPS2</a:t>
            </a:r>
            <a:r>
              <a:rPr lang="en"/>
              <a:t>: </a:t>
            </a:r>
            <a:r>
              <a:rPr b="1" lang="en"/>
              <a:t>Differentiation; </a:t>
            </a:r>
            <a:r>
              <a:rPr lang="en" u="sng"/>
              <a:t>ATF3:</a:t>
            </a:r>
            <a:r>
              <a:rPr lang="en"/>
              <a:t> </a:t>
            </a:r>
            <a:r>
              <a:rPr b="1" lang="en"/>
              <a:t>Wild-type</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1371600" rtl="0" algn="l">
              <a:spcBef>
                <a:spcPts val="0"/>
              </a:spcBef>
              <a:spcAft>
                <a:spcPts val="0"/>
              </a:spcAft>
              <a:buNone/>
            </a:pPr>
            <a:r>
              <a:rPr lang="en"/>
              <a:t>    </a:t>
            </a:r>
            <a:r>
              <a:rPr lang="en"/>
              <a:t>GPS2 and ATF3 Peak overlaps</a:t>
            </a:r>
            <a:endParaRPr/>
          </a:p>
        </p:txBody>
      </p:sp>
      <p:graphicFrame>
        <p:nvGraphicFramePr>
          <p:cNvPr id="427" name="Google Shape;427;p52"/>
          <p:cNvGraphicFramePr/>
          <p:nvPr/>
        </p:nvGraphicFramePr>
        <p:xfrm>
          <a:off x="2030950" y="1322138"/>
          <a:ext cx="3000000" cy="3000000"/>
        </p:xfrm>
        <a:graphic>
          <a:graphicData uri="http://schemas.openxmlformats.org/drawingml/2006/table">
            <a:tbl>
              <a:tblPr>
                <a:noFill/>
                <a:tableStyleId>{0DC36284-27A1-4389-9642-44102B4506ED}</a:tableStyleId>
              </a:tblPr>
              <a:tblGrid>
                <a:gridCol w="1602500"/>
                <a:gridCol w="1507000"/>
                <a:gridCol w="1507000"/>
              </a:tblGrid>
              <a:tr h="300700">
                <a:tc>
                  <a:txBody>
                    <a:bodyPr/>
                    <a:lstStyle/>
                    <a:p>
                      <a:pPr indent="0" lvl="0" marL="0" rtl="0" algn="ctr">
                        <a:spcBef>
                          <a:spcPts val="0"/>
                        </a:spcBef>
                        <a:spcAft>
                          <a:spcPts val="0"/>
                        </a:spcAft>
                        <a:buClr>
                          <a:srgbClr val="000000"/>
                        </a:buClr>
                        <a:buSzPts val="1400"/>
                        <a:buFont typeface="Arial"/>
                        <a:buNone/>
                      </a:pPr>
                      <a:r>
                        <a:rPr b="1" lang="en" sz="1200"/>
                        <a:t>GPS2</a:t>
                      </a:r>
                      <a:endParaRPr b="1" sz="1200"/>
                    </a:p>
                    <a:p>
                      <a:pPr indent="0" lvl="0" marL="0" rtl="0" algn="ctr">
                        <a:spcBef>
                          <a:spcPts val="0"/>
                        </a:spcBef>
                        <a:spcAft>
                          <a:spcPts val="0"/>
                        </a:spcAft>
                        <a:buClr>
                          <a:srgbClr val="000000"/>
                        </a:buClr>
                        <a:buSzPts val="1400"/>
                        <a:buFont typeface="Arial"/>
                        <a:buNone/>
                      </a:pPr>
                      <a:r>
                        <a:rPr b="1" lang="en" sz="1200"/>
                        <a:t>C2C12</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200"/>
                        <a:t>ATF3</a:t>
                      </a:r>
                      <a:endParaRPr b="1" sz="1200"/>
                    </a:p>
                    <a:p>
                      <a:pPr indent="0" lvl="0" marL="0" rtl="0" algn="ctr">
                        <a:spcBef>
                          <a:spcPts val="0"/>
                        </a:spcBef>
                        <a:spcAft>
                          <a:spcPts val="0"/>
                        </a:spcAft>
                        <a:buNone/>
                      </a:pPr>
                      <a:r>
                        <a:rPr lang="en" sz="1200"/>
                        <a:t>(324)</a:t>
                      </a:r>
                      <a:endParaRPr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200"/>
                        <a:t>ATF3_from_paper</a:t>
                      </a:r>
                      <a:endParaRPr b="1" sz="1200"/>
                    </a:p>
                    <a:p>
                      <a:pPr indent="0" lvl="0" marL="0" rtl="0" algn="ctr">
                        <a:spcBef>
                          <a:spcPts val="0"/>
                        </a:spcBef>
                        <a:spcAft>
                          <a:spcPts val="0"/>
                        </a:spcAft>
                        <a:buNone/>
                      </a:pPr>
                      <a:r>
                        <a:rPr lang="en" sz="1200"/>
                        <a:t>(2871)</a:t>
                      </a:r>
                      <a:endParaRPr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rtl="0" algn="ctr">
                        <a:spcBef>
                          <a:spcPts val="0"/>
                        </a:spcBef>
                        <a:spcAft>
                          <a:spcPts val="0"/>
                        </a:spcAft>
                        <a:buClr>
                          <a:srgbClr val="000000"/>
                        </a:buClr>
                        <a:buSzPts val="1200"/>
                        <a:buFont typeface="Arial"/>
                        <a:buNone/>
                      </a:pPr>
                      <a:r>
                        <a:rPr b="1" lang="en" sz="1000"/>
                        <a:t>90</a:t>
                      </a:r>
                      <a:endParaRPr b="1" sz="1000"/>
                    </a:p>
                    <a:p>
                      <a:pPr indent="0" lvl="0" marL="0" rtl="0" algn="ctr">
                        <a:spcBef>
                          <a:spcPts val="0"/>
                        </a:spcBef>
                        <a:spcAft>
                          <a:spcPts val="0"/>
                        </a:spcAft>
                        <a:buClr>
                          <a:srgbClr val="000000"/>
                        </a:buClr>
                        <a:buSzPts val="1200"/>
                        <a:buFont typeface="Arial"/>
                        <a:buNone/>
                      </a:pPr>
                      <a:r>
                        <a:rPr lang="en" sz="1000"/>
                        <a:t>(3497)</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7</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26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rtl="0" algn="ctr">
                        <a:spcBef>
                          <a:spcPts val="0"/>
                        </a:spcBef>
                        <a:spcAft>
                          <a:spcPts val="0"/>
                        </a:spcAft>
                        <a:buClr>
                          <a:srgbClr val="000000"/>
                        </a:buClr>
                        <a:buSzPts val="1200"/>
                        <a:buFont typeface="Arial"/>
                        <a:buNone/>
                      </a:pPr>
                      <a:r>
                        <a:rPr b="1" lang="en" sz="1000"/>
                        <a:t>3hr</a:t>
                      </a:r>
                      <a:endParaRPr b="1" sz="1000"/>
                    </a:p>
                    <a:p>
                      <a:pPr indent="0" lvl="0" marL="0" rtl="0" algn="ctr">
                        <a:spcBef>
                          <a:spcPts val="0"/>
                        </a:spcBef>
                        <a:spcAft>
                          <a:spcPts val="0"/>
                        </a:spcAft>
                        <a:buClr>
                          <a:srgbClr val="000000"/>
                        </a:buClr>
                        <a:buSzPts val="1200"/>
                        <a:buFont typeface="Arial"/>
                        <a:buNone/>
                      </a:pPr>
                      <a:r>
                        <a:rPr lang="en" sz="1000"/>
                        <a:t>(1372)</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11</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a:t>d</a:t>
                      </a:r>
                      <a:r>
                        <a:rPr b="1" lang="en" sz="1000"/>
                        <a:t>2</a:t>
                      </a:r>
                      <a:endParaRPr b="1" sz="1000"/>
                    </a:p>
                    <a:p>
                      <a:pPr indent="0" lvl="0" marL="0" marR="0" rtl="0" algn="ctr">
                        <a:lnSpc>
                          <a:spcPct val="100000"/>
                        </a:lnSpc>
                        <a:spcBef>
                          <a:spcPts val="0"/>
                        </a:spcBef>
                        <a:spcAft>
                          <a:spcPts val="0"/>
                        </a:spcAft>
                        <a:buClr>
                          <a:srgbClr val="000000"/>
                        </a:buClr>
                        <a:buSzPts val="1200"/>
                        <a:buFont typeface="Arial"/>
                        <a:buNone/>
                      </a:pPr>
                      <a:r>
                        <a:rPr lang="en" sz="1000"/>
                        <a:t>(366)</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8</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26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400950">
                <a:tc>
                  <a:txBody>
                    <a:bodyPr/>
                    <a:lstStyle/>
                    <a:p>
                      <a:pPr indent="0" lvl="0" marL="0" marR="0" rtl="0" algn="ctr">
                        <a:lnSpc>
                          <a:spcPct val="100000"/>
                        </a:lnSpc>
                        <a:spcBef>
                          <a:spcPts val="0"/>
                        </a:spcBef>
                        <a:spcAft>
                          <a:spcPts val="0"/>
                        </a:spcAft>
                        <a:buClr>
                          <a:srgbClr val="000000"/>
                        </a:buClr>
                        <a:buSzPts val="1200"/>
                        <a:buFont typeface="Arial"/>
                        <a:buNone/>
                      </a:pPr>
                      <a:r>
                        <a:rPr b="1" lang="en" sz="1000"/>
                        <a:t>d</a:t>
                      </a:r>
                      <a:r>
                        <a:rPr b="1" lang="en" sz="1000"/>
                        <a:t>4</a:t>
                      </a:r>
                      <a:endParaRPr b="1" sz="1000"/>
                    </a:p>
                    <a:p>
                      <a:pPr indent="0" lvl="0" marL="0" marR="0" rtl="0" algn="ctr">
                        <a:lnSpc>
                          <a:spcPct val="100000"/>
                        </a:lnSpc>
                        <a:spcBef>
                          <a:spcPts val="0"/>
                        </a:spcBef>
                        <a:spcAft>
                          <a:spcPts val="0"/>
                        </a:spcAft>
                        <a:buClr>
                          <a:srgbClr val="000000"/>
                        </a:buClr>
                        <a:buSzPts val="1200"/>
                        <a:buFont typeface="Arial"/>
                        <a:buNone/>
                      </a:pPr>
                      <a:r>
                        <a:rPr lang="en" sz="1000"/>
                        <a:t>(2102)</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3"/>
          <p:cNvSpPr txBox="1"/>
          <p:nvPr>
            <p:ph type="title"/>
          </p:nvPr>
        </p:nvSpPr>
        <p:spPr>
          <a:xfrm>
            <a:off x="311775" y="328675"/>
            <a:ext cx="4102200" cy="3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00"/>
              <a:t>Just ATF3 with ATF3 peaks centered</a:t>
            </a:r>
            <a:endParaRPr sz="1900"/>
          </a:p>
        </p:txBody>
      </p:sp>
      <p:pic>
        <p:nvPicPr>
          <p:cNvPr id="433" name="Google Shape;433;p53"/>
          <p:cNvPicPr preferRelativeResize="0"/>
          <p:nvPr/>
        </p:nvPicPr>
        <p:blipFill rotWithShape="1">
          <a:blip r:embed="rId3">
            <a:alphaModFix/>
          </a:blip>
          <a:srcRect b="0" l="0" r="0" t="13852"/>
          <a:stretch/>
        </p:blipFill>
        <p:spPr>
          <a:xfrm>
            <a:off x="311749" y="800200"/>
            <a:ext cx="3900025" cy="2917475"/>
          </a:xfrm>
          <a:prstGeom prst="rect">
            <a:avLst/>
          </a:prstGeom>
          <a:noFill/>
          <a:ln>
            <a:noFill/>
          </a:ln>
        </p:spPr>
      </p:pic>
      <p:sp>
        <p:nvSpPr>
          <p:cNvPr id="434" name="Google Shape;434;p53"/>
          <p:cNvSpPr txBox="1"/>
          <p:nvPr>
            <p:ph type="title"/>
          </p:nvPr>
        </p:nvSpPr>
        <p:spPr>
          <a:xfrm>
            <a:off x="4829700" y="328675"/>
            <a:ext cx="4314300" cy="3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00"/>
              <a:t>GPS2 and </a:t>
            </a:r>
            <a:r>
              <a:rPr lang="en" sz="1700"/>
              <a:t>ATF3 with ATF3 peaks centered</a:t>
            </a:r>
            <a:endParaRPr sz="1700"/>
          </a:p>
        </p:txBody>
      </p:sp>
      <p:pic>
        <p:nvPicPr>
          <p:cNvPr id="435" name="Google Shape;435;p53"/>
          <p:cNvPicPr preferRelativeResize="0"/>
          <p:nvPr/>
        </p:nvPicPr>
        <p:blipFill rotWithShape="1">
          <a:blip r:embed="rId4">
            <a:alphaModFix/>
          </a:blip>
          <a:srcRect b="-8" l="0" r="0" t="15097"/>
          <a:stretch/>
        </p:blipFill>
        <p:spPr>
          <a:xfrm>
            <a:off x="4413975" y="882650"/>
            <a:ext cx="4627426" cy="2776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1" name="Google Shape;441;p5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2" name="Google Shape;442;p54"/>
          <p:cNvPicPr preferRelativeResize="0"/>
          <p:nvPr/>
        </p:nvPicPr>
        <p:blipFill>
          <a:blip r:embed="rId3">
            <a:alphaModFix/>
          </a:blip>
          <a:stretch>
            <a:fillRect/>
          </a:stretch>
        </p:blipFill>
        <p:spPr>
          <a:xfrm>
            <a:off x="0" y="1117263"/>
            <a:ext cx="9143999" cy="29089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ATF4_WT(Tmc) with Multiomic analysis (RNA-seq)</a:t>
            </a:r>
            <a:endParaRPr/>
          </a:p>
        </p:txBody>
      </p:sp>
      <p:sp>
        <p:nvSpPr>
          <p:cNvPr id="448" name="Google Shape;448;p5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9" name="Google Shape;449;p55"/>
          <p:cNvPicPr preferRelativeResize="0"/>
          <p:nvPr/>
        </p:nvPicPr>
        <p:blipFill>
          <a:blip r:embed="rId3">
            <a:alphaModFix/>
          </a:blip>
          <a:stretch>
            <a:fillRect/>
          </a:stretch>
        </p:blipFill>
        <p:spPr>
          <a:xfrm>
            <a:off x="311696" y="867800"/>
            <a:ext cx="5642001" cy="3589775"/>
          </a:xfrm>
          <a:prstGeom prst="rect">
            <a:avLst/>
          </a:prstGeom>
          <a:noFill/>
          <a:ln>
            <a:noFill/>
          </a:ln>
        </p:spPr>
      </p:pic>
      <p:sp>
        <p:nvSpPr>
          <p:cNvPr id="450" name="Google Shape;450;p55"/>
          <p:cNvSpPr txBox="1"/>
          <p:nvPr/>
        </p:nvSpPr>
        <p:spPr>
          <a:xfrm>
            <a:off x="6462900" y="1348275"/>
            <a:ext cx="1977600" cy="15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0 </a:t>
            </a:r>
            <a:r>
              <a:rPr lang="en" sz="1800">
                <a:solidFill>
                  <a:schemeClr val="dk2"/>
                </a:solidFill>
                <a:latin typeface="Roboto"/>
                <a:ea typeface="Roboto"/>
                <a:cs typeface="Roboto"/>
                <a:sym typeface="Roboto"/>
              </a:rPr>
              <a:t>overlaps with ATF4_ISR (Amino acid deprived)</a:t>
            </a:r>
            <a:endParaRPr sz="1800">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56" name="Google Shape;456;p5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57" name="Google Shape;457;p56"/>
          <p:cNvPicPr preferRelativeResize="0"/>
          <p:nvPr/>
        </p:nvPicPr>
        <p:blipFill>
          <a:blip r:embed="rId3">
            <a:alphaModFix/>
          </a:blip>
          <a:stretch>
            <a:fillRect/>
          </a:stretch>
        </p:blipFill>
        <p:spPr>
          <a:xfrm>
            <a:off x="553100" y="1451752"/>
            <a:ext cx="7508926" cy="2388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63" name="Google Shape;463;p5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8"/>
          <p:cNvSpPr txBox="1"/>
          <p:nvPr>
            <p:ph type="title"/>
          </p:nvPr>
        </p:nvSpPr>
        <p:spPr>
          <a:xfrm>
            <a:off x="0" y="0"/>
            <a:ext cx="8520600" cy="304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66"/>
              <a:t>Peak Overlaps</a:t>
            </a:r>
            <a:r>
              <a:rPr b="1" lang="en"/>
              <a:t> </a:t>
            </a:r>
            <a:endParaRPr b="1"/>
          </a:p>
        </p:txBody>
      </p:sp>
      <p:sp>
        <p:nvSpPr>
          <p:cNvPr id="469" name="Google Shape;469;p5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470" name="Google Shape;470;p58"/>
          <p:cNvGraphicFramePr/>
          <p:nvPr/>
        </p:nvGraphicFramePr>
        <p:xfrm>
          <a:off x="25" y="585913"/>
          <a:ext cx="3000000" cy="3000000"/>
        </p:xfrm>
        <a:graphic>
          <a:graphicData uri="http://schemas.openxmlformats.org/drawingml/2006/table">
            <a:tbl>
              <a:tblPr>
                <a:noFill/>
                <a:tableStyleId>{0DC36284-27A1-4389-9642-44102B4506ED}</a:tableStyleId>
              </a:tblPr>
              <a:tblGrid>
                <a:gridCol w="2423725"/>
                <a:gridCol w="1620250"/>
                <a:gridCol w="1534050"/>
                <a:gridCol w="1739100"/>
                <a:gridCol w="1826875"/>
              </a:tblGrid>
              <a:tr h="263300">
                <a:tc>
                  <a:txBody>
                    <a:bodyPr/>
                    <a:lstStyle/>
                    <a:p>
                      <a:pPr indent="0" lvl="0" marL="0" marR="0" rtl="0" algn="ctr">
                        <a:lnSpc>
                          <a:spcPct val="100000"/>
                        </a:lnSpc>
                        <a:spcBef>
                          <a:spcPts val="0"/>
                        </a:spcBef>
                        <a:spcAft>
                          <a:spcPts val="0"/>
                        </a:spcAft>
                        <a:buClr>
                          <a:srgbClr val="000000"/>
                        </a:buClr>
                        <a:buSzPts val="1400"/>
                        <a:buFont typeface="Arial"/>
                        <a:buNone/>
                      </a:pPr>
                      <a:r>
                        <a:t/>
                      </a:r>
                      <a:endParaRPr b="1" sz="6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gridSpan="4">
                  <a:txBody>
                    <a:bodyPr/>
                    <a:lstStyle/>
                    <a:p>
                      <a:pPr indent="0" lvl="0" marL="0" rtl="0" algn="ctr">
                        <a:spcBef>
                          <a:spcPts val="0"/>
                        </a:spcBef>
                        <a:spcAft>
                          <a:spcPts val="0"/>
                        </a:spcAft>
                        <a:buNone/>
                      </a:pPr>
                      <a:r>
                        <a:rPr b="1" lang="en" sz="600"/>
                        <a:t>ATF4</a:t>
                      </a:r>
                      <a:endParaRPr b="1" sz="6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c hMerge="1"/>
                <a:tc hMerge="1"/>
              </a:tr>
              <a:tr h="380350">
                <a:tc>
                  <a:txBody>
                    <a:bodyPr/>
                    <a:lstStyle/>
                    <a:p>
                      <a:pPr indent="0" lvl="0" marL="0" rtl="0" algn="ctr">
                        <a:spcBef>
                          <a:spcPts val="0"/>
                        </a:spcBef>
                        <a:spcAft>
                          <a:spcPts val="0"/>
                        </a:spcAft>
                        <a:buNone/>
                      </a:pPr>
                      <a:r>
                        <a:rPr b="1" lang="en" sz="700"/>
                        <a:t>GPS2</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700"/>
                        <a:t>ATF4_AAD</a:t>
                      </a:r>
                      <a:endParaRPr b="1" sz="700"/>
                    </a:p>
                    <a:p>
                      <a:pPr indent="0" lvl="0" marL="0" rtl="0" algn="ctr">
                        <a:spcBef>
                          <a:spcPts val="0"/>
                        </a:spcBef>
                        <a:spcAft>
                          <a:spcPts val="0"/>
                        </a:spcAft>
                        <a:buNone/>
                      </a:pPr>
                      <a:r>
                        <a:rPr b="1" lang="en" sz="700"/>
                        <a:t>(1385)</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700"/>
                        <a:t>ATF4_WT_Tmc</a:t>
                      </a:r>
                      <a:endParaRPr b="1" sz="700"/>
                    </a:p>
                    <a:p>
                      <a:pPr indent="0" lvl="0" marL="0" rtl="0" algn="ctr">
                        <a:spcBef>
                          <a:spcPts val="0"/>
                        </a:spcBef>
                        <a:spcAft>
                          <a:spcPts val="0"/>
                        </a:spcAft>
                        <a:buNone/>
                      </a:pPr>
                      <a:r>
                        <a:rPr b="1" lang="en" sz="700"/>
                        <a:t>(45633)</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700"/>
                        <a:t>ATF4_KO_Tmc</a:t>
                      </a:r>
                      <a:endParaRPr b="1" sz="700"/>
                    </a:p>
                    <a:p>
                      <a:pPr indent="0" lvl="0" marL="0" rtl="0" algn="ctr">
                        <a:spcBef>
                          <a:spcPts val="0"/>
                        </a:spcBef>
                        <a:spcAft>
                          <a:spcPts val="0"/>
                        </a:spcAft>
                        <a:buNone/>
                      </a:pPr>
                      <a:r>
                        <a:rPr b="1" lang="en" sz="700"/>
                        <a:t>(7483)</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700"/>
                        <a:t>ATF4_WT_Tmc_vs_ATF4_KO_Tmc</a:t>
                      </a:r>
                      <a:endParaRPr b="1" sz="700"/>
                    </a:p>
                    <a:p>
                      <a:pPr indent="0" lvl="0" marL="0" rtl="0" algn="ctr">
                        <a:spcBef>
                          <a:spcPts val="0"/>
                        </a:spcBef>
                        <a:spcAft>
                          <a:spcPts val="0"/>
                        </a:spcAft>
                        <a:buNone/>
                      </a:pPr>
                      <a:r>
                        <a:rPr b="1" lang="en" sz="700"/>
                        <a:t>(20639)</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g</a:t>
                      </a:r>
                      <a:r>
                        <a:rPr b="1" lang="en" sz="700"/>
                        <a:t>ps2_day0</a:t>
                      </a:r>
                      <a:endParaRPr b="1" sz="700"/>
                    </a:p>
                    <a:p>
                      <a:pPr indent="0" lvl="0" marL="0" rtl="0" algn="ctr">
                        <a:spcBef>
                          <a:spcPts val="0"/>
                        </a:spcBef>
                        <a:spcAft>
                          <a:spcPts val="0"/>
                        </a:spcAft>
                        <a:buNone/>
                      </a:pPr>
                      <a:r>
                        <a:rPr b="1" lang="en" sz="700"/>
                        <a:t>(11917)</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933</a:t>
                      </a:r>
                      <a:endParaRPr sz="700"/>
                    </a:p>
                    <a:p>
                      <a:pPr indent="0" lvl="0" marL="0" rtl="0" algn="ctr">
                        <a:spcBef>
                          <a:spcPts val="0"/>
                        </a:spcBef>
                        <a:spcAft>
                          <a:spcPts val="0"/>
                        </a:spcAft>
                        <a:buNone/>
                      </a:pPr>
                      <a:r>
                        <a:rPr lang="en" sz="700"/>
                        <a:t>Distal Intergenic - 52.21%</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1642</a:t>
                      </a:r>
                      <a:endParaRPr sz="700"/>
                    </a:p>
                    <a:p>
                      <a:pPr indent="0" lvl="0" marL="0" rtl="0" algn="ctr">
                        <a:spcBef>
                          <a:spcPts val="0"/>
                        </a:spcBef>
                        <a:spcAft>
                          <a:spcPts val="0"/>
                        </a:spcAft>
                        <a:buNone/>
                      </a:pPr>
                      <a:r>
                        <a:rPr lang="en" sz="700"/>
                        <a:t>Promoter - 70.19%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1407</a:t>
                      </a:r>
                      <a:endParaRPr sz="700"/>
                    </a:p>
                    <a:p>
                      <a:pPr indent="0" lvl="0" marL="0" rtl="0" algn="ctr">
                        <a:spcBef>
                          <a:spcPts val="0"/>
                        </a:spcBef>
                        <a:spcAft>
                          <a:spcPts val="0"/>
                        </a:spcAft>
                        <a:buNone/>
                      </a:pPr>
                      <a:r>
                        <a:rPr lang="en" sz="700"/>
                        <a:t>Distal Intergenic - 41.77%</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266</a:t>
                      </a:r>
                      <a:endParaRPr sz="700"/>
                    </a:p>
                    <a:p>
                      <a:pPr indent="0" lvl="0" marL="0" rtl="0" algn="ctr">
                        <a:spcBef>
                          <a:spcPts val="0"/>
                        </a:spcBef>
                        <a:spcAft>
                          <a:spcPts val="0"/>
                        </a:spcAft>
                        <a:buNone/>
                      </a:pPr>
                      <a:r>
                        <a:rPr lang="en" sz="700"/>
                        <a:t>Distal Intergenic - 83.09%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g</a:t>
                      </a:r>
                      <a:r>
                        <a:rPr b="1" lang="en" sz="700"/>
                        <a:t>ps2_day6</a:t>
                      </a:r>
                      <a:endParaRPr b="1" sz="700"/>
                    </a:p>
                    <a:p>
                      <a:pPr indent="0" lvl="0" marL="0" rtl="0" algn="ctr">
                        <a:spcBef>
                          <a:spcPts val="0"/>
                        </a:spcBef>
                        <a:spcAft>
                          <a:spcPts val="0"/>
                        </a:spcAft>
                        <a:buNone/>
                      </a:pPr>
                      <a:r>
                        <a:rPr b="1" lang="en" sz="700"/>
                        <a:t>(44523)</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927</a:t>
                      </a:r>
                      <a:endParaRPr sz="700"/>
                    </a:p>
                    <a:p>
                      <a:pPr indent="0" lvl="0" marL="0" rtl="0" algn="ctr">
                        <a:spcBef>
                          <a:spcPts val="0"/>
                        </a:spcBef>
                        <a:spcAft>
                          <a:spcPts val="0"/>
                        </a:spcAft>
                        <a:buNone/>
                      </a:pPr>
                      <a:r>
                        <a:rPr lang="en" sz="700"/>
                        <a:t>Distal Intergenic - 51.99%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3031</a:t>
                      </a:r>
                      <a:endParaRPr sz="700"/>
                    </a:p>
                    <a:p>
                      <a:pPr indent="0" lvl="0" marL="0" rtl="0" algn="ctr">
                        <a:spcBef>
                          <a:spcPts val="0"/>
                        </a:spcBef>
                        <a:spcAft>
                          <a:spcPts val="0"/>
                        </a:spcAft>
                        <a:buNone/>
                      </a:pPr>
                      <a:r>
                        <a:rPr lang="en" sz="700"/>
                        <a:t>Promoter - 73.5%</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1603</a:t>
                      </a:r>
                      <a:endParaRPr sz="700"/>
                    </a:p>
                    <a:p>
                      <a:pPr indent="0" lvl="0" marL="0" rtl="0" algn="ctr">
                        <a:spcBef>
                          <a:spcPts val="0"/>
                        </a:spcBef>
                        <a:spcAft>
                          <a:spcPts val="0"/>
                        </a:spcAft>
                        <a:buNone/>
                      </a:pPr>
                      <a:r>
                        <a:rPr lang="en" sz="700"/>
                        <a:t>Promoter - 39.66%</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691</a:t>
                      </a:r>
                      <a:endParaRPr sz="700"/>
                    </a:p>
                    <a:p>
                      <a:pPr indent="0" lvl="0" marL="0" rtl="0" algn="ctr">
                        <a:spcBef>
                          <a:spcPts val="0"/>
                        </a:spcBef>
                        <a:spcAft>
                          <a:spcPts val="0"/>
                        </a:spcAft>
                        <a:buNone/>
                      </a:pPr>
                      <a:r>
                        <a:rPr lang="en" sz="700"/>
                        <a:t>Promoter - 76.55%</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g</a:t>
                      </a:r>
                      <a:r>
                        <a:rPr b="1" lang="en" sz="700"/>
                        <a:t>ps2_day6_vs_gps2_day0</a:t>
                      </a:r>
                      <a:br>
                        <a:rPr b="1" lang="en" sz="700"/>
                      </a:br>
                      <a:r>
                        <a:rPr b="1" lang="en" sz="700"/>
                        <a:t>(1220)</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57</a:t>
                      </a:r>
                      <a:endParaRPr sz="700"/>
                    </a:p>
                    <a:p>
                      <a:pPr indent="0" lvl="0" marL="0" rtl="0" algn="ctr">
                        <a:spcBef>
                          <a:spcPts val="0"/>
                        </a:spcBef>
                        <a:spcAft>
                          <a:spcPts val="0"/>
                        </a:spcAft>
                        <a:buNone/>
                      </a:pPr>
                      <a:r>
                        <a:rPr lang="en" sz="700"/>
                        <a:t>Distal Intergenic - 50%</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42</a:t>
                      </a:r>
                      <a:endParaRPr sz="700"/>
                    </a:p>
                    <a:p>
                      <a:pPr indent="0" lvl="0" marL="0" rtl="0" algn="ctr">
                        <a:spcBef>
                          <a:spcPts val="0"/>
                        </a:spcBef>
                        <a:spcAft>
                          <a:spcPts val="0"/>
                        </a:spcAft>
                        <a:buNone/>
                      </a:pPr>
                      <a:r>
                        <a:rPr lang="en" sz="700"/>
                        <a:t>Promoter - 80.6%</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92</a:t>
                      </a:r>
                      <a:endParaRPr sz="700"/>
                    </a:p>
                    <a:p>
                      <a:pPr indent="0" lvl="0" marL="0" rtl="0" algn="ctr">
                        <a:spcBef>
                          <a:spcPts val="0"/>
                        </a:spcBef>
                        <a:spcAft>
                          <a:spcPts val="0"/>
                        </a:spcAft>
                        <a:buNone/>
                      </a:pPr>
                      <a:r>
                        <a:rPr lang="en" sz="700"/>
                        <a:t>Distal Intergenic - 42.6%</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16</a:t>
                      </a:r>
                      <a:endParaRPr sz="700"/>
                    </a:p>
                    <a:p>
                      <a:pPr indent="0" lvl="0" marL="0" rtl="0" algn="ctr">
                        <a:spcBef>
                          <a:spcPts val="0"/>
                        </a:spcBef>
                        <a:spcAft>
                          <a:spcPts val="0"/>
                        </a:spcAft>
                        <a:buNone/>
                      </a:pPr>
                      <a:r>
                        <a:rPr lang="en" sz="700"/>
                        <a:t>Promoter - 93.75%</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2775">
                <a:tc>
                  <a:txBody>
                    <a:bodyPr/>
                    <a:lstStyle/>
                    <a:p>
                      <a:pPr indent="0" lvl="0" marL="0" rtl="0" algn="ctr">
                        <a:spcBef>
                          <a:spcPts val="0"/>
                        </a:spcBef>
                        <a:spcAft>
                          <a:spcPts val="0"/>
                        </a:spcAft>
                        <a:buNone/>
                      </a:pPr>
                      <a:r>
                        <a:rPr b="1" lang="en" sz="700"/>
                        <a:t>gps2_noFFCP</a:t>
                      </a:r>
                      <a:endParaRPr b="1" sz="700"/>
                    </a:p>
                    <a:p>
                      <a:pPr indent="0" lvl="0" marL="0" rtl="0" algn="ctr">
                        <a:spcBef>
                          <a:spcPts val="0"/>
                        </a:spcBef>
                        <a:spcAft>
                          <a:spcPts val="0"/>
                        </a:spcAft>
                        <a:buNone/>
                      </a:pPr>
                      <a:r>
                        <a:rPr b="1" lang="en" sz="700"/>
                        <a:t>(874114)</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945</a:t>
                      </a:r>
                      <a:endParaRPr sz="700"/>
                    </a:p>
                    <a:p>
                      <a:pPr indent="0" lvl="0" marL="0" rtl="0" algn="ctr">
                        <a:spcBef>
                          <a:spcPts val="0"/>
                        </a:spcBef>
                        <a:spcAft>
                          <a:spcPts val="0"/>
                        </a:spcAft>
                        <a:buNone/>
                      </a:pPr>
                      <a:r>
                        <a:rPr lang="en" sz="700"/>
                        <a:t>Distal Intergenic - 46.32%</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2964</a:t>
                      </a:r>
                      <a:endParaRPr sz="700"/>
                    </a:p>
                    <a:p>
                      <a:pPr indent="0" lvl="0" marL="0" rtl="0" algn="ctr">
                        <a:spcBef>
                          <a:spcPts val="0"/>
                        </a:spcBef>
                        <a:spcAft>
                          <a:spcPts val="0"/>
                        </a:spcAft>
                        <a:buNone/>
                      </a:pPr>
                      <a:r>
                        <a:rPr lang="en" sz="700"/>
                        <a:t>Promoter - 32.02%</a:t>
                      </a:r>
                      <a:endParaRPr sz="700"/>
                    </a:p>
                    <a:p>
                      <a:pPr indent="0" lvl="0" marL="0" rtl="0" algn="ctr">
                        <a:spcBef>
                          <a:spcPts val="0"/>
                        </a:spcBef>
                        <a:spcAft>
                          <a:spcPts val="0"/>
                        </a:spcAft>
                        <a:buNone/>
                      </a:pPr>
                      <a:r>
                        <a:rPr lang="en" sz="700"/>
                        <a:t>Distal Intergenic - 30.55%</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10562</a:t>
                      </a:r>
                      <a:endParaRPr sz="700"/>
                    </a:p>
                    <a:p>
                      <a:pPr indent="0" lvl="0" marL="0" rtl="0" algn="ctr">
                        <a:spcBef>
                          <a:spcPts val="0"/>
                        </a:spcBef>
                        <a:spcAft>
                          <a:spcPts val="0"/>
                        </a:spcAft>
                        <a:buNone/>
                      </a:pPr>
                      <a:r>
                        <a:rPr lang="en" sz="700"/>
                        <a:t>Promoter - 33.89%</a:t>
                      </a:r>
                      <a:endParaRPr sz="700"/>
                    </a:p>
                    <a:p>
                      <a:pPr indent="0" lvl="0" marL="0" rtl="0" algn="ctr">
                        <a:spcBef>
                          <a:spcPts val="0"/>
                        </a:spcBef>
                        <a:spcAft>
                          <a:spcPts val="0"/>
                        </a:spcAft>
                        <a:buNone/>
                      </a:pPr>
                      <a:r>
                        <a:rPr lang="en" sz="700"/>
                        <a:t>Distal Intergenic - 31.16%</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3902</a:t>
                      </a:r>
                      <a:endParaRPr sz="700"/>
                    </a:p>
                    <a:p>
                      <a:pPr indent="0" lvl="0" marL="0" rtl="0" algn="ctr">
                        <a:spcBef>
                          <a:spcPts val="0"/>
                        </a:spcBef>
                        <a:spcAft>
                          <a:spcPts val="0"/>
                        </a:spcAft>
                        <a:buNone/>
                      </a:pPr>
                      <a:r>
                        <a:rPr lang="en" sz="700"/>
                        <a:t>Distal Intergenic - 32.35%</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82775">
                <a:tc>
                  <a:txBody>
                    <a:bodyPr/>
                    <a:lstStyle/>
                    <a:p>
                      <a:pPr indent="0" lvl="0" marL="0" rtl="0" algn="ctr">
                        <a:spcBef>
                          <a:spcPts val="0"/>
                        </a:spcBef>
                        <a:spcAft>
                          <a:spcPts val="0"/>
                        </a:spcAft>
                        <a:buNone/>
                      </a:pPr>
                      <a:r>
                        <a:rPr b="1" lang="en" sz="700"/>
                        <a:t>gps2_withFCCP</a:t>
                      </a:r>
                      <a:endParaRPr b="1" sz="700"/>
                    </a:p>
                    <a:p>
                      <a:pPr indent="0" lvl="0" marL="0" rtl="0" algn="ctr">
                        <a:spcBef>
                          <a:spcPts val="0"/>
                        </a:spcBef>
                        <a:spcAft>
                          <a:spcPts val="0"/>
                        </a:spcAft>
                        <a:buNone/>
                      </a:pPr>
                      <a:r>
                        <a:rPr b="1" lang="en" sz="700"/>
                        <a:t>(693709)</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980</a:t>
                      </a:r>
                      <a:endParaRPr sz="700"/>
                    </a:p>
                    <a:p>
                      <a:pPr indent="0" lvl="0" marL="0" rtl="0" algn="ctr">
                        <a:spcBef>
                          <a:spcPts val="0"/>
                        </a:spcBef>
                        <a:spcAft>
                          <a:spcPts val="0"/>
                        </a:spcAft>
                        <a:buNone/>
                      </a:pPr>
                      <a:r>
                        <a:rPr lang="en" sz="700"/>
                        <a:t>Distal Intergenic - 47.49%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15771</a:t>
                      </a:r>
                      <a:endParaRPr sz="700"/>
                    </a:p>
                    <a:p>
                      <a:pPr indent="0" lvl="0" marL="0" rtl="0" algn="ctr">
                        <a:spcBef>
                          <a:spcPts val="0"/>
                        </a:spcBef>
                        <a:spcAft>
                          <a:spcPts val="0"/>
                        </a:spcAft>
                        <a:buNone/>
                      </a:pPr>
                      <a:r>
                        <a:rPr lang="en" sz="700"/>
                        <a:t>Promoter - 31.76%</a:t>
                      </a:r>
                      <a:endParaRPr sz="700"/>
                    </a:p>
                    <a:p>
                      <a:pPr indent="0" lvl="0" marL="0" rtl="0" algn="ctr">
                        <a:spcBef>
                          <a:spcPts val="0"/>
                        </a:spcBef>
                        <a:spcAft>
                          <a:spcPts val="0"/>
                        </a:spcAft>
                        <a:buNone/>
                      </a:pPr>
                      <a:r>
                        <a:rPr lang="en" sz="700"/>
                        <a:t>Distal Intergenic - 30.9%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3538</a:t>
                      </a:r>
                      <a:endParaRPr sz="700"/>
                    </a:p>
                    <a:p>
                      <a:pPr indent="0" lvl="0" marL="0" rtl="0" algn="ctr">
                        <a:spcBef>
                          <a:spcPts val="0"/>
                        </a:spcBef>
                        <a:spcAft>
                          <a:spcPts val="0"/>
                        </a:spcAft>
                        <a:buNone/>
                      </a:pPr>
                      <a:r>
                        <a:rPr lang="en" sz="700"/>
                        <a:t>Promoter - 36.48%</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5955</a:t>
                      </a:r>
                      <a:endParaRPr sz="700"/>
                    </a:p>
                    <a:p>
                      <a:pPr indent="0" lvl="0" marL="0" rtl="0" algn="ctr">
                        <a:spcBef>
                          <a:spcPts val="0"/>
                        </a:spcBef>
                        <a:spcAft>
                          <a:spcPts val="0"/>
                        </a:spcAft>
                        <a:buNone/>
                      </a:pPr>
                      <a:r>
                        <a:rPr lang="en" sz="700"/>
                        <a:t>Distal Intergenic - 33.19%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gps2_withFCCP_vs_gps2_noFCCP</a:t>
                      </a:r>
                      <a:endParaRPr b="1" sz="700"/>
                    </a:p>
                    <a:p>
                      <a:pPr indent="0" lvl="0" marL="0" rtl="0" algn="ctr">
                        <a:spcBef>
                          <a:spcPts val="0"/>
                        </a:spcBef>
                        <a:spcAft>
                          <a:spcPts val="0"/>
                        </a:spcAft>
                        <a:buNone/>
                      </a:pPr>
                      <a:r>
                        <a:rPr b="1" lang="en" sz="700"/>
                        <a:t>(2623)</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22</a:t>
                      </a:r>
                      <a:endParaRPr sz="700"/>
                    </a:p>
                    <a:p>
                      <a:pPr indent="0" lvl="0" marL="0" rtl="0" algn="ctr">
                        <a:spcBef>
                          <a:spcPts val="0"/>
                        </a:spcBef>
                        <a:spcAft>
                          <a:spcPts val="0"/>
                        </a:spcAft>
                        <a:buNone/>
                      </a:pPr>
                      <a:r>
                        <a:rPr lang="en" sz="700"/>
                        <a:t>Distal Intergenic - 100%</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33</a:t>
                      </a:r>
                      <a:endParaRPr sz="700"/>
                    </a:p>
                    <a:p>
                      <a:pPr indent="0" lvl="0" marL="0" rtl="0" algn="ctr">
                        <a:spcBef>
                          <a:spcPts val="0"/>
                        </a:spcBef>
                        <a:spcAft>
                          <a:spcPts val="0"/>
                        </a:spcAft>
                        <a:buNone/>
                      </a:pPr>
                      <a:r>
                        <a:rPr lang="en" sz="700"/>
                        <a:t>Distal Intergenic - 33.33%</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20</a:t>
                      </a:r>
                      <a:endParaRPr sz="700"/>
                    </a:p>
                    <a:p>
                      <a:pPr indent="0" lvl="0" marL="0" rtl="0" algn="ctr">
                        <a:spcBef>
                          <a:spcPts val="0"/>
                        </a:spcBef>
                        <a:spcAft>
                          <a:spcPts val="0"/>
                        </a:spcAft>
                        <a:buNone/>
                      </a:pPr>
                      <a:r>
                        <a:rPr lang="en" sz="700"/>
                        <a:t>Distal Intergenic - 66.67%</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10</a:t>
                      </a:r>
                      <a:endParaRPr sz="700"/>
                    </a:p>
                    <a:p>
                      <a:pPr indent="0" lvl="0" marL="0" rtl="0" algn="ctr">
                        <a:spcBef>
                          <a:spcPts val="0"/>
                        </a:spcBef>
                        <a:spcAft>
                          <a:spcPts val="0"/>
                        </a:spcAft>
                        <a:buNone/>
                      </a:pPr>
                      <a:r>
                        <a:rPr lang="en" sz="700"/>
                        <a:t>Distal Intergenic - 40%</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s</a:t>
                      </a:r>
                      <a:r>
                        <a:rPr b="1" lang="en" sz="700"/>
                        <a:t>ictl</a:t>
                      </a:r>
                      <a:endParaRPr b="1" sz="700"/>
                    </a:p>
                    <a:p>
                      <a:pPr indent="0" lvl="0" marL="0" rtl="0" algn="ctr">
                        <a:spcBef>
                          <a:spcPts val="0"/>
                        </a:spcBef>
                        <a:spcAft>
                          <a:spcPts val="0"/>
                        </a:spcAft>
                        <a:buNone/>
                      </a:pPr>
                      <a:r>
                        <a:rPr b="1" lang="en" sz="700"/>
                        <a:t>(35541)</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783</a:t>
                      </a:r>
                      <a:endParaRPr sz="700"/>
                    </a:p>
                    <a:p>
                      <a:pPr indent="0" lvl="0" marL="0" rtl="0" algn="ctr">
                        <a:spcBef>
                          <a:spcPts val="0"/>
                        </a:spcBef>
                        <a:spcAft>
                          <a:spcPts val="0"/>
                        </a:spcAft>
                        <a:buNone/>
                      </a:pPr>
                      <a:r>
                        <a:rPr lang="en" sz="700"/>
                        <a:t>Distal Intergenic - 43.84%</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4874</a:t>
                      </a:r>
                      <a:endParaRPr sz="700"/>
                    </a:p>
                    <a:p>
                      <a:pPr indent="0" lvl="0" marL="0" rtl="0" algn="ctr">
                        <a:spcBef>
                          <a:spcPts val="0"/>
                        </a:spcBef>
                        <a:spcAft>
                          <a:spcPts val="0"/>
                        </a:spcAft>
                        <a:buNone/>
                      </a:pPr>
                      <a:r>
                        <a:rPr lang="en" sz="700"/>
                        <a:t>Promoter - 79.01%</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1641</a:t>
                      </a:r>
                      <a:endParaRPr sz="700"/>
                    </a:p>
                    <a:p>
                      <a:pPr indent="0" lvl="0" marL="0" rtl="0" algn="ctr">
                        <a:spcBef>
                          <a:spcPts val="0"/>
                        </a:spcBef>
                        <a:spcAft>
                          <a:spcPts val="0"/>
                        </a:spcAft>
                        <a:buNone/>
                      </a:pPr>
                      <a:r>
                        <a:rPr lang="en" sz="700"/>
                        <a:t>Promoter - 53.59%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1267</a:t>
                      </a:r>
                      <a:endParaRPr sz="700"/>
                    </a:p>
                    <a:p>
                      <a:pPr indent="0" lvl="0" marL="0" rtl="0" algn="ctr">
                        <a:spcBef>
                          <a:spcPts val="0"/>
                        </a:spcBef>
                        <a:spcAft>
                          <a:spcPts val="0"/>
                        </a:spcAft>
                        <a:buNone/>
                      </a:pPr>
                      <a:r>
                        <a:rPr lang="en" sz="700"/>
                        <a:t>Promoter - 82.09%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s</a:t>
                      </a:r>
                      <a:r>
                        <a:rPr b="1" lang="en" sz="700"/>
                        <a:t>igps2</a:t>
                      </a:r>
                      <a:endParaRPr b="1" sz="700"/>
                    </a:p>
                    <a:p>
                      <a:pPr indent="0" lvl="0" marL="0" rtl="0" algn="ctr">
                        <a:spcBef>
                          <a:spcPts val="0"/>
                        </a:spcBef>
                        <a:spcAft>
                          <a:spcPts val="0"/>
                        </a:spcAft>
                        <a:buNone/>
                      </a:pPr>
                      <a:r>
                        <a:rPr b="1" lang="en" sz="700"/>
                        <a:t>(65315)</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788</a:t>
                      </a:r>
                      <a:endParaRPr sz="700"/>
                    </a:p>
                    <a:p>
                      <a:pPr indent="0" lvl="0" marL="0" rtl="0" algn="ctr">
                        <a:spcBef>
                          <a:spcPts val="0"/>
                        </a:spcBef>
                        <a:spcAft>
                          <a:spcPts val="0"/>
                        </a:spcAft>
                        <a:buNone/>
                      </a:pPr>
                      <a:r>
                        <a:rPr lang="en" sz="700"/>
                        <a:t>Distal Intergenic - 54.39%</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4622</a:t>
                      </a:r>
                      <a:endParaRPr sz="700"/>
                    </a:p>
                    <a:p>
                      <a:pPr indent="0" lvl="0" marL="0" rtl="0" algn="ctr">
                        <a:spcBef>
                          <a:spcPts val="0"/>
                        </a:spcBef>
                        <a:spcAft>
                          <a:spcPts val="0"/>
                        </a:spcAft>
                        <a:buNone/>
                      </a:pPr>
                      <a:r>
                        <a:rPr lang="en" sz="700"/>
                        <a:t>Promoter - 76.68%</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1724</a:t>
                      </a:r>
                      <a:endParaRPr sz="700"/>
                    </a:p>
                    <a:p>
                      <a:pPr indent="0" lvl="0" marL="0" rtl="0" algn="ctr">
                        <a:spcBef>
                          <a:spcPts val="0"/>
                        </a:spcBef>
                        <a:spcAft>
                          <a:spcPts val="0"/>
                        </a:spcAft>
                        <a:buNone/>
                      </a:pPr>
                      <a:r>
                        <a:rPr lang="en" sz="700"/>
                        <a:t>Promoter - 49.16%</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1186</a:t>
                      </a:r>
                      <a:endParaRPr sz="700"/>
                    </a:p>
                    <a:p>
                      <a:pPr indent="0" lvl="0" marL="0" rtl="0" algn="ctr">
                        <a:spcBef>
                          <a:spcPts val="0"/>
                        </a:spcBef>
                        <a:spcAft>
                          <a:spcPts val="0"/>
                        </a:spcAft>
                        <a:buNone/>
                      </a:pPr>
                      <a:r>
                        <a:rPr lang="en" sz="700"/>
                        <a:t>Promoter - 78.67%</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0350">
                <a:tc>
                  <a:txBody>
                    <a:bodyPr/>
                    <a:lstStyle/>
                    <a:p>
                      <a:pPr indent="0" lvl="0" marL="0" rtl="0" algn="ctr">
                        <a:spcBef>
                          <a:spcPts val="0"/>
                        </a:spcBef>
                        <a:spcAft>
                          <a:spcPts val="0"/>
                        </a:spcAft>
                        <a:buNone/>
                      </a:pPr>
                      <a:r>
                        <a:rPr b="1" lang="en" sz="700"/>
                        <a:t>s</a:t>
                      </a:r>
                      <a:r>
                        <a:rPr b="1" lang="en" sz="700"/>
                        <a:t>ictl_vs_sigps2</a:t>
                      </a:r>
                      <a:endParaRPr b="1" sz="700"/>
                    </a:p>
                    <a:p>
                      <a:pPr indent="0" lvl="0" marL="0" rtl="0" algn="ctr">
                        <a:spcBef>
                          <a:spcPts val="0"/>
                        </a:spcBef>
                        <a:spcAft>
                          <a:spcPts val="0"/>
                        </a:spcAft>
                        <a:buNone/>
                      </a:pPr>
                      <a:r>
                        <a:rPr b="1" lang="en" sz="700"/>
                        <a:t>(10059)</a:t>
                      </a:r>
                      <a:endParaRPr b="1"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218</a:t>
                      </a:r>
                      <a:endParaRPr sz="700"/>
                    </a:p>
                    <a:p>
                      <a:pPr indent="0" lvl="0" marL="0" rtl="0" algn="ctr">
                        <a:spcBef>
                          <a:spcPts val="0"/>
                        </a:spcBef>
                        <a:spcAft>
                          <a:spcPts val="0"/>
                        </a:spcAft>
                        <a:buNone/>
                      </a:pPr>
                      <a:r>
                        <a:rPr lang="en" sz="700"/>
                        <a:t>Distal Intergenic - 33.33%</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1338</a:t>
                      </a:r>
                      <a:endParaRPr sz="700"/>
                    </a:p>
                    <a:p>
                      <a:pPr indent="0" lvl="0" marL="0" rtl="0" algn="ctr">
                        <a:spcBef>
                          <a:spcPts val="0"/>
                        </a:spcBef>
                        <a:spcAft>
                          <a:spcPts val="0"/>
                        </a:spcAft>
                        <a:buNone/>
                      </a:pPr>
                      <a:r>
                        <a:rPr lang="en" sz="700"/>
                        <a:t>Promoter - 94.57%</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381</a:t>
                      </a:r>
                      <a:endParaRPr sz="700"/>
                    </a:p>
                    <a:p>
                      <a:pPr indent="0" lvl="0" marL="0" rtl="0" algn="ctr">
                        <a:spcBef>
                          <a:spcPts val="0"/>
                        </a:spcBef>
                        <a:spcAft>
                          <a:spcPts val="0"/>
                        </a:spcAft>
                        <a:buNone/>
                      </a:pPr>
                      <a:r>
                        <a:rPr lang="en" sz="700"/>
                        <a:t>Promoter - 75.81%</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700"/>
                        <a:t>301</a:t>
                      </a:r>
                      <a:endParaRPr sz="700"/>
                    </a:p>
                    <a:p>
                      <a:pPr indent="0" lvl="0" marL="0" rtl="0" algn="ctr">
                        <a:spcBef>
                          <a:spcPts val="0"/>
                        </a:spcBef>
                        <a:spcAft>
                          <a:spcPts val="0"/>
                        </a:spcAft>
                        <a:buNone/>
                      </a:pPr>
                      <a:r>
                        <a:rPr lang="en" sz="700"/>
                        <a:t>Promoter - 95.68%</a:t>
                      </a:r>
                      <a:endParaRPr sz="7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ATF4:Amino acid deprivation</a:t>
            </a:r>
            <a:endParaRPr/>
          </a:p>
        </p:txBody>
      </p:sp>
      <p:pic>
        <p:nvPicPr>
          <p:cNvPr id="476" name="Google Shape;476;p59"/>
          <p:cNvPicPr preferRelativeResize="0"/>
          <p:nvPr/>
        </p:nvPicPr>
        <p:blipFill>
          <a:blip r:embed="rId3">
            <a:alphaModFix/>
          </a:blip>
          <a:stretch>
            <a:fillRect/>
          </a:stretch>
        </p:blipFill>
        <p:spPr>
          <a:xfrm>
            <a:off x="311700" y="1017800"/>
            <a:ext cx="3735374" cy="1816425"/>
          </a:xfrm>
          <a:prstGeom prst="rect">
            <a:avLst/>
          </a:prstGeom>
          <a:noFill/>
          <a:ln>
            <a:noFill/>
          </a:ln>
        </p:spPr>
      </p:pic>
      <p:pic>
        <p:nvPicPr>
          <p:cNvPr id="477" name="Google Shape;477;p59"/>
          <p:cNvPicPr preferRelativeResize="0"/>
          <p:nvPr/>
        </p:nvPicPr>
        <p:blipFill>
          <a:blip r:embed="rId4">
            <a:alphaModFix/>
          </a:blip>
          <a:stretch>
            <a:fillRect/>
          </a:stretch>
        </p:blipFill>
        <p:spPr>
          <a:xfrm>
            <a:off x="4412850" y="1054650"/>
            <a:ext cx="3814975" cy="1816425"/>
          </a:xfrm>
          <a:prstGeom prst="rect">
            <a:avLst/>
          </a:prstGeom>
          <a:noFill/>
          <a:ln>
            <a:noFill/>
          </a:ln>
        </p:spPr>
      </p:pic>
      <p:pic>
        <p:nvPicPr>
          <p:cNvPr id="478" name="Google Shape;478;p59"/>
          <p:cNvPicPr preferRelativeResize="0"/>
          <p:nvPr/>
        </p:nvPicPr>
        <p:blipFill>
          <a:blip r:embed="rId5">
            <a:alphaModFix/>
          </a:blip>
          <a:stretch>
            <a:fillRect/>
          </a:stretch>
        </p:blipFill>
        <p:spPr>
          <a:xfrm>
            <a:off x="2184450" y="2871075"/>
            <a:ext cx="3814975" cy="1816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ATF4:ER Stress</a:t>
            </a:r>
            <a:endParaRPr/>
          </a:p>
        </p:txBody>
      </p:sp>
      <p:pic>
        <p:nvPicPr>
          <p:cNvPr id="484" name="Google Shape;484;p60"/>
          <p:cNvPicPr preferRelativeResize="0"/>
          <p:nvPr/>
        </p:nvPicPr>
        <p:blipFill>
          <a:blip r:embed="rId3">
            <a:alphaModFix/>
          </a:blip>
          <a:stretch>
            <a:fillRect/>
          </a:stretch>
        </p:blipFill>
        <p:spPr>
          <a:xfrm>
            <a:off x="365025" y="1017800"/>
            <a:ext cx="3903025" cy="1717776"/>
          </a:xfrm>
          <a:prstGeom prst="rect">
            <a:avLst/>
          </a:prstGeom>
          <a:noFill/>
          <a:ln>
            <a:noFill/>
          </a:ln>
        </p:spPr>
      </p:pic>
      <p:pic>
        <p:nvPicPr>
          <p:cNvPr id="485" name="Google Shape;485;p60"/>
          <p:cNvPicPr preferRelativeResize="0"/>
          <p:nvPr/>
        </p:nvPicPr>
        <p:blipFill>
          <a:blip r:embed="rId4">
            <a:alphaModFix/>
          </a:blip>
          <a:stretch>
            <a:fillRect/>
          </a:stretch>
        </p:blipFill>
        <p:spPr>
          <a:xfrm>
            <a:off x="4844725" y="1040650"/>
            <a:ext cx="3903025" cy="1717776"/>
          </a:xfrm>
          <a:prstGeom prst="rect">
            <a:avLst/>
          </a:prstGeom>
          <a:noFill/>
          <a:ln>
            <a:noFill/>
          </a:ln>
        </p:spPr>
      </p:pic>
      <p:pic>
        <p:nvPicPr>
          <p:cNvPr id="486" name="Google Shape;486;p60"/>
          <p:cNvPicPr preferRelativeResize="0"/>
          <p:nvPr/>
        </p:nvPicPr>
        <p:blipFill>
          <a:blip r:embed="rId5">
            <a:alphaModFix/>
          </a:blip>
          <a:stretch>
            <a:fillRect/>
          </a:stretch>
        </p:blipFill>
        <p:spPr>
          <a:xfrm>
            <a:off x="2164925" y="2849875"/>
            <a:ext cx="4091950" cy="1988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1"/>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492" name="Google Shape;492;p6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93" name="Google Shape;493;p61"/>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Tunicamycin </a:t>
            </a:r>
            <a:r>
              <a:rPr lang="en" sz="1700"/>
              <a:t>treatment </a:t>
            </a:r>
            <a:r>
              <a:rPr b="1" lang="en" sz="1700"/>
              <a:t>(26960794)</a:t>
            </a:r>
            <a:r>
              <a:rPr lang="en" sz="1700"/>
              <a:t> ; ATF4: Amino Acid Deprivation</a:t>
            </a:r>
            <a:endParaRPr sz="1700"/>
          </a:p>
        </p:txBody>
      </p:sp>
      <p:pic>
        <p:nvPicPr>
          <p:cNvPr id="494" name="Google Shape;494;p61"/>
          <p:cNvPicPr preferRelativeResize="0"/>
          <p:nvPr/>
        </p:nvPicPr>
        <p:blipFill>
          <a:blip r:embed="rId3">
            <a:alphaModFix/>
          </a:blip>
          <a:stretch>
            <a:fillRect/>
          </a:stretch>
        </p:blipFill>
        <p:spPr>
          <a:xfrm>
            <a:off x="115150" y="1229900"/>
            <a:ext cx="8839199" cy="968850"/>
          </a:xfrm>
          <a:prstGeom prst="rect">
            <a:avLst/>
          </a:prstGeom>
          <a:noFill/>
          <a:ln>
            <a:noFill/>
          </a:ln>
        </p:spPr>
      </p:pic>
      <p:pic>
        <p:nvPicPr>
          <p:cNvPr id="495" name="Google Shape;495;p61"/>
          <p:cNvPicPr preferRelativeResize="0"/>
          <p:nvPr/>
        </p:nvPicPr>
        <p:blipFill>
          <a:blip r:embed="rId4">
            <a:alphaModFix/>
          </a:blip>
          <a:stretch>
            <a:fillRect/>
          </a:stretch>
        </p:blipFill>
        <p:spPr>
          <a:xfrm>
            <a:off x="152400" y="2239725"/>
            <a:ext cx="8839199" cy="968850"/>
          </a:xfrm>
          <a:prstGeom prst="rect">
            <a:avLst/>
          </a:prstGeom>
          <a:noFill/>
          <a:ln>
            <a:noFill/>
          </a:ln>
        </p:spPr>
      </p:pic>
      <p:pic>
        <p:nvPicPr>
          <p:cNvPr id="496" name="Google Shape;496;p61"/>
          <p:cNvPicPr preferRelativeResize="0"/>
          <p:nvPr/>
        </p:nvPicPr>
        <p:blipFill>
          <a:blip r:embed="rId5">
            <a:alphaModFix/>
          </a:blip>
          <a:stretch>
            <a:fillRect/>
          </a:stretch>
        </p:blipFill>
        <p:spPr>
          <a:xfrm>
            <a:off x="96525" y="3478100"/>
            <a:ext cx="8876452" cy="968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2"/>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02" name="Google Shape;502;p6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03" name="Google Shape;503;p62"/>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Tunicamycin treatment </a:t>
            </a:r>
            <a:r>
              <a:rPr b="1" lang="en" sz="1700"/>
              <a:t>(26960794)</a:t>
            </a:r>
            <a:r>
              <a:rPr lang="en" sz="1700"/>
              <a:t> ; ATF4: ER stress</a:t>
            </a:r>
            <a:endParaRPr sz="1700"/>
          </a:p>
        </p:txBody>
      </p:sp>
      <p:pic>
        <p:nvPicPr>
          <p:cNvPr id="504" name="Google Shape;504;p62"/>
          <p:cNvPicPr preferRelativeResize="0"/>
          <p:nvPr/>
        </p:nvPicPr>
        <p:blipFill>
          <a:blip r:embed="rId3">
            <a:alphaModFix/>
          </a:blip>
          <a:stretch>
            <a:fillRect/>
          </a:stretch>
        </p:blipFill>
        <p:spPr>
          <a:xfrm>
            <a:off x="92275" y="3600025"/>
            <a:ext cx="8938276" cy="968850"/>
          </a:xfrm>
          <a:prstGeom prst="rect">
            <a:avLst/>
          </a:prstGeom>
          <a:noFill/>
          <a:ln>
            <a:noFill/>
          </a:ln>
        </p:spPr>
      </p:pic>
      <p:pic>
        <p:nvPicPr>
          <p:cNvPr id="505" name="Google Shape;505;p62"/>
          <p:cNvPicPr preferRelativeResize="0"/>
          <p:nvPr/>
        </p:nvPicPr>
        <p:blipFill>
          <a:blip r:embed="rId4">
            <a:alphaModFix/>
          </a:blip>
          <a:stretch>
            <a:fillRect/>
          </a:stretch>
        </p:blipFill>
        <p:spPr>
          <a:xfrm>
            <a:off x="92275" y="1272000"/>
            <a:ext cx="8938276" cy="968850"/>
          </a:xfrm>
          <a:prstGeom prst="rect">
            <a:avLst/>
          </a:prstGeom>
          <a:noFill/>
          <a:ln>
            <a:noFill/>
          </a:ln>
        </p:spPr>
      </p:pic>
      <p:pic>
        <p:nvPicPr>
          <p:cNvPr id="506" name="Google Shape;506;p62"/>
          <p:cNvPicPr preferRelativeResize="0"/>
          <p:nvPr/>
        </p:nvPicPr>
        <p:blipFill>
          <a:blip r:embed="rId5">
            <a:alphaModFix/>
          </a:blip>
          <a:stretch>
            <a:fillRect/>
          </a:stretch>
        </p:blipFill>
        <p:spPr>
          <a:xfrm>
            <a:off x="92275" y="2483575"/>
            <a:ext cx="8938276" cy="968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3"/>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12" name="Google Shape;512;p63"/>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mTORC1 </a:t>
            </a:r>
            <a:r>
              <a:rPr b="1" lang="en" sz="1700"/>
              <a:t>(</a:t>
            </a:r>
            <a:r>
              <a:rPr b="1" lang="en" sz="1700"/>
              <a:t>33646118</a:t>
            </a:r>
            <a:r>
              <a:rPr b="1" lang="en" sz="1700"/>
              <a:t>)</a:t>
            </a:r>
            <a:r>
              <a:rPr lang="en" sz="1700"/>
              <a:t> ; ATF4: Amino acid deprivation</a:t>
            </a:r>
            <a:endParaRPr sz="1700"/>
          </a:p>
        </p:txBody>
      </p:sp>
      <p:pic>
        <p:nvPicPr>
          <p:cNvPr id="513" name="Google Shape;513;p63"/>
          <p:cNvPicPr preferRelativeResize="0"/>
          <p:nvPr/>
        </p:nvPicPr>
        <p:blipFill>
          <a:blip r:embed="rId3">
            <a:alphaModFix/>
          </a:blip>
          <a:stretch>
            <a:fillRect/>
          </a:stretch>
        </p:blipFill>
        <p:spPr>
          <a:xfrm>
            <a:off x="152400" y="1333550"/>
            <a:ext cx="4367099" cy="1455376"/>
          </a:xfrm>
          <a:prstGeom prst="rect">
            <a:avLst/>
          </a:prstGeom>
          <a:noFill/>
          <a:ln>
            <a:noFill/>
          </a:ln>
        </p:spPr>
      </p:pic>
      <p:pic>
        <p:nvPicPr>
          <p:cNvPr id="514" name="Google Shape;514;p63"/>
          <p:cNvPicPr preferRelativeResize="0"/>
          <p:nvPr/>
        </p:nvPicPr>
        <p:blipFill>
          <a:blip r:embed="rId4">
            <a:alphaModFix/>
          </a:blip>
          <a:stretch>
            <a:fillRect/>
          </a:stretch>
        </p:blipFill>
        <p:spPr>
          <a:xfrm>
            <a:off x="4799375" y="1333550"/>
            <a:ext cx="3864902" cy="1455376"/>
          </a:xfrm>
          <a:prstGeom prst="rect">
            <a:avLst/>
          </a:prstGeom>
          <a:noFill/>
          <a:ln>
            <a:noFill/>
          </a:ln>
        </p:spPr>
      </p:pic>
      <p:pic>
        <p:nvPicPr>
          <p:cNvPr id="515" name="Google Shape;515;p63"/>
          <p:cNvPicPr preferRelativeResize="0"/>
          <p:nvPr/>
        </p:nvPicPr>
        <p:blipFill>
          <a:blip r:embed="rId5">
            <a:alphaModFix/>
          </a:blip>
          <a:stretch>
            <a:fillRect/>
          </a:stretch>
        </p:blipFill>
        <p:spPr>
          <a:xfrm>
            <a:off x="1517225" y="2941325"/>
            <a:ext cx="5090175" cy="1501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4"/>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21" name="Google Shape;521;p6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22" name="Google Shape;522;p64"/>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a:t>
            </a:r>
            <a:r>
              <a:rPr lang="en" sz="1700"/>
              <a:t>mTORC1 </a:t>
            </a:r>
            <a:r>
              <a:rPr b="1" lang="en" sz="1700"/>
              <a:t>(33646118)</a:t>
            </a:r>
            <a:r>
              <a:rPr lang="en" sz="1700"/>
              <a:t> ; ATF4: ER stress</a:t>
            </a:r>
            <a:endParaRPr sz="1700"/>
          </a:p>
        </p:txBody>
      </p:sp>
      <p:pic>
        <p:nvPicPr>
          <p:cNvPr id="523" name="Google Shape;523;p64"/>
          <p:cNvPicPr preferRelativeResize="0"/>
          <p:nvPr/>
        </p:nvPicPr>
        <p:blipFill>
          <a:blip r:embed="rId3">
            <a:alphaModFix/>
          </a:blip>
          <a:stretch>
            <a:fillRect/>
          </a:stretch>
        </p:blipFill>
        <p:spPr>
          <a:xfrm>
            <a:off x="311700" y="1229900"/>
            <a:ext cx="4017300" cy="1759650"/>
          </a:xfrm>
          <a:prstGeom prst="rect">
            <a:avLst/>
          </a:prstGeom>
          <a:noFill/>
          <a:ln>
            <a:noFill/>
          </a:ln>
        </p:spPr>
      </p:pic>
      <p:pic>
        <p:nvPicPr>
          <p:cNvPr id="524" name="Google Shape;524;p64"/>
          <p:cNvPicPr preferRelativeResize="0"/>
          <p:nvPr/>
        </p:nvPicPr>
        <p:blipFill>
          <a:blip r:embed="rId4">
            <a:alphaModFix/>
          </a:blip>
          <a:stretch>
            <a:fillRect/>
          </a:stretch>
        </p:blipFill>
        <p:spPr>
          <a:xfrm>
            <a:off x="4664275" y="1229900"/>
            <a:ext cx="4017300" cy="1759650"/>
          </a:xfrm>
          <a:prstGeom prst="rect">
            <a:avLst/>
          </a:prstGeom>
          <a:noFill/>
          <a:ln>
            <a:noFill/>
          </a:ln>
        </p:spPr>
      </p:pic>
      <p:pic>
        <p:nvPicPr>
          <p:cNvPr id="525" name="Google Shape;525;p64"/>
          <p:cNvPicPr preferRelativeResize="0"/>
          <p:nvPr/>
        </p:nvPicPr>
        <p:blipFill>
          <a:blip r:embed="rId5">
            <a:alphaModFix/>
          </a:blip>
          <a:stretch>
            <a:fillRect/>
          </a:stretch>
        </p:blipFill>
        <p:spPr>
          <a:xfrm>
            <a:off x="1524850" y="3038300"/>
            <a:ext cx="4845474" cy="1567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5"/>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31" name="Google Shape;531;p65"/>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Multiomics </a:t>
            </a:r>
            <a:r>
              <a:rPr b="1" lang="en" sz="1700"/>
              <a:t>(</a:t>
            </a:r>
            <a:r>
              <a:rPr b="1" lang="en" sz="1700"/>
              <a:t>28566324</a:t>
            </a:r>
            <a:r>
              <a:rPr b="1" lang="en" sz="1700"/>
              <a:t>)</a:t>
            </a:r>
            <a:r>
              <a:rPr lang="en" sz="1700"/>
              <a:t> ; ATF4: Amino acid deprivation</a:t>
            </a:r>
            <a:endParaRPr sz="1700"/>
          </a:p>
        </p:txBody>
      </p:sp>
      <p:pic>
        <p:nvPicPr>
          <p:cNvPr id="532" name="Google Shape;532;p65"/>
          <p:cNvPicPr preferRelativeResize="0"/>
          <p:nvPr/>
        </p:nvPicPr>
        <p:blipFill>
          <a:blip r:embed="rId3">
            <a:alphaModFix/>
          </a:blip>
          <a:stretch>
            <a:fillRect/>
          </a:stretch>
        </p:blipFill>
        <p:spPr>
          <a:xfrm>
            <a:off x="311700" y="1272575"/>
            <a:ext cx="3558550" cy="1813526"/>
          </a:xfrm>
          <a:prstGeom prst="rect">
            <a:avLst/>
          </a:prstGeom>
          <a:noFill/>
          <a:ln>
            <a:noFill/>
          </a:ln>
        </p:spPr>
      </p:pic>
      <p:pic>
        <p:nvPicPr>
          <p:cNvPr id="533" name="Google Shape;533;p65"/>
          <p:cNvPicPr preferRelativeResize="0"/>
          <p:nvPr/>
        </p:nvPicPr>
        <p:blipFill>
          <a:blip r:embed="rId4">
            <a:alphaModFix/>
          </a:blip>
          <a:stretch>
            <a:fillRect/>
          </a:stretch>
        </p:blipFill>
        <p:spPr>
          <a:xfrm>
            <a:off x="4572000" y="1333550"/>
            <a:ext cx="3955626" cy="1866825"/>
          </a:xfrm>
          <a:prstGeom prst="rect">
            <a:avLst/>
          </a:prstGeom>
          <a:noFill/>
          <a:ln>
            <a:noFill/>
          </a:ln>
        </p:spPr>
      </p:pic>
      <p:pic>
        <p:nvPicPr>
          <p:cNvPr id="534" name="Google Shape;534;p65"/>
          <p:cNvPicPr preferRelativeResize="0"/>
          <p:nvPr/>
        </p:nvPicPr>
        <p:blipFill>
          <a:blip r:embed="rId5">
            <a:alphaModFix/>
          </a:blip>
          <a:stretch>
            <a:fillRect/>
          </a:stretch>
        </p:blipFill>
        <p:spPr>
          <a:xfrm>
            <a:off x="1997075" y="3200375"/>
            <a:ext cx="3650201" cy="1638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6"/>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40" name="Google Shape;540;p66"/>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a:t>
            </a:r>
            <a:r>
              <a:rPr lang="en" sz="1700"/>
              <a:t>Multiomics </a:t>
            </a:r>
            <a:r>
              <a:rPr b="1" lang="en" sz="1700"/>
              <a:t>(28566324)</a:t>
            </a:r>
            <a:r>
              <a:rPr lang="en" sz="1700"/>
              <a:t> ; ATF4: ER stress</a:t>
            </a:r>
            <a:endParaRPr sz="1700"/>
          </a:p>
        </p:txBody>
      </p:sp>
      <p:pic>
        <p:nvPicPr>
          <p:cNvPr id="541" name="Google Shape;541;p66"/>
          <p:cNvPicPr preferRelativeResize="0"/>
          <p:nvPr/>
        </p:nvPicPr>
        <p:blipFill>
          <a:blip r:embed="rId3">
            <a:alphaModFix/>
          </a:blip>
          <a:stretch>
            <a:fillRect/>
          </a:stretch>
        </p:blipFill>
        <p:spPr>
          <a:xfrm>
            <a:off x="365050" y="1229900"/>
            <a:ext cx="3331500" cy="1764750"/>
          </a:xfrm>
          <a:prstGeom prst="rect">
            <a:avLst/>
          </a:prstGeom>
          <a:noFill/>
          <a:ln>
            <a:noFill/>
          </a:ln>
        </p:spPr>
      </p:pic>
      <p:pic>
        <p:nvPicPr>
          <p:cNvPr id="542" name="Google Shape;542;p66"/>
          <p:cNvPicPr preferRelativeResize="0"/>
          <p:nvPr/>
        </p:nvPicPr>
        <p:blipFill>
          <a:blip r:embed="rId4">
            <a:alphaModFix/>
          </a:blip>
          <a:stretch>
            <a:fillRect/>
          </a:stretch>
        </p:blipFill>
        <p:spPr>
          <a:xfrm>
            <a:off x="4572000" y="1229900"/>
            <a:ext cx="4001351" cy="1813499"/>
          </a:xfrm>
          <a:prstGeom prst="rect">
            <a:avLst/>
          </a:prstGeom>
          <a:noFill/>
          <a:ln>
            <a:noFill/>
          </a:ln>
        </p:spPr>
      </p:pic>
      <p:pic>
        <p:nvPicPr>
          <p:cNvPr id="543" name="Google Shape;543;p66"/>
          <p:cNvPicPr preferRelativeResize="0"/>
          <p:nvPr/>
        </p:nvPicPr>
        <p:blipFill>
          <a:blip r:embed="rId5">
            <a:alphaModFix/>
          </a:blip>
          <a:stretch>
            <a:fillRect/>
          </a:stretch>
        </p:blipFill>
        <p:spPr>
          <a:xfrm>
            <a:off x="1695850" y="3043400"/>
            <a:ext cx="3951426" cy="18134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49" name="Google Shape;549;p67"/>
          <p:cNvPicPr preferRelativeResize="0"/>
          <p:nvPr/>
        </p:nvPicPr>
        <p:blipFill>
          <a:blip r:embed="rId3">
            <a:alphaModFix/>
          </a:blip>
          <a:stretch>
            <a:fillRect/>
          </a:stretch>
        </p:blipFill>
        <p:spPr>
          <a:xfrm>
            <a:off x="240025" y="1229875"/>
            <a:ext cx="8663951" cy="1341875"/>
          </a:xfrm>
          <a:prstGeom prst="rect">
            <a:avLst/>
          </a:prstGeom>
          <a:noFill/>
          <a:ln>
            <a:noFill/>
          </a:ln>
        </p:spPr>
      </p:pic>
      <p:pic>
        <p:nvPicPr>
          <p:cNvPr id="550" name="Google Shape;550;p67"/>
          <p:cNvPicPr preferRelativeResize="0"/>
          <p:nvPr/>
        </p:nvPicPr>
        <p:blipFill>
          <a:blip r:embed="rId4">
            <a:alphaModFix/>
          </a:blip>
          <a:stretch>
            <a:fillRect/>
          </a:stretch>
        </p:blipFill>
        <p:spPr>
          <a:xfrm>
            <a:off x="240025" y="2548575"/>
            <a:ext cx="8592276" cy="1192850"/>
          </a:xfrm>
          <a:prstGeom prst="rect">
            <a:avLst/>
          </a:prstGeom>
          <a:noFill/>
          <a:ln>
            <a:noFill/>
          </a:ln>
        </p:spPr>
      </p:pic>
      <p:sp>
        <p:nvSpPr>
          <p:cNvPr id="551" name="Google Shape;551;p67"/>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52" name="Google Shape;552;p67"/>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Multiomics </a:t>
            </a:r>
            <a:r>
              <a:rPr b="1" lang="en" sz="1700"/>
              <a:t>(28566324)</a:t>
            </a:r>
            <a:r>
              <a:rPr lang="en" sz="1700"/>
              <a:t> ; </a:t>
            </a:r>
            <a:r>
              <a:rPr b="1" i="1" lang="en" sz="1700"/>
              <a:t>Across TSS</a:t>
            </a:r>
            <a:endParaRPr b="1" i="1" sz="1700"/>
          </a:p>
        </p:txBody>
      </p:sp>
      <p:pic>
        <p:nvPicPr>
          <p:cNvPr id="553" name="Google Shape;553;p67"/>
          <p:cNvPicPr preferRelativeResize="0"/>
          <p:nvPr/>
        </p:nvPicPr>
        <p:blipFill>
          <a:blip r:embed="rId5">
            <a:alphaModFix/>
          </a:blip>
          <a:stretch>
            <a:fillRect/>
          </a:stretch>
        </p:blipFill>
        <p:spPr>
          <a:xfrm>
            <a:off x="311700" y="3741425"/>
            <a:ext cx="8520602" cy="11183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68"/>
          <p:cNvSpPr txBox="1"/>
          <p:nvPr>
            <p:ph type="title"/>
          </p:nvPr>
        </p:nvSpPr>
        <p:spPr>
          <a:xfrm>
            <a:off x="311700" y="410000"/>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b="1" lang="en" sz="1700"/>
              <a:t>RNA-seq comparisons</a:t>
            </a:r>
            <a:endParaRPr b="1" sz="1700"/>
          </a:p>
        </p:txBody>
      </p:sp>
      <p:sp>
        <p:nvSpPr>
          <p:cNvPr id="559" name="Google Shape;559;p68"/>
          <p:cNvSpPr txBox="1"/>
          <p:nvPr>
            <p:ph type="title"/>
          </p:nvPr>
        </p:nvSpPr>
        <p:spPr>
          <a:xfrm>
            <a:off x="311700" y="819938"/>
            <a:ext cx="8520600" cy="36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8235"/>
              <a:buNone/>
            </a:pPr>
            <a:r>
              <a:rPr lang="en" sz="1700"/>
              <a:t>RNA-seq: Alzheimers</a:t>
            </a:r>
            <a:r>
              <a:rPr b="1" lang="en" sz="1700"/>
              <a:t>(</a:t>
            </a:r>
            <a:r>
              <a:rPr b="1" lang="en" sz="1700"/>
              <a:t>36867706</a:t>
            </a:r>
            <a:r>
              <a:rPr b="1" lang="en" sz="1700"/>
              <a:t>)</a:t>
            </a:r>
            <a:r>
              <a:rPr lang="en" sz="1700"/>
              <a:t> ; </a:t>
            </a:r>
            <a:r>
              <a:rPr b="1" i="1" lang="en" sz="1700"/>
              <a:t>Across TSS</a:t>
            </a:r>
            <a:endParaRPr b="1" i="1" sz="1700"/>
          </a:p>
        </p:txBody>
      </p:sp>
      <p:pic>
        <p:nvPicPr>
          <p:cNvPr id="560" name="Google Shape;560;p68"/>
          <p:cNvPicPr preferRelativeResize="0"/>
          <p:nvPr/>
        </p:nvPicPr>
        <p:blipFill>
          <a:blip r:embed="rId3">
            <a:alphaModFix/>
          </a:blip>
          <a:stretch>
            <a:fillRect/>
          </a:stretch>
        </p:blipFill>
        <p:spPr>
          <a:xfrm>
            <a:off x="479350" y="1272575"/>
            <a:ext cx="3811576" cy="1744925"/>
          </a:xfrm>
          <a:prstGeom prst="rect">
            <a:avLst/>
          </a:prstGeom>
          <a:noFill/>
          <a:ln>
            <a:noFill/>
          </a:ln>
        </p:spPr>
      </p:pic>
      <p:pic>
        <p:nvPicPr>
          <p:cNvPr id="561" name="Google Shape;561;p68"/>
          <p:cNvPicPr preferRelativeResize="0"/>
          <p:nvPr/>
        </p:nvPicPr>
        <p:blipFill>
          <a:blip r:embed="rId4">
            <a:alphaModFix/>
          </a:blip>
          <a:stretch>
            <a:fillRect/>
          </a:stretch>
        </p:blipFill>
        <p:spPr>
          <a:xfrm>
            <a:off x="5083375" y="1333550"/>
            <a:ext cx="3908226" cy="1683950"/>
          </a:xfrm>
          <a:prstGeom prst="rect">
            <a:avLst/>
          </a:prstGeom>
          <a:noFill/>
          <a:ln>
            <a:noFill/>
          </a:ln>
        </p:spPr>
      </p:pic>
      <p:pic>
        <p:nvPicPr>
          <p:cNvPr id="562" name="Google Shape;562;p68"/>
          <p:cNvPicPr preferRelativeResize="0"/>
          <p:nvPr/>
        </p:nvPicPr>
        <p:blipFill>
          <a:blip r:embed="rId5">
            <a:alphaModFix/>
          </a:blip>
          <a:stretch>
            <a:fillRect/>
          </a:stretch>
        </p:blipFill>
        <p:spPr>
          <a:xfrm>
            <a:off x="2347800" y="3070850"/>
            <a:ext cx="3406149" cy="1821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